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B276A81-427C-4607-A35A-274534955566}">
          <p14:sldIdLst>
            <p14:sldId id="256"/>
            <p14:sldId id="257"/>
            <p14:sldId id="258"/>
          </p14:sldIdLst>
        </p14:section>
        <p14:section name="1  Basics" id="{C56CB62F-BB6D-4180-A744-2D3AC9D9D956}">
          <p14:sldIdLst>
            <p14:sldId id="259"/>
            <p14:sldId id="260"/>
            <p14:sldId id="261"/>
            <p14:sldId id="262"/>
            <p14:sldId id="263"/>
            <p14:sldId id="264"/>
            <p14:sldId id="265"/>
            <p14:sldId id="266"/>
            <p14:sldId id="267"/>
            <p14:sldId id="268"/>
            <p14:sldId id="269"/>
            <p14:sldId id="270"/>
            <p14:sldId id="271"/>
            <p14:sldId id="272"/>
            <p14:sldId id="273"/>
          </p14:sldIdLst>
        </p14:section>
        <p14:section name="2  Op-Amp Basics" id="{BFDB0251-2B88-421B-BC0D-BEC1B35E9830}">
          <p14:sldIdLst>
            <p14:sldId id="274"/>
            <p14:sldId id="275"/>
            <p14:sldId id="276"/>
            <p14:sldId id="277"/>
            <p14:sldId id="278"/>
            <p14:sldId id="279"/>
            <p14:sldId id="280"/>
            <p14:sldId id="281"/>
          </p14:sldIdLst>
        </p14:section>
        <p14:section name="3  Voltage and Current Sources" id="{4C4A5296-96AB-4161-A4A8-D99392392B90}">
          <p14:sldIdLst>
            <p14:sldId id="282"/>
            <p14:sldId id="283"/>
            <p14:sldId id="284"/>
            <p14:sldId id="285"/>
            <p14:sldId id="286"/>
            <p14:sldId id="287"/>
            <p14:sldId id="288"/>
            <p14:sldId id="289"/>
            <p14:sldId id="290"/>
            <p14:sldId id="291"/>
            <p14:sldId id="292"/>
            <p14:sldId id="293"/>
            <p14:sldId id="294"/>
          </p14:sldIdLst>
        </p14:section>
        <p14:section name="4  Voltage References" id="{2B59673C-D2BA-495E-8D22-5B76EA88D883}">
          <p14:sldIdLst>
            <p14:sldId id="295"/>
            <p14:sldId id="296"/>
            <p14:sldId id="297"/>
            <p14:sldId id="298"/>
            <p14:sldId id="299"/>
            <p14:sldId id="300"/>
            <p14:sldId id="301"/>
            <p14:sldId id="302"/>
            <p14:sldId id="303"/>
            <p14:sldId id="304"/>
            <p14:sldId id="305"/>
            <p14:sldId id="306"/>
            <p14:sldId id="307"/>
            <p14:sldId id="308"/>
          </p14:sldIdLst>
        </p14:section>
        <p14:section name="5  Bridge Circuits" id="{4DE66242-F4C2-4C2B-9CFC-456760A4A2A0}">
          <p14:sldIdLst>
            <p14:sldId id="309"/>
            <p14:sldId id="310"/>
            <p14:sldId id="311"/>
            <p14:sldId id="312"/>
            <p14:sldId id="313"/>
            <p14:sldId id="314"/>
            <p14:sldId id="315"/>
            <p14:sldId id="316"/>
            <p14:sldId id="317"/>
            <p14:sldId id="318"/>
            <p14:sldId id="319"/>
            <p14:sldId id="320"/>
            <p14:sldId id="321"/>
          </p14:sldIdLst>
        </p14:section>
        <p14:section name="6  Operational Amplifiers" id="{BF907B9B-A989-42BB-8DEE-8EE9CB047814}">
          <p14:sldIdLst>
            <p14:sldId id="322"/>
            <p14:sldId id="323"/>
            <p14:sldId id="324"/>
            <p14:sldId id="325"/>
            <p14:sldId id="326"/>
            <p14:sldId id="327"/>
            <p14:sldId id="328"/>
            <p14:sldId id="329"/>
            <p14:sldId id="330"/>
            <p14:sldId id="331"/>
            <p14:sldId id="332"/>
            <p14:sldId id="333"/>
            <p14:sldId id="334"/>
            <p14:sldId id="335"/>
            <p14:sldId id="336"/>
          </p14:sldIdLst>
        </p14:section>
        <p14:section name="7  Active Filters" id="{09465200-3967-4C2A-AF24-E24B77BD01E5}">
          <p14:sldIdLst>
            <p14:sldId id="337"/>
            <p14:sldId id="338"/>
            <p14:sldId id="339"/>
            <p14:sldId id="340"/>
            <p14:sldId id="341"/>
            <p14:sldId id="342"/>
            <p14:sldId id="343"/>
            <p14:sldId id="344"/>
            <p14:sldId id="345"/>
            <p14:sldId id="346"/>
            <p14:sldId id="347"/>
            <p14:sldId id="348"/>
            <p14:sldId id="349"/>
            <p14:sldId id="350"/>
          </p14:sldIdLst>
        </p14:section>
        <p14:section name="8  Sample and Hold" id="{96D68C41-9B2A-49F0-A4C6-FEDBCD0C6D40}">
          <p14:sldIdLst>
            <p14:sldId id="351"/>
            <p14:sldId id="352"/>
            <p14:sldId id="353"/>
            <p14:sldId id="354"/>
            <p14:sldId id="355"/>
            <p14:sldId id="356"/>
            <p14:sldId id="357"/>
            <p14:sldId id="358"/>
            <p14:sldId id="359"/>
            <p14:sldId id="360"/>
            <p14:sldId id="361"/>
            <p14:sldId id="362"/>
            <p14:sldId id="363"/>
            <p14:sldId id="364"/>
            <p14:sldId id="365"/>
          </p14:sldIdLst>
        </p14:section>
        <p14:section name="9  Analog-to-Digital Conversion" id="{B1ED316B-D2B7-4117-AB09-06C938F66303}">
          <p14:sldIdLst>
            <p14:sldId id="366"/>
            <p14:sldId id="367"/>
            <p14:sldId id="368"/>
            <p14:sldId id="369"/>
            <p14:sldId id="370"/>
            <p14:sldId id="371"/>
            <p14:sldId id="372"/>
            <p14:sldId id="373"/>
            <p14:sldId id="374"/>
            <p14:sldId id="375"/>
            <p14:sldId id="376"/>
            <p14:sldId id="377"/>
            <p14:sldId id="378"/>
            <p14:sldId id="379"/>
          </p14:sldIdLst>
        </p14:section>
        <p14:section name="10  From Sensor to Digital Value" id="{978985E3-88A7-495B-85E8-4FB95C9D21D7}">
          <p14:sldIdLst>
            <p14:sldId id="380"/>
            <p14:sldId id="381"/>
            <p14:sldId id="382"/>
            <p14:sldId id="383"/>
            <p14:sldId id="384"/>
            <p14:sldId id="385"/>
            <p14:sldId id="386"/>
            <p14:sldId id="387"/>
            <p14:sldId id="388"/>
            <p14:sldId id="389"/>
            <p14:sldId id="39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Condensed deck: practical points per section, all Falstad examples. Derivations and exercises are in the script.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split: slides for the ideas, script for the math, Falstad for the proof.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Basics. Every connection is a divider: watch the load Size LED resistors from V_{S} − V_{F}, round up τ = RC: 63 % after τ, settled after 5τ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repetition from the intro course. Stress the kΩ/mA/V habit and the 50 % power rule; 100 Ω at 5 V already dissipates 250 mW. A design always ends with picking the next E-series value and recalculating.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KCL: charge is not lost at a node; KVL: the voltages around a loop sum to zero. For our small networks we just combine series and parallel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V, 100 Ω, 220 Ω ‖ 330 Ω; V_{A} = 6.83 V. Exercise 1.1 finds that R_{1} is overloaded and R_{2} runs too hot for the 50 % rule.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divider is the most used circuit in the lecture. In the example 10 kΩ/10 kΩ loaded with 10 kΩ loses one third of the output (Exercise 1.2). A trimmer between two fixed resistors gives a fine adjustment; in the capstone it sets the gain for exactly 0 … 4.00 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divider is the dual of the voltage divider. Mention potentiometers and trimmers briefly here; the slide 'Potentiometer: adjustable divider' in the script has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example is the 12 V divider 2.2 kΩ/3.3 kΩ with a 1 kΩ load: 7.2 V behind 1.32 kΩ. The load line also works for nonlinear loads like LEDs. Derivation in Exercise 1.3.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Superposition comes back for summing amplifiers and offset voltages. Exercise 1.4 checks the result with KCL and shows that the 5 V source is being charged.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V_{F} grows with photon energy. A blue LED on 3.3 V leaves only a few hundred mV for the resistor. V_{F} drops by about 2 mV/K, so an LED without resistor runs away thermally.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Rounding up protects LED and driver. The larger V_{S} − V_{F}, the less the current depends on the spread of V_{F}. Example: 5 V, red LED, 10 mA gives 330 Ω and 9.1 mA.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CMOS output acts as a switch with some 10 Ω, so the formula still applies. In the capstone the three encoder bits drive three LEDs to ground, exactly this circuit. Exercise 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3-bit capstone converter needs 2.8τ, a 12-bit converter 9τ; that is why acquisition time is always given with an accuracy. Exercise 1.6 reads the charging and discharging values from the scope.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RC circuit seen in the frequency domain. The chapter Active Filters treats filters in detail. Change the source frequency in Falstad and watch the amplitude.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falstad.com/circuit/circuitjs.html, import an example via File → Import From Text. Show led_resistor live: hover over VLED and the resistor. Circuits with capacitors need a few time constants before the values settle.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with full solutions are in the script (docu.pdf); the student version has no solutions.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Op-Amp Basics. Negative feedback: V_{+} = V_{-}, no input current A buffer stops one stage loading the next Check input and output range before any formula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 10^{5} and 5 V out, the input difference is only 50 µV. Rule 1 holds only while the loop works: output not at a rail, feedback to the inverting input. Real inputs draw pA (CMOS) to some 10 nA (bipolar).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lab circuits run from 5 V or 12 V and ground. The input common-mode range and the output swing are the first things to check in every op-amp circuit; the golden rules only hold inside them. Output current is typically 10 … 40 mA, short-circuit protected.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stage A by its Thevenin equivalent from chapter 1: a divider has R_{out} = R_{1}‖R_{2}. If R_{in} ≫ R_{out} cannot be met, put a buffer in between. Its load current comes from the supply, not from stage 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op-amp delivers 2.5 mA from the 5 V supply, the wiper delivers nothing. Without buffer R_{L} would need 250 kΩ for 1 % error. Exercise 2.1, including why an LM358 fails near 5 V.</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stage is 10 kΩ and 100 nF. Without the buffer the second stage draws current from the first capacitor, so the product formula is no longer valid. This is the idea behind the chapter Active Filters.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resistance stays near infinite, so the source is still not loaded. Buffers appear behind references, at bridge taps, between filter stages and behind the hold capacitor. The chapter Operational Amplifiers derives the inverting amplifier and the effect of finite gain.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with full solutions are in the script (docu.pdf); the student version has no solutions.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 Voltage and Current Sources. Every real source has an internal resistance Op-amp loops make voltages and currents exact Excite the 1 kΩ sensor with 1 mA, not more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Battery pack 4.5 V open, 4.0 V at 10 Ω gives R_i = 1.25 Ω. The operating point is the intersection of source line and load line. Calculation in Exercise 3.1.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both models side by side in Falstad and change the load: the terminal voltages stay identical. Ask the students which internal resistor gets warmer. Exercise 3.2.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current flows all the time, even without load. Small-signal model with r_Z is in the section on the shunt regulator (Regulation and ripple). With r_Z = 20 Ω and R = 220 Ω, 1 V input ripple gives about 83 mV output ripple.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worst cases: one for regulation, one for the Zener's power. Full numbers in Exercise 3.3; at 11 V input the 220 Ω design is just at the edge.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V_BE drifts with −2 mV/K, so V_out is only accurate to about 0.1 V. Comparison with the shunt regulator in Exercise 3.4.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input and output capacitors close to the pins, or the regulator may oscillate. The LM317 has no ground pin; its quiescent current leaves through the output. Exercise 3.5 designs a 5 V supply and an LED current source.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LM4040-2.5 with G = 2 gives 5.000 V from 12 V at up to 100 mA, compared with 4.89–4.95 V for the Zener follower. Point out that the simulation has no current limit; transistor power and SOA limit it in reality (Exercise 3.6).</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thread: 1 mA for the 1 kΩ sensor from 12 V with 10 kΩ/2.2 kΩ and R_E = 1.5 kΩ. The third load is outside the compliance range, so the current drops. Exercise 3.7.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 R_ref to show that it alone sets the output current. Mirrors are everywhere inside ICs, including op-amps and references.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V_set = 1.00 V, R_S = 1.00 kΩ gives 1 mA; the floating sensor shows VOUT2 = 2.385 V at 1385 Ω. Compliance: V_out must stay inside the op-amp output range. Howland derivation in the script section on op-amp current sources.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capstone thread: the sensor must not carry more than 1 mA. Self-heating depends strongly on mounting (still air vs flowing water). Ratiometric measurement in the chapter on voltage references is often better than a precise current.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with full solutions are in the script (docu.pdf); the student version has no solutions.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Voltage References. A reference error is a gain error of the chain Never load a reference: buffer and scale it Ratiometric measurement cancels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ADC measures a ratio, code = 2^N·V_in/V_ref, and the bridge output is a fraction of its excitation: any error of V_ref is a gain error of the whole chain. A reference is a voltage standard on the board; if a load needs current, buffer it with an op-amp.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box method only uses the extremes, not the shape of the curve: a bandgap's bow looks better or worse depending on the temperature range. Calibration removes the initial accuracy, but not drift and hysteresis.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Below 5 V the Zener effect has a negative TC, above it the avalanche effect a positive one. The feed choice decides how much supply variation reaches the reference; both feeds are compared in Falstad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labels Vz12, Vz14, Vz12L and VzR/VzI. Calculations with the exponential Zener model are in Exercise 4.1 and Exercise 4.2.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k/q = 86.2 µV/K; with N = 8, ΔV_BE = 53.5 mV at 25 °C and +0.179 mV/K. I_S cancels, so ΔV_BE depends only on T and N. Falstad has no temperature, but the room-temperature ΔV_BE can be measured.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 = 2R_1/R_2 = 11.2 makes the PTAT part rise by +2.0 mV/K, cancelling V_BE. Falstad gives 1.122 V instead of 1.25 V because of its transistor model. Exercise 4.3.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behavioural model inside the TL431 (op-amp, 2.5 V source, transistor). R_V must deliver I_K,min plus load and divider current at the lowest supply. Exercise 4.4.</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types need decoupling exactly as in the data sheet: some are unstable with the wrong capacitor.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capstone reference for the 3-bit flash converter: 4.00 V on 8 × 1 kΩ, 0.5 mA ladder current. Exercise 4.5.</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Resistor tolerance enters with (G−1)/G: 1 % resistors give ±0.75 %, about ±30 mV, irrelevant for 3 bit but 30 LSB at 12 bit. Decouple the ladder top with 100–1000 nF close to the comparators.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2-bit flash converters with a 1 kΩ/2.7 kΩ sensor divider, V_in = 0.730·V_exc. A shared connection with voltage drops, or noise on one path only, breaks the cancellation. Exercise 4.6.</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the budget with the LSB of the converter. After calibration only drift remains: 25 ppm/K over 25 K is still 2.6 LSB at 12 bit (Exercise 4.6). Alternatively measure ratiometrically.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with full solutions are in the script (docu.pdf); the student version has no solutions.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Bridge Circuits. A bridge removes the constant part, leaves only the change Unequal arms (m ≫ 1): less signal, much better linearity Read the bridge differentially: buffers + difference amp</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the sensor in a plain divider: the tiny change sits on a large constant voltage. The second divider subtracts that constant part. Away from balance V_d is proportional to V_B, so the excitation must be stable or the measurement ratiometric. Exercise 5.1 does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plot: positive x gives too small an output, negative x too large. The derivation is in section Output Voltage and Linearity of the script.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R1 = R3 = m·R0. A large m keeps the leg current nearly constant, so the sensor voltage is nearly proportional to its resistance. The amplifier needs gain anyway, while nonlinearity would need software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Gauges on top of a bending beam are stretched, on the bottom compressed; put them in adjacent arms. Load cells of scales are full bridges. In a quarter bridge a dummy gauge gives the temperature compensation. Exercise 5.2.</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Platinum is stable and standardised (IEC 60751). Self-heating depends on coupling to the medium: 0.1 K/mW in flowing water, about 1 K/mW in still air. Exercise 5.3 has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NTC model: R(T) = R25·exp(B·(1/T − 1/T25)), for example 10 kΩ and B = 3950 K. The capstone uses the Pt100 because its characteristic is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design card of the chapter applied to the capstone: Pt100, 0 to 100 °C, at most 1 mA. Sensitivity is about 0.37 mV/K and the self-heating 0.1 mW. Worked out in Exercise 5.4.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m = 1 the same Pt100 bridge would deviate by 4.4 K. The Pt1000 version is Exercise 5.5: more signal and less gain needed, but almost ten times the self-heating power.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single-ended version first and show the huge output, then the buffered difference amplifier. Without buffers the 10 kΩ inputs would load the 97.5 Ω bridge and spoil the common-mode rejection. Details in chapter Operational Amplifiers.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sensor loop acts as a transformer winding for the lamp fields. Only interference that reaches both nodes equally is common mode. The filter chapter designs the low-pass that removes it.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resistance 0.5 Ω per wire. At 100 °C the 3-wire error is only 0.05 K (37.16 instead of 37.18 mV), the 2-wire bridge reads 38.13 mV. Exercise 5.6.</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with full solutions are in the script (docu.pdf); the student version has no solutions.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Operational Amplifiers. Negative feedback: the resistors set the gain Use an INA for bridges; resistor matching sets CMRR Keep G &lt; 100 per stage; watch offset and headroom</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plot shows the open-loop transfer: a few hundred microvolts saturate the output. Golden rules from Horowitz/Hill; the property table ideal vs. real is in section The Ideal Operational Amplifier.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follower amplifies current, not voltage: it copies a high-impedance node to a low-impedance output.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follow from the two golden rules in two lines. The figure shows the non-inverting amplifier: R1 and R2 divide the output back to the inverting input.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0.5 V amplitude at 1 kHz. Exercise 6.1 asks for gains, amplitudes and input resistances.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Inputs 1 V via 10 kΩ, 2 V via 20 kΩ and −0.5 V via 10 kΩ with Rf = 10 kΩ. Exercise 6.2.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symmetric bridge has 2.5 V common mode and some 10 mV signal, so a tiny common-mode gain is a big error. The input resistances are unequal and low: the circuit loads a bridge. Exercise 6.3.</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input stage improves the CMRR by the factor 1 + 2R/R_G. The lab circuit uses gain one in the buffers, so matching of R1 to R4 alone sets the CMRR.</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1 kHz a 1 MHz op-amp has only A = 1000, so a G = 100 stage is 10 % low; check fast circuits against the data sheet. The capstone signal is a few hertz, so GBW is no problem there. Exercise 6.4.</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Exactly 0 V output is impossible on a single 5 V supply: use a negative rail or an offset range like 0.1 to 4.1 V. A clipped 50 Hz interference turns into a DC error after the low-pass filter.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Falstad's op-amp has no offset or bias current; the example models them with an extra voltage and current source. With the 100 Ω bridge source resistance I_B matters little, but behind a hold capacitor it does. Exercise 6.5.</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following low-pass, S&amp;H and 3-bit flash ADC expect exactly 0 to 4 V, so one LSB is 0.5 V. In hardware R_F is 91 kΩ plus a 10 kΩ trimmer (G2 = 10.1 to 11.1); Falstad uses the E96 value 97.6 kΩ or the trimmer at 6.6 kΩ.</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first, then span: the span trimmer scales any remaining offset. The REF pin must be driven from a low impedance, as in the figure, or it spoils R4 and the CMRR.</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Exercise 6.6, the capstone amplifier. The 50 Hz interference is differential, so only the filter of the next chapter can remove it, below LSB/2 = 0.25 V.</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with full solutions are in the script (docu.pdf); the student version has no solutions.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7: Active Filters. f_{c} = 1/(2πRC): −3 dB, −20 dB per decade per order Op-amp buffers the filter: no loading, optional gain Anti-aliasing low-pass with f_{c} ≤ f_{s}/2 before the S&amp;H</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Bode plot: two straight asymptotes meeting at f_{c}. Derivation of H(jω), the dB table and the high-pass formula are in section Passive RC Filters. Remind them that τ = RC and f_{c} are two views of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 1.6 kΩ, C = 100 nF. Point out the limits of passive filters: the load changes f_{c}, no gain. This motivates the op-amp in the next section. Exercise 7.1 works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Falstad values: non-inverting LP with G = 2 gives 0.141 V, inverting LP and HP with gain −10 give about 0.705 V. Circuits of the inverting variants are on the next script pages; Exercise 7.2.</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 10 kΩ, C = 100 nF: slope 1000 V/s, 1 V per ms. The triangle starts between 0 and −1 V and is centred slowly by R_{p} (τ = 0.1 s). Exercise 7.3.</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20·f_{c} a first-order filter gives −26 dB, second order −52 dB. Transfer function and comparison of coefficients are in section Second-Order Filters. Higher orders: cascade of second-order stages with tabulated f_{0} and Q.</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Capacitors come in coarser steps, so choose them first. Q between 0.65 and 0.75 changes the response by less than 1 dB. Example 1 kHz: 10 nF, 22 nF, 10.7 kΩ gives f_{0} = 1003 Hz, Q = 0.742.</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1 V amplitude; RC with f_{c} = 995 Hz, Sallen-Key with f_{0} = 1003 Hz, Q = 0.742. Exercise 7.4.</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of the ADC chapter. 50 Hz = 10·f_{s}: the samples see the hum at a fixed phase; if mains drifts to 50.1 Hz the error becomes a slow 0.1 Hz wave in the data.</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LSB = 0.5 V, so 25 mV is far below LSB/2. With 10 bits (LSB 3.9 mV) the first-order filter would leave about 6 LSB, the Sallen-Key less than half an LSB. Step response of the first-order filter: τ = 68 ms, 1 % after 0.31 s. Exercise 7.5.</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simulation run for about 0.6 s before reading the values. The input reproduces the capstone situation: 4.875 mV × 107.6 = 0.52 V of hum on the 2 V signal.</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twin-T needs a follower at its output. Exercise 7.6.</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design card at the end of the section. Capstone: 0.52 V × 0.047 = 25 mV, well below 250 mV.</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with full solutions are in the script (docu.pdf); the student version has no solutions.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8: Sample and Hold. C_{H} window: droop sets the minimum, acquisition the max Settle to ½ LSB: t_{acq} ≈ 0.69·(N+1)·τ ≤ t_{track} Buffer both sides: follower, switch, C_{H}, follower</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in the chain: sensor, anti-aliasing low-pass, S&amp;H, ADC. The 12-bit example (t_{conv} = 10 µs, 2 V amplitude) is worked in section Why Sample and Hold?. Even a flash converter needs a defined instant so the display does not flicker.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Strictly this is a track-and-hold; the names are used interchangeably. R_{S} contains source resistance, switch R_{on} and the 1 kΩ that limits the op-amp charging current. The terms diagram is in section The Track-and-Hold Principle.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V_{in} = 2 V + 1.5 V·sin(2π·0.5 Hz·t), R_{S} = 1 kΩ, C_{H} = 1 µF. Held values 2.094, 2.956, 3.452 V and so on. The lag is slope × τ = 4.7 V/s × 1 ms.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Falstad switch has no charge injection and no leakage; we add them as discrete elements later. The 1 kΩ series resistor limits the charging current and keeps the op-amp stable with the large capacitive load.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time constant of a few percent of the track window; the rest is reserve for op-amp settling and tolerances. Derivation in section Designing the Hold Capacitor; Exercise 8.1.</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leakage is pA to nA, so the lower limit is usually far away. The capstone allows ΔV_{max} = LSB/10 = 50 mV.</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leakage is exaggerated to make droop visible. A too large capacitor turns the S&amp;H into a low-pass filter. Exercise 8.2.</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result: R_{S} = 1 kΩ, C_{H} = 1 µF film, t_{acq} = 2.8 ms, droop 1.8 mV at 10 nA. Electrolytics leak in the µA range. Dielectric absorption makes the held voltage creep back; film capacitors show little of it.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Falstad models only the coupling capacitance, not the channel charge. Exercise 8.4.</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Jitter is why fast converters need clean clocks. For the 5 Hz capstone a millisecond of jitter is harmless, see Exercise 8.6.</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unbuffered circuit fails three ways: divider between source and load, slow charging, discharge through the load. Use a FET-input op-amp as output buffer; its bias current adds to I_{leak}. Exercise 8.3.</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Clock rail: square, 5 Hz, 2.5 V amplitude, 2.5 V offset, duty cycle 0.1. Such fast signals must be removed by the anti-aliasing filter. Exercise 8.5.</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LF398 data sheet has acquisition time and droop curves versus C_{H}, a good illustration. Microcontroller SAR inputs sample with a few pF; the same t_{acq} = τ·ln 2^{N+1} calculation limits the source resistance.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with full solutions are in the script (docu.pdf); the student version has no solutions.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Analog-to-Digital Conversion. Filter everything above f_{s}/2 before the S&amp;H LSB = V_{FS}/2^{N}; each bit adds 6 dB of SNR Flash = ladder + 2^{N}−1 comparators + encoder</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folding plot: every input frequency lands somewhere in the pass band. After sampling no processing can tell an alias from a real component. The 4 Hz / 1 Hz sample picture is in section Sampling and Aliasing.</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is 2 V DC plus 0.5 V of 50 Hz hum. Point out that nothing on the display looks wrong at 5 Hz: the error is invisible. Calculation of the 2.14 V is in Exercise 9.1.</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50 Hz the 1st-order filter gives −26.6 dB (factor 21), 2nd-order Butterworth −53 dB. The filter must sit before the S&amp;H: after sampling the damage is done.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Typical values: 10 bit at 3.3 V gives 3.2 mV, 16 bit at 5 V gives 76 µV. The SNR derivation (LSB/√12 noise) is in section Quantization.</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is a 0–4 V triangle at 0.25 Hz. The sawtooth figure is the error the scope shows. Exercise 9.2 uses this circuit.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Falstad comparator: op-amp with max output 5 V and min output 0 V. With R1 = 10 kΩ, R2 = 100 kΩ, Vref = 2 V the thresholds are 2.2 V and 1.7 V. In the sim the plain comparator gives 10 edges per period, the Schmitt trigger exactly 2.</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2-bit version: three comparators, LSB 1 V. The ladder current must be much larger than the comparator input currents; the reference must be stiff.</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derivation from the one-hot code is in section The Flash Converter, Deriving the encoder. In the capstone the input is held and the LSB is large, so bubbles do not occur. Exercise 9.4 shows a bubble causing a 2-LSB error.</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Labeled nodes with the same name are connected, which keeps the drawing readable. This is the converter of the capstone. Design is Exercise 9.3.</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circuit C4 drives its bar LED, the B2 LED and gate inputs: 18 mA. 74HC outputs are limited to 25 mA absolute maximum and V_OH drops under load. Falstad outputs are ideal and do not show this. Exercise 9.5.</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SAR worked example (4 bit, 2.6 V → 1010) is in section Other Converter Architectures. Most converters contain a DAC in a feedback loop, which is why we start with R-2R. Exercise 9.6.</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Dual-slope integrates over 20 ms, so 50 Hz hum integrates to zero; the capstone instead removes it with the anti-aliasing filter. The capstone uses a flash converter because every part is visible: ladder, comparators, logic.</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with full solutions are in the script (docu.pdf); the student version has no solutions.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10: From Sensor to Digital Value. One 4 V reference for bridge and ladder: ratiometric Anti-aliasing filter removes 50 Hz before sampling Verify in Falstad at bin centres, not at thresholds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chapter Bridge Circuits, INA from Operational Amplifiers, low-pass from Active Filters, S&amp;H from Sample and Hold, flash ADC from the previous chapter, LED resistor from Basics. This chapter is the worked solution of Exercise 10.1.</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run through the whole course; keep them on screen as the reference for the next slides. The full specification table is in section The Measurement Chain.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Ratiometric: if the reference is 1 % high, bridge output and ADC thresholds are both 1 % high, the code does not change (Exercise 10.2). Trim: set 100 Ω and check 0 V, then 138.5 Ω and adjust R_F for 4.00 V.</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3 bits a first-order filter is enough. For 10 bit the residual would be twelve times too large: then use 2nd or 3rd order, oversampling, or a sampling rate that is not a sub-multiple of 50 Hz (Exercise 10.3).</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Clock 5 Hz with 10 % duty: 20 ms track, 180 ms hold. Both limits leave a wide range, 10 nF to 100 µF; choose a 1 µF film capacitor. Exercise 10.5 redoes this with R_on = 1 kΩ and 10 nA.</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converter as in the ADC chapter, Falstad example flash3. The full encoder equation for B0 is in section Stages 4 and 5. Exercise 10.4 extends it to four bits.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table in section The Complete Chain in Falstad: 6.2, 18.6, 43.5, 56.0, 81.1, 93.7 °C give codes 000, 001, 011, 100, 110, 111, with V_HOLD within 1 mV of the target.</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worst-case phase; the offset size depends on the phase between mains and sampling clock. The point: nothing on the scope looks wrong, only the code is.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procedure behind the capstone task, Exercise 10.1. Students should do the paper design first and then check every stage against the Falstad model.</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with full solutions are in the script (docu.pdf); the student version has no solutions.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AMB0lxA2SICsyWvQUwLRjAFAAeICALCAMwBM4ZFlCU4TGAaiAM4CuADrwBsAngQBKIAJxMpkpuWbIyMdLCirlalAQBOsvTOqQAHM0qVlBMAloHjemsloATLADMAhtwEAXHAKxO4ApqkIQA5vaG9owKBIYA7HqGJvi0ySAUbAAyAKIAIsQg1EpUtGQyMchWIFkA9mEAlgDGILXc3rztXG3aTVicIN4AFlggTdza2lgAdt5iRSXpS3aO4KrU0BgbGBowWgDuC4521PFpK3GQiafnJjfgEmUgAMJZANIEh-fp5hTpkAQAJJUSB-OyUFC3BSbVCwT5USFFcFGMEmAEJKgopEmShYsCPDIgADyAFUACqEXS41EZWxoqjmOFWMp02lMBxFEAuDxeXz+QIQZBC2DhNmlRQVSpQQooAk0EBGeVS6p1RotNodLqcBrTADWA2Go3Gkxmc3ERjgegtyHkQoyGhQ6idwq0umtVst+NoyDMFmZCs9BPd1CMdy5bk8Pj8ASCduUhAxSBxUSTIIoFFeH0OqY55B9UQBwLz4tIoZLLthAOzZY58RiHPRVxAdfZURbDKYFFJZOo8PbHPdDfhg6iwbLANxnIAYnawJ64MhRAAdTicLDaBr9AhAA" TargetMode="External"/><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CsCmC0AMA2c8qsmqcxgFAA8QBOZAFgA4pTSoAmEVMZAZWgCcBLaAZ1gAcAhmwEAbEdBEgAdtAAuAdwD2bANYgAFAAtFAN3Yhd+gSDY8O3WcoBcIAJIAaEADVHABQCUuHcWQBmX8gk4GD0qKik8AB0jLTRDHFRYZGQuPI+wfRMjCEMuGzgiNn0tOSUOKEoiakgJWU5vpCZOfB5IA1N9O1tAQw1tFVpXeUgFEW5+aMZI+So-sizvgPpc22N3fPVXSuTKy0A5qudPVtrYdWTw5DUUy39AOxUNJeFUzROAIIE4ET0MzXwlHINEYyAASnhCL4gX0aBFULQSr0mCBQbQvpAcgiaI1KAjKCCUb5cEA" TargetMode="External"/><Relationship Id="rId3" Type="http://schemas.openxmlformats.org/officeDocument/2006/relationships/image" Target="../media/image1.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www.falstad.com/circuit/circuitjs.html?ctz=CQAgjCCsCmC0AMA2c8qsmqcxgFADcQBOZAZlORPDACYRVUAWeAOlTFYbfu9clwDuxZDjo0ajanXi4ATiHGTRCiSsnt4mznLW7FIcsg1a2g4QYq7D9XAHMrl-aUjSbNeAHY9qian2SANQB7AFcAFwB9IIAHaAA7AgMXCzJk5QYQZm4OXlyufiFnOmVGAA52Wht5Moq6Gt1jTVNq8t1660btIXr9SA9kfRl5PoHVEZT6FBMZQuTrdssZzNbrcY67ZdR5leSGXHcvHtVGKndSzJBg8IiAGyCAQwATXAAPc0QlRFREc-ZkAFU4ncntBnm8iiAPlBKj9JmBkAAZB6PUEgAQASzCAAsQAAlBEgAC8KAA1rggA" TargetMode="External"/><Relationship Id="rId4" Type="http://schemas.openxmlformats.org/officeDocument/2006/relationships/image" Target="../media/image1.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www.falstad.com/circuit/circuitjs.html?ctz=CQAgjCCsCmC0AMA2c8qsmqcxgFAA8QBOZAFgA4oiAmKW1MZAYQFcAnN6AOwBcQATAJYA3Qf2hsAXCB4ALaCADOAWwCGAG3USQnRYMU8A9mxmqA1tEUz5IdarYBzbQGN2nXrkHFkAZh-IScDB6EHgAOngIMHgYiNwAd28g2mpqUmTQhJBU9JxaH0haPMyTHIyyv2QGGPD4XBMCouCQRpb-UJBSAHZYusTAyuy0tqqsivbWwbqHIfTBisKOvpbF4tJGDLrqeC7OjbWfJtp0gDUCcGpKMsYry4791GUAQXPqSGQy6i6Uu4ZkACU8IQfOR0mVSDEhpQ-iB-tRcEA" TargetMode="External"/><Relationship Id="rId4" Type="http://schemas.openxmlformats.org/officeDocument/2006/relationships/image" Target="../media/image1.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www.falstad.com/circuit/circuitjs.html?ctz=CQAgjCCsCmC0AMA2c8qsmqcxgFAA8QBOZAFgA4QAmK0qKkVMZAeQCcBLAcw4DsBDADYgAxhzYiArhwAuuAG7FkAZmXIS4MA1SpS8AHRMqhxiYM79kXAHclmhjTo5tuNtVr33dR43fxzrl5BPqrIqKr+hjbBHspUqD7wgXEJsfEgob5g-gG2GpkhaozRhSrpmUlcQQWxkNrF8QDsGemlQXQAagAyAPoA9pxcBNSQyMwJ5JTMdEzIxlQA1sPj1JPgRA4bWSr6ykuEBWvKjXNbsyAASl3g+yAUupTkevTbIAAqABbQ8tC8fCDQACO0nkQl+MgAXCAOjIPiAALwgRr6BgdAA0l1hCPAu0WCju5HCRXunh0d3MSJRpgsFisthJznoUy0xTcdWZDEQo1J4BSUVsXLGLMa6UZSVsIqYwtaHiSbklQQVFRQkXFBKJyCVRUq6oyxMJGTqviSTSRMrojSKPk6vSBIOGlrma0aJ2oZ3AyCuN1wQA" TargetMode="External"/><Relationship Id="rId4" Type="http://schemas.openxmlformats.org/officeDocument/2006/relationships/image" Target="../media/image1.png"/><Relationship Id="rId5"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www.falstad.com/circuit/circuitjs.html?ctz=CQAgjCCsCmC0AMA2c8qsmqcxgFAA8QBOZAFgA5wB2ZSAJhFTGTAYDUQBDAGwHsA7aLgBuxZAGZxyEuFaN5peADomdFY3XLUyyLgBOY2Qzp1SR+WHhWV+kCbM5jpkJOSo6Vrbfvnx9c+6eNgDuLv6uYQyOjLihMhE+EfCxds4RfgxJuADmqWYJaf7auB5UeeY+MmZsABp4hKyUzEykDohmTCwA1gR2in3ukMimHeDDPYR0VFGI7uRN7Rbjva2UFFAeG0tQIBw8AkKhqy5SIMfRyQbncpA0ASjWl1B30bcSp4GPtm-mVPAOck+XlEf3yp1B91QinUkE0cO0Sl0R3WER+WVCaPB-xObhyz3etDuGXkyVK+PMPyquxqdBW5E6UJkzFGzHAEygRGM-VmlBG2zo7MQzmaIHanRZy0I9KhlHIMiKYxAACNeAAXAAWIAAzrwAK56ADG0C1IhA0pxZqskLOWnAagRDo0ugM5uinKagIeXgM7vMvqSdiCT190UsQ3uHi+ojDBJQ4YuCltsMdtp0KXNEX9HxSWZY8HDWVyueIdEoxOKZJDcl9VNqvXI4hmqHI62Z2zA7KIrQGYnc3c6dk7L1mxE5Ywlg9wQA" TargetMode="External"/><Relationship Id="rId4" Type="http://schemas.openxmlformats.org/officeDocument/2006/relationships/image" Target="../media/image1.png"/><Relationship Id="rId5"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www.falstad.com/circuit/circuitjs.html?ctz=CQAgjCAMB0lxA2SICsyWvQUwLRjAFAAeICALCAMwBM4ZFlCU4TGAaiAM4CuADrwBsAngQBKIAJxMpkpuWbIyMdLCirlalAQBOsvTOqQAHM0qVlBMAloHjemsloATLADMAhtwEAXHAKxO4ApqkIQA5vaG9owKBIYA7HqGJvi0ySAUbAAyAKIAIsQg1EpUtGQyMchWIFkA9mEAlgDGILXc3rztXG3aTVicIN4AFlggTdza2lgAdt5iRSXpS3aO4KrU0BgbGBowWgDuC4521PFpK3GQiafnJjfgEmUgAMJZANIEh-fp5hTpkAQAJJUSB-OyUFC3BSbVCwT5USFFcFGMEmAEJKgopEmShYsCPDIgADyAFUACqEXS41EZWxoqjmOFWMp02lMBxFEAuDxeXz+QIQZBC2DhNmlRQVSpQQooAk0EBGeVS6p1RotNodLqcBrTADWA2Go3Gkxmc3ERjgegtyHkQoyGhQ6idwq0umtVst+NoyDMFmZCs9BPd1CMdy5bk8Pj8ASCduUhAxSBxUSTIIoFFeH0OqY55B9UQBwLz4tIoZLLthAOzZY58RiHPRVxAdfZURbDKYFFJZOo8PbHPdDfhg6iwbLANxnIAYnawJ64MhRAAdTicLDaBr9AhAA" TargetMode="External"/><Relationship Id="rId4" Type="http://schemas.openxmlformats.org/officeDocument/2006/relationships/image" Target="../media/image1.png"/><Relationship Id="rId5"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www.falstad.com/circuit/circuitjs.html?ctz=CQAgjCAMB0lxA2SICsyWvQUwLRjAFAAeIAnAiACwAcIAzNZagExTgUBKIAvOJANYAaEAGEefEAFcAYsIAuAQ0niOY3jAgBnAgDcyFOnQrlwYVslZhYIZtAy2MMZDBQFmkAOz7TrEyaYAagCWAHYEAO7e+JZIPlAEAE7syNE21LSpKXBwsBFpGWb0KJaFkAQAxkUlrHTF9EZsYLiQjrmRJoYGdZ3xAOZV9V01dc5ungOpRgWsgeUEAPY2IAhMyJSQpLStEBZk8UA" TargetMode="External"/><Relationship Id="rId4" Type="http://schemas.openxmlformats.org/officeDocument/2006/relationships/image" Target="../media/image1.png"/><Relationship Id="rId5"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www.falstad.com/circuit/circuitjs.html?ctz=CQAgjCCsCmC0AMA2c8qsmqcxgFAA8QBOZAFgA4RTFSoAmEVMZAJQGEQAbAewHdYADgEMAziIA0IFiAC84AHSIA1pI5yw8VADsAYpIBmAY1nEiGABIAvXADdiyAMwPkJcGAZMUm+Ux+M-8AHykLh08ADs9m4Mrq60AGoAllq4vFE4DMxM7oy4AE7giNkMdOSUGYyF3vCpIKXlOQ6QmTk1xk0tDB0gTshMcBH+NWmuvT3NPc65AObjXVPd3ag1YZHdFc4NDAncAK4ALrjcdSeopPBE5f4QqDG5QA" TargetMode="External"/><Relationship Id="rId4" Type="http://schemas.openxmlformats.org/officeDocument/2006/relationships/image" Target="../media/image1.png"/><Relationship Id="rId5"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hyperlink" Target="https://www.falstad.com/circuit/circuitjs.html?ctz=CQAgjCCsCmC0AMA2c8qsmqcxgFAA8REAWEYgDhACZJlIqRUxkwBrEAEwEsAnaAYwAuAGwCeIAIaCQggBbQQAdy4AHaD1wAlEAE4WYBnpDlUpsvAB06K4xuXTFyLh679h5FXiV08X1eeu1F6BAMzwpD5+8LgA5qHhoZ6MjLiKgZ6UGUHeAVl5wWERKFGx2SCFZSFJprieAOxleVSkYDoMpABqAPrcfEIE5fRklHUJQ0ws7ABG0LJcAHYckiAAbgD2woISMQoAZhvCa4rqIAAUayqwEgC2KpLSGB0AlFrliJQ4DCHvxmaoxPYoHZgQ4nC5vh8DG9MsFIvYAhDKj8KnD-HFERUMdUUvVoZUhq12iBuso1Bo0oissRmGVohJhqgqM0oMRSEzSDogQ4mL5eYD+TYwHz4WlqR5ghRGbDUgzqADZVQ6gxoqKTNQlVA6h4NSrNdqGJAtdRmbrIKzjaRDR4TTKrRaiMF2SkXIhHczXZQUcV4XEPeUEn6qn9avAGn6nYhmVTiV0pgBXXa7dTQDgDT7gc0GD4UZI0yCsNNQmgsKiZV25ugFwhO4tyxnliYgTQAGVwIUoyAAYmYhTy+U3mwAdADOvQEglwQA" TargetMode="External"/><Relationship Id="rId4" Type="http://schemas.openxmlformats.org/officeDocument/2006/relationships/image" Target="../media/image1.png"/><Relationship Id="rId5"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https://www.falstad.com/circuit/circuitjs.html?ctz=CQAgjCCsCmC0AMA2c8qsmqcxgFAA8REAWEYgDiLGUgCYRVqQAlEAXhQGsAaEAYXYpUAOwBivAGYBjQWEgBOEAAkAXgDoQAEQCWAJ2hSALgBsAniCkB7YcIOHoAEwBcIAD5LXsgPQBmEAENDEGlcADcQeWRaeEpI8DB6RnAFNTlieWIfeHkwcnlIHwwwNVR4EoZysshcAHcI5Bx6BMpGhlxdcFoWhJBaWlJWxnhhsvha3v74+lpIBp6xmRm56dnemIZwOHgAdgqxjqWpkEKm+aFhkvGTo59yAfncGVv7+me1ykYt3dHxuOjKQ7-Np1QHrN5AsYAc16qyBgMmpVw0V2h1ahzipAAamAAPoOPR2JE7Y53I7EYZkkCYywAV0MeIJRgIRFItG29GI7N622QjGQAHVtIYABYBEChSzGQz+SHQYKS4yWGrQDraYQgABG0EMyugwhc7k8HDAXnogWCUjC9TIPnocR8Pl54GS8lSkHSmWyuXyhXAlX9pTU1Tq9sdnUoDt57XDxzDfVIkY2YBGPxBk0Th0TCxhyAzq0yiU2CG+lxDyALOZtiVw0MOFbrFA2Y2RlbzueiZCpuI1NIkEhVjlw-mOHeub2uijk5VgU6GKdGe0XyZTpdbYdtqCzV1HiAjHfJiLqG7IFOITAPwLI59PTGuYyPpOuZ9zdEvz+Or+Ijbv0a-Edf7oJq+c4XPeUBfh+9CQDykFtDI0EvlBMF-kmXx7DWUDIY2CFkCQTZErsOHXAoryflStL0j2fYDg4uCWOAfikKg5LyC0FQQKgrxMbgQA" TargetMode="External"/><Relationship Id="rId4" Type="http://schemas.openxmlformats.org/officeDocument/2006/relationships/image" Target="../media/image1.png"/><Relationship Id="rId5"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www.falstad.com/circuit/circuitjs.html?ctz=CQAgjCCsCmC0AMA2c8qsmqcxgFAA8QBOZAFgA5wiAmKW1MZASQBNoBDAGxAGcB7AK4AnAMbRcAN2LIAzDOQlwYeiFSl4AOjUaMm1HtU7cAd2lLa1aqXOrcQkJes4LVkHOQM9Js+4evf8LgA5n7Wvo5ukCqB1PAA7KE2VgzKINYAagD6AJZsXAQO6oWo1OQlpNYMyABKADIoBaSMaZRxsXSq4DUc3PzCYgBcIOmoALxpOsMANCDV2SDjYBrUGADyABYAtrgARmnwqGVQiKjylIFSFZS+Vw7w553qWhO6zwaakHZpFHeUt86dJYrRqIJwnFpVSpdWbZbz-VInSgAwKmW6+RFueS2WIJDEAxCuAEZTIAF2gQm2pjxqTi8CcqUC9lp9NozMxHhQWm8GN8bICwRAPKxPKinUChDa5VQcSxVihzTquBkSISADF9IYMO1FUA" TargetMode="External"/><Relationship Id="rId4" Type="http://schemas.openxmlformats.org/officeDocument/2006/relationships/image" Target="../media/image1.png"/><Relationship Id="rId5"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hyperlink" Target="https://www.falstad.com/circuit/circuitjs.html?ctz=CQAgjCCsCmC0AMA2c8qsmqcxgFAA8QBOZAFgA4QBmRdAJhFTGQBUALaAN2gDsBLHgC4UIAGogA7nwAubFAGsQAkAGdoAJz7QVuTsWRUa+8GAapUpeADom18zcYPrkXBOM4Gpyh8a514Om9TEDpIZB9beCibVxCwkwYqOiZg+D9qZISM1ENkCwB2aLS3EmojJJyjNIBzbLKDTKpIM19k-LqfXKzSMQAZAH1ZLl4BAnqQy2oiBjpSHqZkACVekFIrfPkx0lKKEHzaKBbmEAA5AHt1aTOhcBAAWwBBSRk5MHhFZQAHAEN1b4Abf7Qf64PhQYJdSDBCKOKIQN5FWJQzzBRCzLLFEBono+fJGCLpbFZIldSKI-x48LBSnjAqItzI8YkqqxZnIGmk3C1NlY9FNFppNp7fHU5rdPr9HgXK48MaISazVCIeUTebgcLvMb5MWKkDkeCUWZq47LVbrTZAA" TargetMode="External"/><Relationship Id="rId4" Type="http://schemas.openxmlformats.org/officeDocument/2006/relationships/image" Target="../media/image1.png"/><Relationship Id="rId5"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hyperlink" Target="https://www.falstad.com/circuit/circuitjs.html?ctz=CQAgjCCsCmC0AMA2c8qsmqcxgFAA8QBOZAFgA5xIAmKW1MZAOQHsQAbFgQwBNcA3YsgDMw5CXBh6IVKXgA6BtUUyVC1Asi4A7kMm0plHPVwAncNSNSQ1SMmMyb1dTpt39IYc4-xcAL09vURFvBwgFcnhIInhSAHZyYSh5RFcJYMDUDN8Ac0zPMXzhGkdfZzj8hy9UCVIQADUWAFcAFwB9FgAHaAA7AnBEVEjwcjrRx0YnX0IKWUpEYZKGZAAZbh4QACUVkABeGzjUAHkACwBbEAAKbzOAQQBKARBZgrJhhw1n9Qs1X415LS6F4OSDWD5mKBg6yIOQ+KaKVwwhjWQ51cEBVGvECYsKqSLRWIJJKQFKuF4ZTHZXB5SmFSlLGS4crY2IeTG1BrNdqcXj9SCkMboBYgcbLKauHHWSLIkzmaUeeXZA4uXS05CKwrTEWTaiwxK0XV1MXbXDCSjUCAAMU+YHgqGcdq2K1wQA" TargetMode="External"/><Relationship Id="rId4" Type="http://schemas.openxmlformats.org/officeDocument/2006/relationships/image" Target="../media/image1.png"/><Relationship Id="rId5"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hyperlink" Target="https://www.falstad.com/circuit/circuitjs.html?ctz=CQAgjCCsCmC0AMA2c8qsmqcxgFAA8QBOZAFgA5wiAmKW1MZAJQBkQBeEUgdlQHkAFgFtcAN2LIAzJFokJIVKlLwAdA2pqFm1YpWRcAd3lzq1UvPiGQp83MmTkcywCdrZ+TevxKDeH7W4AC4gkvDm1N4hDl4+4Fq6vjogACbQAGYAhgCuADaBVp4RlKHhkZYAXm7m0rSFkRCq5PCQRGHc5JJQKoi4EdxVMYNFXCAAagD2WYEA+mDwQgCC0wBaVvbIYDRRjsiWRusDB9SQu2vRx2SM1icKuK6kVxdcVzUKXLwBRnYyhz97v7QHlI-rgAOYAw6IWKWPrPZBPIHWZQjCZTWbzBYEcCIBikcxgbgbChvK5gADWWNIkloJS4xNCsSurCxJyUlEQxL+2JArA47xAghE4lZIR+Iqcb2UmjAGgS8S0+iM4uQUMoTisqvkTVQ6tcmrkmuGiR0QRAhMow21gwY8qScySqUyuXyRkNkXN1twlU1rzdlAaKiaLTaHS6PVhfpAiG4tUi5lRM3tixWVitm1oVvVRitnhzN3+eeQ5Ca11OrmLqCeFdF9HenygOJrUeLTf+Pp+1delnB7doPqhbxh8H61arJbMSjGk0TfkWWMQ7jAeKjyKXjI2FMI5DsYWIMpCZW5zMkxQgADFFF4UH4eSxcEA" TargetMode="External"/><Relationship Id="rId4" Type="http://schemas.openxmlformats.org/officeDocument/2006/relationships/image" Target="../media/image1.png"/><Relationship Id="rId5"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png"/><Relationship Id="rId4"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hyperlink" Target="https://www.falstad.com/circuit/circuitjs.html?ctz=CQAgjCCsCmC0AMA2c8qsmqcxgFAA8QBOZAFgA5wiAmKW1MZAJQBkQBeEUgdlQHkAFgFtcAN2LIAzOVIS5qVKXgA6BtVUgVCjSsi4A7nJIhJiSsfi4mVWtXiVGqO5QVctIdRnffleu9xsPe0CwGi4QADUAewBXABcAfTB4IQBBBIAnaAAzXABDDyUPallJeFlqEuJwdW0GeAbGnWb6xq0DQOdCp2DLOJNTYtKzIc1wTRaUdwATHLyYgBs4jrKKqslBytlLQ1NKLr35FZGS1EPqSGQdkxPLrkYPO+vSB4uyRAqn3Az75Dffkx2MbJJqWH4vKRAiEmGTAtqqDrQyRAraAhQdVHIpxVU6aDE4oq43FgrgfR7vUqwxS8BGGYzSWRIqmIh4M0mU7a4ADmALZ0KUrks-nZ5JFuNk0XiSRSqQI4FIskchQcZIYyAiWWyIAAFCwALJKJQASjlWI85Eo5zCapATFoyQA1qagYdXdx6OBmBBHXKKGdBqR6UUbaw5YhghQQIhjJAPQ9WBwuAFBCJxOHLbD0-IxkoNGBahM6hM9IYs8YLagLFYQLwKsFEO6gi4c+5PIX27pcMLa02a+VAhLYokQWlMjl8jXY6NyK8qkQapMQfCi+4lw1aX265RuFOun0QDJ9lUK6MGB28+vULNsvMlh0Z39j5HUdcT10T1XDG+im+vl-yE4dw0Psf7ENQIHIEQ3B-F8PzAaK8Fmq0l7fGBlpAohVJTChdLgWiNaDEhHTcIRQIkX8wbEZsRQ7rYlFwdBCGMWy1IblmbKYZyuEZrIUFSMyPKcWhbiCl28ABHxTEUYokRDtKMphncSrQWq2yepEmo6vqhrwCahDkMi5qUG+1rqXaKBOvphmHCekiNiG3rwJZxBhBsyAgpawZmSwuDSFwGAAGKuECS62j5QA" TargetMode="External"/><Relationship Id="rId4" Type="http://schemas.openxmlformats.org/officeDocument/2006/relationships/image" Target="../media/image1.png"/><Relationship Id="rId5"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CsCmC0AMA2c8qsmqcxgFAA8REAWEAZgCYpjSzlUxkAhAKQBUQBjAVwCdfoAOwAuIAM4B7Pp2gAuEADUmIAGa8JAWxQBrAPQUAdBW0AaEACUAoiAC84A5FPgqC8dwAO7gDYBPAiABOZBJwSCpEAA4QBmRzABlbcG1cc0DkILSiUlRUYngDBkMcguiS-MhcAHdMjIoKUgz4XF4a9OQ67JR4boLmzI7MsjDokDqepura+vAaUemJmdIBsACqAabRFbXpgfXwUuKGcZAAE2gVAENuL2E+gaml+Cij8aq5pbz30ch6O52fr5DKgMSCvSbIIGA4ZNADmg2GGToz2iuAo8AA7IsvmBZmioqQlHg0ZjdgD6qgKACCZYiRivnjRp8GQSAMJ4QhkCKkELEAGREaMCwJOzEAzo5KpTkNCFcrIjXL5QplZXFCrVKWZSBgKiNPoaxGyvZgbqvFoagYayEUtGKt7m6bEShfBaO7akYgRa3ZXCiD1eqDa537RUHLolM6Xa63FpanXIWOjJ4jYjosEBtafBOU34xwPZ9PkaGhNOW4YJq24OGlqiW-k5VF011fJvMxRMCgNzFZgFhKL56kd4kFhm9xP4xQsjuERDo8KkdF0IjIwXxRJgRwpIizzIzufykB5EralWh8pvXeZT2oXUtC8ZC9Gk222-bgYXq1zNMP6az-0LX9fOi-LrD6IBAX20xXkGEAhiGxohhGVw3H0UEZFBDIgiavTVOhnzoQCTQtPhyBQR+65ftukKkdClZbjWwzvnWKJDgBAysUmBJMGQnYgMRvGCv2iiWNxQ7oUmEQCRxE7cUAA" TargetMode="External"/><Relationship Id="rId3" Type="http://schemas.openxmlformats.org/officeDocument/2006/relationships/image" Target="../media/image1.png"/><Relationship Id="rId4"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hyperlink" Target="https://www.falstad.com/circuit/circuitjs.html?ctz=CQAgjCCsCmC0AMA2c8qsmqcxgFAA8QBOZAZgCYQAWADlVOVTGQGEBXAJw+gDsAXEAFsAllwD2HEAAowlAGoBKAFwgAktwBmIALzTZIOSFgGAQgFEFIAPTgwAa1wAlcIlR0XqWiFSf4AOiZyAO9g-x8-SFwAdw8Qd2ZUEm9o2KTSSEok+FxJBOJkPPJ4Gm9beHKA3AEwIkpyKiZXEHqfcBDwpgrUABNoDQBDNgAbPhTC4tjyeuSYwumauuns2drmhvBVqapkgQpUFpB0uvWmdrOwLpBegeHRleP6IrWfMabySAK3mhLlw4zmj5-OrfGaTEF5PagiFPI6HJ6-WGQ2HkEHZADmsUhEIYpWyklhaX+W1KVAA7F1cEVSRtFtsFs0Jts5OZKfBqcjpgwSsSmSxyAQQIg6U1ZCVmNtGiBHJpbA5CFzYlR5kLSswpQAZah+UkOUhi6kAMVaFyYkHKqEc6twQA" TargetMode="External"/><Relationship Id="rId4" Type="http://schemas.openxmlformats.org/officeDocument/2006/relationships/image" Target="../media/image1.png"/><Relationship Id="rId5"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hyperlink" Target="https://www.falstad.com/circuit/circuitjs.html?ctz=CQAgjCCsCmC0AMA2c8qsmqcxgFAA8REAWEAZgCYRiTzlUxkBJEAXhADUBnaAFxAD0IAEoBlNuE6DwAaxAAKHgDsuAewBOIAJZKQvABbQQAY1UAbM9GO8NASlzCQATmQViqWm9Tfq8AHQMASD+3kH+kATkVBTwABxEpBRgVAzI3Hy4AO7Oru7gTtF58LgAhvnRkK6VIBTVTuCQQbBgjQzw7R1hXW0dIbiatVXIZIjxg8Eo7QGRFLFjbuTwibMTjLK4-CNj1e6o4wzB3ZNBACbQAGYlAK5mvA6+qLGou9TxPu5ByUchhxHZL08Hjlgv0gS4gV5VmRYq0shCAOxUF5kEYgzTI1EvYjEN6TPoAcyB2PiWNo3jhGOQjFQKPocOp5FRDIoiJB2WZrLABRqrOKMXhQNp1DWQtIHFEuH5ELyxDWkLFAGFIrKqYh0DFwGTNSBlGpNGA-NDIDJlWssTslqtkGJ1oRINzKCgcXQrSAAGJmVQlXg6QmekonbS6AxGc7QaAnABGJWMcgADt79AAuEAsdjpfhCG3QfAx3hmACe90Q1TIlsQCzLpHePwNoXrvzhJeGlsRNMtxTKbZqcxA8NiiV78RaTRHPV630+vT62X7g-isTlveK2UXriHay5KVBa-KRF7W6hMOm2VGw+5Z5529PvZZVG7d7Z+7GrMvZEg280b4-z+ozvH0yEpexK-jQ1YglKu6HrEjqHmKADyACqAAqFCSvAArflQiCsu+SKcKIaGEPCloMk8w5amsuoaOAhowiaxGWiqfbYtQGqpCI4hgCaQA" TargetMode="External"/><Relationship Id="rId4" Type="http://schemas.openxmlformats.org/officeDocument/2006/relationships/image" Target="../media/image1.png"/><Relationship Id="rId5"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png"/><Relationship Id="rId4"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png"/><Relationship Id="rId4"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hyperlink" Target="https://www.falstad.com/circuit/circuitjs.html?ctz=CQAgjCCsCmC0AMA2c8qsmqcxgFAA8QAWADhAGYAmCooi5VMZALWgDtoAnKAOmQDUQAdwCWAFwAWIAM5cR0aSE4KR0sQHtuYHpQDWuAG4hEdciTonwlMqlRF4PRpUcgHtlw8i4A5sdPm-YnhbV1whQLBrcABOakibXC1YqzIwZMpIBitgx1wALxjqMzo06gzkCAcSeEho+CIAdhJyXkQwwOLCigD4XEp4Bq7ykH6yYbp+PMiCQOjkOZQQpisQfkNu-02U1x37FzAiDyP3L19O84D7EN7wzvioSO3e7khH+9eyzJ3InN6Cj42D0+FVcPGqtXqTRakD47QudABnV6-UGAOGkCi41WUyIM06CyIyzAwW+FQm6wa9UBlJKURCeycx1BJx8IBp1KpVx2NzZVPuzTidMSIAF21Fwycv3yIqogPFX0qYJqdUazVa7XZnVFSPa8vmmK+zxAsTGXxNgNQlH6bl1svxUR1KONBvmtBGXwmU0oABkZuyFiRKCUSYwKtR+AAaEAAG3UAEMACYjHT6MzgEAAMRCqWQAGUAK4AB0L0YAngAdaT8SsACmj0AAZmIAJS4IA" TargetMode="External"/><Relationship Id="rId4" Type="http://schemas.openxmlformats.org/officeDocument/2006/relationships/hyperlink" Target="https://www.falstad.com/circuit/circuitjs.html?ctz=CQAgjCCsCmC0AMA2c8qsmqcxgFAA8QAWADhAGYAmKSs85VMZAZQFcAHdgGwE9xqAaiAAUAZy4BLACbQATgEoAdCAAy0AGYAXAFzhFlANYAaELIkBzABY6QAY1azZ0AHaaQogPYPb0KCAC2AIK4AG4giETE8KgR4GDUqKhE8IqMlKkgKYkZKZC45uGRyTFFTJmZuADuhXHUlJSROAlVIPWN8cQkjB3wuLKtDbUDkZSQDPzRqbgAXsNRqG2tY+CZil2QAJzwRADsJORQioi4lPA7c6PIDQvLkQLTAEq4Ep3d1KQ341nwGGDRWS0PkNIDtkE0Kv0QWCOlCluM-v8AdUgZcoKC4RVZkDiq8MRAUustrt9odjqdzijbrFUXdpgBJFqxHGLHG9aos6K41kEcLwMhgdGg-ldcplJwAQy4dgcTlc7i8sh82h5iD5rU5JGp21FyAwQRAlQkmksKHgBhAXk07FYbicogkok04ucPlw5H5IAAYokQPyWBxuDwADqiAS4IA" TargetMode="External"/><Relationship Id="rId5" Type="http://schemas.openxmlformats.org/officeDocument/2006/relationships/image" Target="../media/image1.png"/><Relationship Id="rId6"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hyperlink" Target="https://www.falstad.com/circuit/circuitjs.html?ctz=CQAgjCCsCmC0AMA2c8qsmqcxgFAA8QAWADhAGYAmEReM85VMZAEQEsB7AEzgGMOAdgOi8ALtC4hRAJwCGAgM5sFojtIUAuEAEUIs0SlQBXAIIAaEGULaQ+wyFMWbdsMZO4AbsTJFm3kACcjCCoRPAAdOiRIdERqBGQuADm-r7IpMRUISG4BsyolCRkYAHUhWRMMfHRrnEgPABmskYANqK4AO7gtCDl3QWQjJ3gpb0A7NQlZYM5XVMU8EQj1FTxw-m9M-OUM-C4bMuByNuUS9XwFxC1ceujlKeHO0Nzo6uHaTmU8GOPD19k9yWSwAagAhACieEIYCIQJmpx8PSYxxA1gstQc7gMbz65EgZSK2QgdTqtWijWabWGOMJON21Px4xWjKeswojPIi3ZKy+OWxJCWfQ+fUqJJqF3J0CarXaXXIAt6tIVrL2XWFE2IfhVww+nKBfjeewMsIBhNIBUJoti4rqFJlOoyQsd9LVJAKGvNm2e3lQep9FF5RqgYAJZEgsMVFXAVRjZNQdqpXUgIcjwem3vDgo1ma9bJzfvzgdyUDGyD6tFNUeJ1qYEvjUspspLZcJkFLudVNDoTK7AJdvYWSwrAbWBkQYVTiA1IujYtrtob9q644tZBXHeGU7KGq3G+XGr9u8NxbGXL6YwYqat50MkuliZAp8FhKfe8fl8oGovZf738H7+QY8DFLStLAuK9ZxrW963vJsQNTeDtS6N13WoFC33Qv1MKLOVeVZPF0zZAjc3lQV+1I3NhX7Kj0mdb0TUot0309Vlk0Izs2NzHMkKgCNWPbHi2x-ZBhx40SZnXMSJ1ZXcxOnGZXx4xSFI-X9VOQRDf0QPtkHQnjiLeXUcM1QDeU9Y9XV9XlCzWJMIzeYcLIHByD2Mo9eT-JzPN5bC1gOYigm5XoHnOS5DBuOUWQeYj9I5XliI+PYvh+GLou04KgRAMFwRIAh-yIGYwkReJuksVEdHRcDTGLEhAr6UpQOvWM63qRcH1qlsyA6t8Gp7XqeN6v1BuM7rWX6+kDl6wL+pC8A4HgDBrkiYYZqWcbvWG1BesS3BksCQoMsCPiHhBCFXDyopQhmAJ2yIJFSogNEUExHUyEC+ZAs7D7AMZT6GWoaaDr+10TPePwvtGXVGR2yLqA+bbwdwIA" TargetMode="External"/><Relationship Id="rId4" Type="http://schemas.openxmlformats.org/officeDocument/2006/relationships/image" Target="../media/image1.png"/><Relationship Id="rId5"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hyperlink" Target="https://www.falstad.com/circuit/circuitjs.html?ctz=CQAgjCCsCmC0AMA2c8qsmqcxgFAA8QAWADhAGYAmERAdmvOVTGQCEAnAewGsBDAdxABjaABtRALhAAXABbQQnAA6xeAWyUgAZp3YiAziGgBHAK69RwzuOhDpu4afbtoAO2mGAlq5ABFagAUYPgAlCC8rgAmfhABJKG4AG7EZJCUZKQgJKg5xPAAdOiFIAU5xQWQuADmKVDptZBERCUluIKZ2SDpZJ3wbV0kPagkAJzIvbjSXZDI3QNkc8wl5cVg8KUgkdBavKai0rjs81moc5TwZMzr64X9ZxfHlPSt57SPD+TwzecZIADClEmxBYxyaC0GLQgGw2aw2Wx2ewO7UyT2oYK6RBy-XRn2aOMYrXaILmRBBjEuQNIpwhkDA1EW4GWZSucO2u32-Vp9OeXIxWMEvNxUDpFAJfXanRJnXJrSmjW+NNoswhS2hqxuqHh7KRUCVXR5esomMJuuQQsgevIYs5TWO8ooiApU0QDzmiGNDKhKxZxS1iP67tOz0DfJNIaF4etghd4LIMYdTpozzmtC+x1V3pQrIRHMEqe+z3zofFICLQrLUaT9IhdAYjtlpYJKfrnqZbdhvrZ-rzLcLLeNJaVZHL9atTH6tCbEMnZvrfSm2WpPSo6cZap9mq7uayK9RO-pA-6JBXQuPDEri+Ol5l86y7qvY1XXuZWc7OZ1o1mz0-xaPj9P-4XvecwkPeN7Yiixq8ka-LCge6CGoeAqIagIYwWGHrGkW6GDmm6FDr+PYLMaZ6EfuoY-jhEHDgSgqVnRyAWma9GWgSkbjtGxpjqWabcbhzTcQRfETqOBKkcJgjiWJgHjkcP6dJRDwshqf6zA8lGHq8WSPj8IAjCKunNH8eCCJQMyPOZ4GmZZ9akrOFJEvZKSoFZzkJlAtqufaMrxq5vn1rW7kloFMozkFE4EjK15zke6zuaBAkxVpZlOehMrNAAaqwADihzacx4yPkQK7KbcpkQkKJIlXcELFdQkAjGi1UCo1xArj+dWtEcDVNfVrVpJcUAuqUuBaT1bV9WiIKZQAotiqT1ONA2tLw4D1CwzCtRtWRQJmsLXOu7YHSNWl0mQYC2jg1AXXi-x4Kd616ld4B6kZgKnVtLpdA822ZTlBA0OZRD3qRwODSCABK1AALzgNwUgAJIgLDkRZTNIAAPQgFDAOIEDj6DKkcXMMgEMQLDkD5Ig8MgBl6Ow9QSNkyAAQAAoACoAILsyEuDkGQzwAGK5J8cUjNc2NgAAOvobNc+zMtVLw3i80AA" TargetMode="External"/><Relationship Id="rId4" Type="http://schemas.openxmlformats.org/officeDocument/2006/relationships/image" Target="../media/image1.png"/><Relationship Id="rId5"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hyperlink" Target="https://www.falstad.com/circuit/circuitjs.html?ctz=CQAgjCCsCmC0AMA2c8qsmqcxgFAA8QAWADhAGYAmERATmXOVTGQBUAZI8iAWwHsAJtAA2ALhB8ADrACGPSQBoQASwB2AF2gAnVTOEhKAOgwA1JQGcAFgFcNIdVpmrzy8+r5bDIE32vqQALwGxt4gABQQAKSUAEIgAEpgAPTxlACUuABuxGREpDkg9CCoqETwhsxGJRXFNeWQuADmBXm5uYhExcW4AO4FRWAA7MhF8Lha4MOFyEMztNTM8EsVvZNz1OSM4PPdfZvrUFNgO2N9kEc7iPBkxwu4lPCDNNfb1IiUnbfE3gDS4xRbL77AwkMiVJblMYTYGUUEA5CtLoPCErB5PGFwqioWG5BIAUQAYrgZMQqBQHsQiljCuAqrVFhDltVmSgUad4SDcixObtiNycXyGPBOuyiNzyMLSRtJWN4oLiEt5VwFl0yjUjBhIfTag0+sqOWKGFtReKtoaFSV-kQqRTIHlySVWUzcP47Z1qecGBTmNqtWAmSAhAAzGTWYTqVaeiiSqNfdlR4FRxGi3L5YHJ1bp-JJ-JjABGFBInQ+qHenX1Y0IZWxkGQkEllCuXW5HC4EDC-CEwgy5BuIAJjpmGAAytZJJJhABPAA65hMuCAA" TargetMode="External"/><Relationship Id="rId4" Type="http://schemas.openxmlformats.org/officeDocument/2006/relationships/image" Target="../media/image1.png"/><Relationship Id="rId5"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CsCmC0AMA2c8qsmqcxgFAA8QAWADhAGYAmYks85VMZSAOnlQDUQAnaAM2i8AdgGNoAGhAATAJYA3GVMEoA1iAD0xeCpYgAMgEMpS7iDKEwagLxmVuOSERFiTR87CUyqVEXhso-n7egSyQuADmbi7ITsRUIN64AO5RHmRMjJ4JuKYZ4Fl5lJAMKOxBOeCIqEXIeUSuPmXlKbH1tVXR2ZTwAOyV1cXgPcg1xCAcAPYADtBCBFEAnMhLpQmVINOz9hSQ1G071Glrjf6swecJoREHneS7cdSJKXeHWUSk+V4V7+lvH6OMJpsb7-QY-TqNMrA573fbg-bwZLEUHMd4gAEVSBo0ZY5wIsxQxEpeGuXEQ3DdPpknHY3xjDgAGwmRnmLxAK126XYa1cDKMJhAAAoSCoAJQgAwAFxAkoAFtAZQYptsnD5XKrPsctKcQhc-GFIhr9kb4k83JkyD16JrEaYrbUsvb0YNAYSKk7Rk78b43S06fsvQ15hqViR4FzvOs+BMGUykoJJHLZiA+cZBLgDATqj1qCRYpQc+zwGcQLAwCWwE12LrLq7fSAPYMwwMGEjm+jaA2SM5PF8Uj1ux3LYPyNaiV3nKPkLRUFPsikZxRrYuC482-nCyvC+Ot9QFh50duKvvqKv2Qf8c3ypET51b0RTV1eufT4Xb6NnBwAEYAVz4uCAA" TargetMode="External"/><Relationship Id="rId3" Type="http://schemas.openxmlformats.org/officeDocument/2006/relationships/hyperlink" Target="https://www.falstad.com/circuit/circuitjs.html?ctz=CQAgjCCsCmC0AMA2c8qsmqcxgFAA8QAWADhAGYAmKRVc5VMZSgOgwDUQAnaAM2h4A7AMbQANCEEB7QbACWggG4CALgoDmIAIYBbAA4AbObzkCQAcRABecCACklAELhKAawD0leK+vgWiXEUQRCJiJmDQyiJUGOJ4FlRWDHiYhJB4yFxNELDkHKIqdPTcLwB2CJAo1BzKKOIQdkpMrXAATmom5kgu5FbwSDTYMAHGeDHxtJT0tLBxsYTcAHcKqraO6OLlsHbK0uowUuY9zfBD3f2z8npirlPkK+QD5ALqRLmFzSfiQq+iUiL4Lhbl8HpUSGRQYwvPNActKOCKNd4WROidUeiEajYWCUd0KJAOnjseQCZU8ST9vCThSXGQ-mQwFTAWV8ZSIaScNRQuwAEoAUQAYkQgcR-oy6WKzqMYSV4OV6XdiDlfiAACqlEUK37-WqhaUpWXynV1Ig1E1qgK3BW60Uo476hYs63HU2RF1qzJWnUu-5UWKzGVO31eJWhP31VXCr0QkMK+hkB3MuW2iiIOk5eMR8ia31plNEcKJw358Ku3IRyg5uml-5lotB9OhMvNtV4aOhlOQRlFAMGzQKrtc-4EhPFQiDiokQp5xjIAxaAAmC7MZEIYFcAC4QCotHoAM5q8osFitkDQZRcACe0w4uCAA" TargetMode="External"/><Relationship Id="rId4" Type="http://schemas.openxmlformats.org/officeDocument/2006/relationships/image" Target="../media/image1.png"/><Relationship Id="rId5"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CsCmC0AMA2c8qsmqcxgFAA8QAWADhACYjiBOZcs1MZAGWgDMAXALhAGdoAdrwD2AJxAATAJYA3KROjiAhgIkgANkokLxbUcIC2IAGoAlAKIAxEAApRSjlMPQOoqQGMAlADoCxMqQgiJRQ5CCMyKZSAOYAFtx8giLi0nI6IHqGIEoZUvjQakTe8KjGADQaWumZRmZW3iAAwrEq0dAmFpa4Mv7EgYE4YaioRPDFxONjw5PekLjRvUT9AYhUw7jk8ADsvYO9tMQdVt0oW2FLZGDbYQDM8GvhxFMT06-hs-On5wPXxKuP8A22y+IDuVCuZwoJACJiIQJ2YC2yD2iOQByodS64lR4DAYRxmwYKBKxVw2KRFHglwpNxuyFQ5C2JMBCxxtORNMgQ3C8PAFMJ4EQDKph2MAEkAHJ4TY7eiXPFQsjoo5YxW4sJy8DUblXZlktVgbVqxk6kpTfWak1qm5cx6683iTU2jXQ4g3U16haaojutUXAG4HJEJiUgIkYVkMiQGaMM1mmPvWNx0kAdwNRuDyKNgJlxBD5BCowZhZMkulwNIEZodBFVAAIjdA3m6K7K2qown7fG3s8u+a05bIZmKJCcxWQ2CnqhJxiy7y296Dt6QHXyE3h3Sw9PEJGoJ248zE0e+6nrbaN7axzsNyQqEXQbfRXPc23N9XQTvDnXyzshfKwn+IDKsYcLiIBeyAQKSYOkEIoCoB7KPIynqwWQiEIZePK5pBIqQEaAqzhKa65mcjAKqRQHIBinT6hRex0dmxIwQxYQUVa0GkuIbGQhRzp2t2tGbKCtoUT6Hrmgsom+qJgTrDkt5kAK1AKgKHZvH2zyaeMJ6AmmLEgApWpDLyhkFlQJC+mZT5EbyykaiK2qKbWIDmI28mBJqdntnu6kHlpvnJrpIDcWEpmjiZgSThZtz3NZxHAl5nn0H6Llru5aGfl5b5qcefkJr2B6nrxtqGXxV4GZFj7RQ+d6ljZuZZZlyVvlQ5h4DcikgJYwyglAKq4B1KBdT1kAlFOqAAMpJGIAA6vCmHN6jsBwA1oTcw2PKNIxmiAU1CLN81zW4cQrUAA" TargetMode="External"/><Relationship Id="rId3" Type="http://schemas.openxmlformats.org/officeDocument/2006/relationships/image" Target="../media/image1.png"/><Relationship Id="rId4"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hyperlink" Target="https://www.falstad.com/circuit/circuitjs.html?ctz=CQAgjCCsCmC0AMA2c8qsmqcxgFAA8QAWADmLMhKKgCYRUxkB1AC2gEMAXAZ04HsAdtBAAjAE4BLACYBzaABooIAGoAuEACVCAXhRhUAeRYBbEAAopGgPQaQuiAFIAlIqlj2MkJzYhuAG2loMVwANxBEagBmRDII8DA6VFQieAA6dHT6TLSk1MhcTzjo2KiqenpcAHdw6hw6GhpahIrqhqa6SLK6irEQNvj6xr6U8v14HNxe-sbUfuLR+H10yZBO9tWymYXx5d614dR9+YZxieqimL6h46qrqMujy-hcAAc7g43qLcjy3OeaeAAdneWwBZC21GUAEFcADgfsIeMPpCAEIEYikPqQZCIQH1RBJcDIEJ8PycYzQThBXwsPiVbgqKR2FRQkCwFRozrhEAAMUJkCRYAFqC0uCAA" TargetMode="External"/><Relationship Id="rId4" Type="http://schemas.openxmlformats.org/officeDocument/2006/relationships/image" Target="../media/image1.png"/><Relationship Id="rId5"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1.png"/><Relationship Id="rId4"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CsCmC0AMA2c8qsmqcxgFAA8QAWADhAGYAmERSoi5VMZAZQBcAnAQwEsA7EAHMuAV0HQAzhUioA8gAsAtgBoQEzrwFh4OkCMUB6FSADWIALwhKALhAATAEoWQ8AHQB2EAuMSRABz8AGwBPKBAANQJwMGoSVEo6EBJ6JmQARxEuDjZoDhAAIw4eO3FcADdiMnJEMlJo6lRUIjd0V0a2lw63SFxBSoZaquSXF1wAd36cakp4MinRiZm5mIH60byltc26RukW3A3Zq2arI+qyVHIZDwPV+fPj3av9vIed1YfL6-hx-rezmoLU5VQEPT64PzAx6rd7kEbtH4zTzbE5gACc0xO9AAgmlcEiYSdyMN3vQAEJ4whENHIOJQYbDVIgeRcQIAMwKRRK0HKxCoqyI-Pmu2aHUgXQl7R6fUF1AesoojKBCvmkAxax+EzV1Hm7kgOpWPzy2rWJvel2prnItzNJxNnz2NzyeoN1Bd0K+LxA7ve7odzzavwVD3tgM1UHVDz9YYhEcxqB9RPhnUR8E8tvQ7mQpJA2Pk+LT3v10KzZBzZPzhBIdLpNLISuYIDZIkCgU5xVKFRIjYe3eQwpGotaCJTnWlSR7gL7ipSQOn8zRWY1v0X-ZWOGqy7yq7WO-NFEt1u3S-eO-913ctw3a4Nm-3AcveWv0Of-sPv2nDzPMYm3+Wm-BSE91RMA7yTXZ9gJYDUBpeIsVzNkC08Z93hwYty0QoA" TargetMode="External"/><Relationship Id="rId3" Type="http://schemas.openxmlformats.org/officeDocument/2006/relationships/image" Target="../media/image1.png"/><Relationship Id="rId4"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1.png"/><Relationship Id="rId4"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1.png"/><Relationship Id="rId4"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png"/><Relationship Id="rId4"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hyperlink" Target="https://www.falstad.com/circuit/circuitjs.html?ctz=CQAgjCCsCmC0AMA2c8qsmqcxgFAA8QAWADmLMgE4AmKW1MZABQBcx5UAjAJwEsATAObQQAM24B7ALYgWACxFEAdBxAA1EN2ijoWgHYBjaAC4QAJQgBecwGYQ1m0soBrADTmi9lKgDycqbgAbiCInjaIZKHgYPQgqETwKsRJiaipcUqQuIIhYRG5IDYknmm4AO4FOLTU1J5VceUgNXUxhcXR9LjcTbUdPZ61aYWUHCpd-U0JE+FkDKPw40UttEuTQzYjqYvtg215s95jFVEz0-kLFc2F+aunCwAOE7urz3FvW9TwAOxPU59ku08agAzrhPj8XlMEqhAepuARiKQJiQbNVqAdGG8AMKmdi+fzuSCoHHRShKagYPxSdx4kAksBFTIgKm4IohEAAMSGtIZJCZAGVoHpgRJuAAdYFmCUACkSSjxEqxAEpcEA" TargetMode="External"/><Relationship Id="rId4" Type="http://schemas.openxmlformats.org/officeDocument/2006/relationships/hyperlink" Target="https://www.falstad.com/circuit/circuitjs.html?ctz=CQAgjCCsCmC0AMA2c8qsmqcxgFAA8QAWADmLMgE4AmKW1MZABQBcx4OQAjAJwEsAJgHNoALiggAagBoQAJQgBeeQGYQyogDoA7AGtZcouvC6A3CADO0AHYWA9jxSdNm8CpIYA8gAsAtrgA3EEQjFUQyEPAwehBUInhNdETY5ITUBMhcIWDQ8JyQdyN03AB3fJxaamojCtjSkCqa6IKSJvpcR0aoyuqG+NjibQ5Ejobe6tQusLIGDjTRwu6WowmBoiH5x0XVxemB9mH4esi9qbyjsrOyXfPcAAcxlf7t54H0kep4bUe+yfgyVZGSQWXCfb4vOKcQFSHi4dzBEAAMXSTgY7gwAGUbPYeAAdCxyfEACgSmgO+IAwgBKXBAA" TargetMode="External"/><Relationship Id="rId5" Type="http://schemas.openxmlformats.org/officeDocument/2006/relationships/image" Target="../media/image1.png"/><Relationship Id="rId6"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hyperlink" Target="https://www.falstad.com/circuit/circuitjs.html?ctz=CQAgjCCsCmC0AMA2c8qsmqcxgFAA8QAWADmLIHYSioAmEVMZAOQHsA7WAS3YDdoATgBceAcxABDALYAHADZcAZl0EgA4iAC84EAFJaAIRSJEAawD0YeKa0oKAOmQShIAGoBnEBzkBPAFwgXC7S8koqnkIAFtAgAMasUlIcIEkAJtC4vCCINADMiGQ54GD0qKhE8PblVQw1lWX2kLjiRfmFedQMDLgA7tk0OPS0tAMl3X3Do-S5nYPdAiCTxUMjixVduQCc8PW4C0sjqEttXVa7CzNTIJdrZdfb59edh095Bac7Vb391+-H7-Bvv8yDcToCZItVi8btCug1AbR4BRITQXoiyC8aB5cIjkTD1hUjgS3AJcBIoBRkC8ckTUJtwJAarAwIzGDt2fVavCUByvriKVTVpBEEdVlj3N9IJTFsKoCKZchAX1hUdZSrrvAaICFurcpq5eUdh92V9xOrCQbiEw4XtLXqaIgKNN9WyTCaldknRqHV6Xh6abdPUN1v7fesKPq-TikSAI6jw4jA1jWABXIQEYikTNkEibZBESClcDIVgyWAhEDuFMyeQ+BluAKuVMubRWewUDCuSQuVAAYUC7HcQmgElSXkUXVcuBm2RAADE7mdwDNGiAAMrQQesAQAHXcACU9wAKSr2M573sASlwQA" TargetMode="External"/><Relationship Id="rId4" Type="http://schemas.openxmlformats.org/officeDocument/2006/relationships/hyperlink" Target="https://www.falstad.com/circuit/circuitjs.html?ctz=CQAgjCCsCmC0AMA2c8qsmqcxgFAA8QAWADhAGYAmEAdgE5rzlUxkAhAJwEsATAc2gAaEFwB2AZwAuHAK4BbaKMkBDSVwD2okMrkAHADZcAZl2gcQAcQgBeFPADWAejAOQtl8L7KxIKcoGW1O4gAKSUbCB0NAB0iE4u9m4o0TSIuABuxGRMZKTgYNSoqETw0cVlIKVFFaWQuHxZFIi52SRElZW4AO6NONSU8GR9nT0DQwVN44W45mP5-YMglCUd5HTwVTNLi8uoczkdLpvmB8MHu6vrx5NLKwcHLBtl3Y3niw8v+803H7rbZBdzncOtV4LgBjR-rcWAxocQQAA1cTg+CQoGochtOHtBEcXDKKATMCpKAk4nIIaQCqwMBUx4bBk1Jn0xlgiGE6hgWFEOjILnUHF4nqQImIYq88BikbECWscV8yhkME9HkKsiQWEFJUvDWcxVQTUk5UGzkkyBko34jkUeDtc3Ici2kCU6m0ipHBlVSrMuyslGQkWMAYyh3BnHI4UTRW5CXR6WqpYkGPISiQZgvBOp5C6pZp6U5rMmm3tY05x12knl-OG5BioaW8x18AkmhO8mHT3PYWwqtNqtgxvvJ2t9r932bAk0JhwkgbGfgOkgGmLj2s72g8ebHoj+a0NuW7f75A7yjLaUns9TlNngd79rDEhUXcsp7Gx+cibvuFvucXL8XN8nz-RB2gA-1nRAmdINPdocR4YwjBeHcqxPPNjVQ49p0LW9kOHJ0SiKTdngaHcCLvYhWBBK0ohTPMXBWQs6AXV0V09V91w41dNnZGi4V5PYVjghCXl4ygaGofilnE6VJLEiSpSoIotkkxTIilIhKJfYi1OKSjJKIJ8lPMFTgxcaTVNQGjXxeMyg0eaTsJs209jo1F+jQpyHLo+jc3TdkcCdQs+hc5AcXUGRJAIYg8iISCcAmWKlUlEAACMZCMIwzHEAAuEBRHUEB9HUZQeBATQQEkAALaBUu4fhoAAbhAeCMrMRQAGMap0AxjFMDhco4aAACtoHayRxAq6rvQgBEQHa9Q5Dkcqlp4aBcExEBkAAMUIo5wExaIMAAZUUcR1A4AAdcQACUroAClKaIjiugBhABKXAgA" TargetMode="External"/><Relationship Id="rId5" Type="http://schemas.openxmlformats.org/officeDocument/2006/relationships/image" Target="../media/image1.png"/><Relationship Id="rId6"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hyperlink" Target="https://www.falstad.com/circuit/circuitjs.html?ctz=CQAgjCBMCmC0AMBWEA2eJHuZjcxgCgAPEAFgA4QBmSEAdjFqpRHTBeQFsA1AGg3QAJAF4gAlgDsQAZ2gAnMdGkgA7mIAuACxBboM6BOkB7OSAAURgG7zN0AIYATEABs7nAA7SAlAC5x68WU7EAcxADMw+QN1MTtnGTEAcwk4gksySmZKCnBGVnzSeAA6dFIS1nLi9GLEAkSM6hRszPJSfPgCFQb8Wkh4Sh7WTqh+3KYmsaHTPoG8mahC-KoATngqgmnRyEX5qng2tjWStJHMid39-IhMSpKkCurb2tMsydft6upV9ZfzxdfXod1l0cu9RoDhrsJgCJh13KcFuh3v92g8CH06AiPuBlr1Fm1uNJ0fBMcika1EWQQNw5ARgog8mA6BxmeBWQNEOVYGBOUC1kdHoLwPyBcTMQzaGBcWRliwpbQCbSuhLwGgZXK1R0QbLVaUdYxKFr1eBIJRENKDUNlRbTRgLayjebJazEKymSwOvS8ns2q6WD6QByuTzymARQKHpGwyLjhiMN6+saaKVqUTlXNyNkdabDcNSNnM8bIIgPXnsyW7b0K47pcWONKAzWmJc-dRLk22Sw0AMHRtUKN3fRLoO+cDK222t2J1N+5lLnRLo3hfzjsE6MxKeQ1pvwLyQNy99GY0KqsuV0aF21BpfO1ah1fWTfINs70+X+uWM+Dn2b4NyDRJlHMd-0lPIQMpI0t3QbFwOxSCAJglA2jgsVAyQzd0K-KluFCCJhhvAMn2rfDLjregNzIjpTAI+dLkKT4j1Feob3o+8yHYdo6RAZZWTIsMdgrZZd2DQ9w1PcTQ3DWMSW43jFllaD8WpXCwmGHjPzoWgFKgTS720yBdO05MZyMxNtNIDjR2OepzI48yAOqPtTMOXTjPQdTRS6MNXMTbyq1LLz9mgis-KgYjAt0vj+LC0s43wUiQsYYKWAJIwAFd1AIIwoCoahaFKeBlkNEoIGKUrwCyjB-XyshCoGCoIEaggqEoFgADEGO3MAWqKZAAGUDGMOQAB1pAAJVGsxiiKaNRoAYS8AggA" TargetMode="External"/><Relationship Id="rId4" Type="http://schemas.openxmlformats.org/officeDocument/2006/relationships/image" Target="../media/image1.png"/><Relationship Id="rId5"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hyperlink" Target="https://www.falstad.com/circuit/circuitjs.html?ctz=CQAgjCCsCmC0AMA2c8qsmqcxgFAA8QAWADhAGYAmYk1c5VMZABQBcx54AaEAG2gCGAEwDOIeADoMAeQAWAWxCCAxrIkgAMtABmrAFwhKsAO4BLAE7Qe50wHNZ+iiYvRcANxrEqnnNVSoiSQCJfxDxMMlIXFtPIm9SYgT-XGMfMGpKeDJfcRTDLPB0ikRsovhcc3zSjILMsjoATk4Qiqq2usMAdj9wqMqOym62+nqUINaOkba4nsjWqZypjsbm8sqlgqmZ8TGW1ITtju3y1KPvLe9ygAd2zZLhndDyzM7b7IaasiIQAEFKXBexTIkxI3yOIAAQv8AEbgRCoSiBQwkL6cXKEHKkBGQZCkb6MZAiaAAOxEAHtKgJiUJDHxBKJ3FBKF9vJBmYVZsQgsQIrzQlEYmyWdQhYlRicmdUQCUpRKZRyQKDZa15Tl5csKE1xpV1QV1UN+SqUV1qPKpoxVq0lQrrRryFqWpVbQVreR4PjdmtFQk3d9XfdDakzfdOvdzXlQ2Qpv76q1I0CQPHjr08qLtknLrgbrqyM6o49ws94K8c9KhuCfuQAcXvcCXYgwQVvhCq4RIB8aKgSDiaB6mHThBQQMoBOYbNAxKxZNAQCIAK5XK68ACew7nY5JrFw5DIrwAYv4xuAd1IQABlEnk8wAHREACVb0YzJZt8DvgedhxGCeMBfSRTbwfERyGcF8gA" TargetMode="External"/><Relationship Id="rId4" Type="http://schemas.openxmlformats.org/officeDocument/2006/relationships/image" Target="../media/image1.png"/><Relationship Id="rId5"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1.png"/><Relationship Id="rId4"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hyperlink" Target="https://www.falstad.com/circuit/circuitjs.html?ctz=CQAgjCCsCmC0AMA2c8qsmqcxgFACUQBOZHAJmOQA5VaQAWeAOlTGdpZHa6clwCdK4MBRIgy8KlxTxZ7AUIlSxAZnj1pbOfIDmQtRtUTp8XAHdFk8VaVcFth1YObtLXHtvPPx2rgkB2aykHMg0wIgoNADUAfQATAEt+aABjABdcAA8QRA16YMYoClZkfAAZEETk9IAbAE8QAEM0kDSAC2hWxoAHAhAVRClyfsGQGhMGbjZOblneBQGhkRHgq1ZteUFFoJX+9RdXUz1t5xOfOwDdz0gKcMiQWLSe8yurejBkW1NGhnGyUKg9A0-0M4EgnFgYHB6w2MzhMLkbgs70+bz+axe+VQoVQWPE-mKmL+BKg-k+JNMFkgZPxFGpnwBlMBwIB9PEjJebJBORsHMEiF5GgFUmcCN0PJF+2F-XOpku0u5iABtmiMQARgBXABmWugyTiWX6N1+pOQxpKIHKIDV0DaCQAdnEmiAAG4AexqTx0nS1HpqbrMetwQA" TargetMode="External"/><Relationship Id="rId4" Type="http://schemas.openxmlformats.org/officeDocument/2006/relationships/image" Target="../media/image1.png"/><Relationship Id="rId5"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1.png"/><Relationship Id="rId4"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hyperlink" Target="https://www.falstad.com/circuit/circuitjs.html?ctz=CQAgjCCsCmC0AMA2c8qsmqcxgFACUQBOZAJgHZSREAWECq1CMeVgOlXjYy845C6RcAd2JlK4RKgYDcpeOUnSJYKfUjI6ANQCWAO1wBDEAGYTyVahqslxcJH6wwDpqze8B-Dy3ccR9FRo6Mwsg2VEQ8HJkE3g6MGjw0ziomJTSUjp4XAAnZLoM4PSADmKBFDc-AHN8+lLa2KzZPMb6TJAaEypC8vlK7NFO7vah2wGOm0sOrrH-UamaWln5RRkwMNINcDDtfTkFDqWF4qY1bQB7AFcAFwB9PR1cAA96a2o6SFIyxDLTkD1znpYPoAG7QHLXfRVABcIAA4iAALzgEAAUlIACF6PAANYAehYOKRpiMph+HRoZVGQTKZWcjnprncHhZ-B8-VyrysM0ioyZ7HGvJ55L5-nMVKW4o6J1kNSllNQ8pI5UF5mmVEiJmKWU5mu1h2C+ukvnGi0NdDNFN+cxmNINVqSlrtNGVduyKy56raFttIF0Bg9Ls0lKgYCozr9VzuoOent5kref1B4Mhehh8OJsHk+MJmdIuHO9CLVngRDKjDYEEV216imyQA" TargetMode="External"/><Relationship Id="rId4" Type="http://schemas.openxmlformats.org/officeDocument/2006/relationships/image" Target="../media/image1.png"/><Relationship Id="rId5"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hyperlink" Target="https://www.falstad.com/circuit/circuitjs.html?ctz=CQAgjCCsCmC0AMA2c8qsmqcxgFACVxFUwAWU8AJgA5xyRVVT4A6Ethj1xlyXS+AHYiJemGJVaFAGp4ATiLoUAzJEpKGKeNrYFFA2mBogDmptxNcrPPgOHjUph+ACc6mZVwLnp1etOO2jrwej6C6ka0lOFmIMwcCLycPDb8QvoxPpDIMspeGep+JjEkQdy4AO4gRS7IRWQUIVX19EUBldVqJvC0bSUdbT1x2t20IQCGw46UFKSIFJQzIIaQCWCrpWUW2xxgW7pVzI7MUybUY7gA5qc0UiPK8I0M+TU5tSDvm8EdpO-vv8hFo0fvMTEsAWDgYd3kCoBJYSE7HDphRIIJAeCQNIAPYAVwALmlhH1CspAec4liAPoAZ1xAFsqQA7bEAE2guAAHh8cnd0OoSMgcQSQABeECwfAAMxAAApZAB6fAQACklAAQljKEr1GrNdJlErlABKLkmbLLVDKATLJ7iEDSsUoADWZthkTOhmtmntyqde1d3Pdbk9rmQgod6nFAkDkPN5KiEgj+GU-vgrqAA" TargetMode="External"/><Relationship Id="rId4" Type="http://schemas.openxmlformats.org/officeDocument/2006/relationships/image" Target="../media/image1.png"/><Relationship Id="rId5"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hyperlink" Target="https://www.falstad.com/circuit/circuitjs.html?ctz=CQAgjCCsCmC0AMA2c8qsmqcxgFACUQBOZMAFjJEUvMtVTPgDpUAmJyeDZ+lkZyLlbwA7MVIVx4VgA4QlAGp5CJEKxGsqldZvryeajvz4GBQ0VJ2XIyRa1wAPEAGZN1NYypzUYZEpAAvIacGAoANCAKmkHsnKgKji6aMnLO8JREuuDIACYAlgBmBdAATtAAdgDG0FAgALbhIJUA9nV1zeX1zTk1sZG4AIb6PiK27mCjIHJgkHywM3xg8MsrJms+K8ssuCVqGtmozojTiHpLq-C4AO4uxwfD95c3RyeHdzi6O7fTYJpkqh9+ChNtsbv9SL95ADJk95ONJuDwDDrlDSJNILIkchLrsrGBMt9wASNhcUS8iX9lhT+F9yfjNOSrCTSQBzQlWRkpIGXYRiPGnNQ2e52cx8-b0wWkAmKPC8qCYibISCSRXySLNACuABcAPp1AZayoAC2gOUSaUo7gxqDuPmQ+sNJpyAC4QPhWAB6fAQIL4Mhe5yBFCDB5kVxwyhh5LgWaoeax4Eg3jJxNbHF7P6+QlkLPMnhku452xUos056FrPk8npquF1TV1P5sH1uu2cOwsjuKOo+TtlGI7sYuTd9NWCipQtkbyp0HZqeh+c1ycTuRDoFLc75tnktc7yT0UUZ+RZ1hC0siuVj+en2zzmWHteDyTdxSa3V1PIAZwdxvN6SSDDuK4dDZG6lBBBuADWIAABQQAApCARp5CyRoAJS4EAA" TargetMode="External"/><Relationship Id="rId4" Type="http://schemas.openxmlformats.org/officeDocument/2006/relationships/image" Target="../media/image1.png"/><Relationship Id="rId5"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1.png"/><Relationship Id="rId4"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hyperlink" Target="https://www.falstad.com/circuit/circuitjs.html?ctz=CQAgjCCsCmC0AMA2c8qsmqcxgFACUQBOZEkRAFmOVVQvgDpan4JHnnJcAmeAdmqCyADjogAagEsAdrgAeIAMzclK7mGSKa4ZFOkgAvOBABbcQBoQIAIKGU8B-Hkhuw4eDAqK9D9o0gAcTswR0sAe2loEABnABcAQwBzaFx4pXgqMD5NRHcs0nBIJhBYMCLUEMcHYvYQWsrHJlwAdxcfDVRFDJ1aFvTMojU+FTBBur7uYfAxybUfJwAnFynuH1n+uvt2XETllS6qdeVacaX11boHNpOiW8anVvpUC5An8Gzx1q08j7f8z9eV3+FGU7xoPH41x6LlW0KoeghAhBI1+FB+yHhYQArrEAPoNZyudxE15rMYVZBBIwNYKoBSVVIbRSQfa5JQs4iFYqlcpbe51GrFBrVB5QxRaJkS0UHJRso5s0Xy4lTCj+RZ7V7+dZok4NJq7bWiDUUMi9M4q-xvVXaIj3PpWy1XZkqaVs52Azoc0Vvd3I9kuxFiiXcWHijESGSBv2+tH+14SbF4kJySr4+2g32UOPerOZqhhgEUXMSyCITpSxmIUMc3Lud1ELmoHlCqoigUcPnbVql8vIKv5iutfuy9yQMbfAFj1mjsbW05QWf+KevI0VO27Zc6hdeU3zzf+YZ0NXEW0ivqHzXIC-u0W1uPXr3n3j3jk3wN8V8c7J1jmYnH4+AUwcQk3FeLNvHcIt3ApQJaVCEAIiiOIkhSNIZRZOs2Qwzkym5XC11bQUO2FLsoUgTwNnIgMvm6SBvA1OiqEVKZGIY8lcHNFRl3WRBS02PUnANKZeOQHipjNNivCuZdUFuO4z0eaTZ2k1wAQnbC3mw70VMg0EtMDF4qJhKgjPhSNeCRPTVIgqBrITf9hRA9xKDoPjKCYnRYOpKo4JAelgLQ7o+G6CdgqoBt8JKSKSNqWKWyqJpWheO8ZTvaUgufdYL2YlQLyyhUOI1b8NWEUECO2ISVFKoYqtjCT8sgq5itk09SLeYr2u6V13DCj0QF67TUF6v0BoMnw7xDKg7zM2QLNeUFhtjYb7KTBwgPgNNHgW7oiyoUbHizYaszS+1jtAntyFApw0mHXq716iLeWbcr+Til7SIuu9hxOodYQvZdsr6AHnwBgqllBmcqrKrZ9W3EBqrh4Q6r3MZiovZqTztVp0bZdGur6e6MqG-HsefXqP1y-G5op-qgtxnaVoAwCGSAA" TargetMode="External"/><Relationship Id="rId4" Type="http://schemas.openxmlformats.org/officeDocument/2006/relationships/image" Target="../media/image1.png"/><Relationship Id="rId5"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OCmC0AMCs5YnsxqUzGAUAJRAE4A2EAJlgA4RiAWcqkZCMWWAOmTM6Z4+Q7wcAdyKkK1MMS6NYOCgHZw0hpJVhCZEPQBqASwB2OAIYgAzGdJTktNsuSEUfHqzZvnAl27ad5sJWQKWmC09GTwVqHaIPpGooHBURaR9HKiyeAKpBkSTCLmlqraZlq5acWljLQl9nmitswq1cEq5c21tHS1coraXdbalI02MQD2AK4ALgD6AGajADYLo8KQAE44AB7ktjT0ocjE1I0g80sr6wA0IADO4wAO9wsAnkwg7OwoMSYFpKHUDW0tGojngHiQ3n4vE8zEhvl6YCy5iOtUsAJihhwa0y2RRCWRxwhPjkBERfyG4CiwIEb1sPG4iChTPYQgRSOpOO0JGiOjWkFmWM5HPxHNh7nK+LR5CCFTq0q07RFFIlMvaGXa5XVXRKNi6moofXoOpQZGOguN8FN5gN0kJrmJOAA5tbDoxjcQyKk8tiLVb2pa7d5fPUagHZf85YCI+0I20atGurG-EpOvtgYMbOndBMZjcABZ6WaTSAAEy2nLMsDT1ErdtIC0gADdIAtbgWi+sAFxjKYgAC8GIMIAApGQAEIxPkC0bkaI2WCEaiM9gQLjgVc4GcK2kLpe8Fizyt5IA" TargetMode="External"/><Relationship Id="rId3" Type="http://schemas.openxmlformats.org/officeDocument/2006/relationships/image" Target="../media/image1.png"/><Relationship Id="rId4"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hyperlink" Target="https://www.falstad.com/circuit/circuitjs.html?ctz=CQAgjCCsCmC0AMA2c8qsmqcxgFAHMQBOZMRVE8AdmVXlwHdjSAWF58ckegNw7DYdKdEC3gA6OpPgQJUqZEZDklABx0la1ACZ4qkOu5Ld+wyfCD6ADxABmbXYfbIyW7U4gAFAEMAlCAA1AHsAZxAAXnAQAFsAgBoQAEsAOwAHAFcAFxBvbNQA3G8QbSoHMlRbN04KcEhJEFgwOtQweDb2+rluetb2uWM9C3YSsstjUupkbTFJoyZplppime1powAnZZ01heLVfRaO+kJd7X2tu3h2DU3Ttbd9VeuUPsklB+L7xH1yubsq34fX70JhArhiFpcei6KiiNrVURkBHsYJZAD6QQAZpiQtBMrgbPZ-lNKLYZpCvAAjfwASQAQhEXiBkgBBECZAAW6yC6XwHJAACUwpFegBrXCbMBnURE8wsImHV7HcDStg-VWIZ4glX6eVlVUsA64RIIyDS36QJYtODwWG9frzQZ64pO4QDXWUX4sN1ML2erhmo2EC1LC1EBwaGEuj1TNbe5AotGpAA26RCaMphWKEzVxNEhuItXqjWaLyV3XkZbab0dutlOYV4wcLE1Fxb12MM3bF0gUo2Pb7u0t7ntbxOM2HPfD3H7Q77H17EarDrs3yg87Xue1lQTBY+W-em4LEPzRqjJ9zLCRl8CPMyGcS3hCuCAA" TargetMode="External"/><Relationship Id="rId4" Type="http://schemas.openxmlformats.org/officeDocument/2006/relationships/image" Target="../media/image1.png"/><Relationship Id="rId5" Type="http://schemas.openxmlformats.org/officeDocument/2006/relationships/notesSlide" Target="../notesSlides/notesSlide7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1.png"/><Relationship Id="rId4" Type="http://schemas.openxmlformats.org/officeDocument/2006/relationships/notesSlide" Target="../notesSlides/notesSlide7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CsCmC0AMA2c8qsmqcxgFAHcREAWcMAJnHIA4zL4CradKwBOVikBgJSbv7VUwkMXgA6VMUncZE4eMi4ATkVIs1IcuVKoAzG3jyVm7aRIg9e5KjB7qik+06sOWnd0uHjq5+-VuVjYoxoQWQfwRDIQUtBF+UbgA5pHWkZD03Ljk8ADsph7EtDpSIABqAEIA+gAOADYArgDO2XngbmZa8MViouXVALYAlgB2zbgAHuDIYlJGovC60yA8EAC8K3ogG3ribADWADQrpBtgRscACgAu57bz4uLg9oogAPIAFgO4AIaWOeBcsh7OogSA2OBIDJYGAofcjAi5Ej4YjolpIMgwIh9ACscJGHpcYEAZ00YTUJ1iFj-FlCFTkJTqWAwWTqKCZkyWYx6YCZkVeVkcvlyBjphTeni+pUqsMxi0-uTLIg4mylbQIbDoZqUajZAodaF0cCMv99CayQCQabRNSLVJqTyeWjHQ7qdZaKzSO6bcDlbSfWrRPzvQwhUbLCaShHKKRpfVxnT+cy+T18Ym4n7iPzyLl6L8oGCRcgSBTRcw4SAYRW7gj5Hr6zWjJITFnU1As1pejrm4RIB2o5BC13GH3SAOO34GKpR+1KIhc7PPI3DfPXHOF0X-SXw6vw2jd5vcos9y3swuZznMo2e+2x+fCwup7etOeO3pzSFUcln+-KDOQ4KbRHmOorAZ2pRlFUAAmQwAGawYwYGHn6m4MH81CEi+lDUGwDILhqFZVjIy51qRxG1oaQLFGWmGoYwGGUDQtBCBS1AevR8xMSALGWGkT48REPGzEutbNikQnzEJtpZKoAlpGx+h8eCNbNrJQi8cgHBxEpiDYoaWkaeCNBYf6OF4ZQBmXv6ln4diJmhm0uEUvhD4xuUAD2DTXJM4bBlwH7UgARg08HQMoLRTEUUi0CQtABcgMGhco0AjAAxtAIA-AMNQgAA4tsKA+VRojMN0cVXsgSQ-KMIBNNcPxJBl+VnCAACk5AVCAAAUbBgPsbUdSs1zKEMAwAJQAPTnPsuD2H0ABiIh3M8DgYAAyilTTucoAA6TQ8HtXU3Hchx7RI4h3HtADCY2zeVICLZ4Op5dVIx7cNo17TwH3fEAA" TargetMode="External"/><Relationship Id="rId3" Type="http://schemas.openxmlformats.org/officeDocument/2006/relationships/image" Target="../media/image1.png"/><Relationship Id="rId4" Type="http://schemas.openxmlformats.org/officeDocument/2006/relationships/notesSlide" Target="../notesSlides/notesSlide7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1.png"/><Relationship Id="rId4" Type="http://schemas.openxmlformats.org/officeDocument/2006/relationships/notesSlide" Target="../notesSlides/notesSlide8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BMCmC0AMA2c8QFZVvZuYwCgAPEAFgA4QBmSUs1S5VMZAJRAF5wA6RAawBoQAYQ4pUAOwBiggGYBjUQE5FWABIAvQQEtxABwCuAF3AgAaiACGAW10AbLYf0ATaPjZhIFDxUXJvIJjEuJmCA0PhwrjR8SHgAdnBPRK8kvBoSMx0AfTB4eA18ACdkksg0PySmRDzg-AUyiooGqEgMpjh4sPh8AHMocpaM5tbUUfwAd37GqjQaf27YhMpZkoYUigzTAHsjHLyC4hI88GpaJgYA8GQZUVzUAvckzx9kZ8uIO4iQ0cif6MXSmR1lA4ulMuIcrwCsV-G9hkD3tUvnUplAEc1KGQ2uAOglkX0MVjUUdRgEJqi3ssaG8Fp0qWiKGsGaQzDtDJCDqRjpBFOlQVBfIiQDdOBAoeo3CUSOQQILpRRAp8vtwfqqwv9Ov55VLTptsrlxUUpTLmtqqjVuvUBtrmmhpe9cV1eqi7UMBuVSd1JqaZfSzTE6SttUztZs2XtDYdjiQg3RSAMqsLbqhDVsoCBENijoovGEIKgaHj8GnciAFVycyYIh902AsN0S7nUNmm1wINSoJQyUA" TargetMode="External"/><Relationship Id="rId3" Type="http://schemas.openxmlformats.org/officeDocument/2006/relationships/hyperlink" Target="https://www.falstad.com/circuit/circuitjs.html?ctz=CQAgjCBMCmC0AMA2c8QFZVvZuYwCgAPEAFgA4QBmSUs1S5VMZAJRAF5wA6RAawBoQAYQ4pUAOwBiggGYBjUQE5FWABIAvQQEtxABwCuAF3AgAaiACGAW10AbLYf0ATaPjZhIFDxUXJvIJjEuJmCA0PhwrjR8SHgAdnBPRK8kvBoSMx0AfTB4eA18BX9-SDQ-JKY4eLD4fAAnKDLkxuRISAymRDzg-ABzFqh2gfbUUfwAdwH-SjQaf1rYhJm5pIYUigzTAHsjHLyC4hI88GpaJgYA8GQZUVzUAvckzx9WsgpAu4iQ0cif6MXms9AXF0plxDleAUik83sNYZUEAkvvU4RRSshKGQOldurV+uiqFiBkdRgEJqiqLMoPCYtVltSKGsGaQzDtDBCDqRjpBFOkQVBfJdmCAbpwIJD1G5miRyCBBTL3iZPl9uD81WF-tV-ArpadNtlchLCtLZQSdQjqsiGmbTU00DKhV1kfi7Q6CWVSbVJjbGVTzbSln7ZUydZs2XsjYdjiQ-XRSE1OiLbqgjVsoCBENijoovGEIKgaEj8GnciBFdncxEIBA5lhaiXK1ycyYq+maJBKGSgA" TargetMode="External"/><Relationship Id="rId4" Type="http://schemas.openxmlformats.org/officeDocument/2006/relationships/image" Target="../media/image1.png"/><Relationship Id="rId5" Type="http://schemas.openxmlformats.org/officeDocument/2006/relationships/notesSlide" Target="../notesSlides/notesSlide8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hyperlink" Target="https://www.falstad.com/circuit/circuitjs.html?ctz=CQAgjCBMCmC0AMA2c8QFZVvZuYwCgAlEATmTJEQBZTlUIx4mA6VeZidt1kdtfSPADstURQAcqGgDUAlgDt8AD3CJ6kcSCpVNYAMyReqkAAoAhgEoQAGwD2Ad1gAHMwGdXqgNYgA9ChDyAGIANCAALgAW0PIgAOIgALxQAsLg2uAkhmAaGYYyCvgATmk0YJlQVPTl9Gos8PgAxhVVhpCVUEKG9HDwmlz4AObNHa3tGn28+PbDZYZ6esizk2Yg88iCmpWoG6TgaDywYPv0TKdcvDznjGesU6sLUG2r8DSQT-XTei+PNF+vnZNin8Rs9fg8TqdbkNgWtQas0F1AXDIACqAYQRC6nc0a1Ueidh8tEwoL0tPjSYScSTNtRqZNBCIqLSdjptqSZLYAK5hAD6ZmUqlQenENDQCNW4gmYGQJgARlYFAA3aCFMIKIZ2RwudyhQiGJLXbwuQpmazWaDWcDMZBBFIiFkUJZUCj5RTFB3IYHOugoSGEr0UWHe5b3ZBobJEzAR3THECHWPXG7cZO+v13WEIzQZ9L1aEPNDpDNqIz+77Br20+pAsu0qlMmiYrHTOu19Hhrrpmu-MvSyZNL29uu9+jWnokC6U9FUQdTyvY4ntsmGReT5cR+voCP1BlaWmL1mbvIgaRc3mygWIAHC0pIX6Soy9kwNBXyZWq9UgCKyAYRZxuVyhL2QQgAoICuCqsjQB49iyJEKCeHaIBCGWFCIPewauo0SEocgQgiloFAjogPR9LcxR4TQwbiLWhGpv00zUZREguoR+ArOIFCLmQUaGDGBxHDwiZ+hOIlCfRIAcWGOSSegOaDBJnHpDJaDFmwdyMQRyAadofRFBJtY6KQ5Q6Q+ZziSQxmGRZa4dtM3GHkZNmTHZ5SLowTwroh7mihGjDtPux6njyDT4LY4ASUYlQkLoFycFA4AiPUYUQBMUUxewDCrPckWJfgQA" TargetMode="External"/><Relationship Id="rId4" Type="http://schemas.openxmlformats.org/officeDocument/2006/relationships/image" Target="../media/image1.png"/><Relationship Id="rId5" Type="http://schemas.openxmlformats.org/officeDocument/2006/relationships/notesSlide" Target="../notesSlides/notesSlide8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hyperlink" Target="https://www.falstad.com/circuit/circuitjs.html?ctz=CQAgjOCmC0AMCs5YnsxqUzGAUAJRAE4A2EAJlgA4RiAWcqkZMlWWAOmTE6Z4+Q7wcFAOxFSFaiXCEW9AGoBLAHY4ATuIbUAzLHqSmSNvxwB3ELv2Nt2iY1g4Ahhdvky9Wmzf1qYeD2g-HjBjYz5wrlCTcxsJTxcJeFIHAHME8iT0shEWATMLPS0C+jBiPIBjYvAykFptFlKBKDgxaNr66uQ6ljJ3JnzLTqrpBw1B6W7NSKjOfMmJjsb+809mPsne+gcVjs3a6T2HUX2JPvgwHvWQeQB7AFcAFxwAD1qdOT7XLlICAF4kADWABoQABhED-ELIZQAMRBeAADhDwABZEAAG0UAFtFA8AM4gB4AC0gIAAIuCUo4VC83lVsixdNRviA8eibgjSf9oEplAB6AAUeFBAEpkVDkPI+XicDdwNVDJ5CL5eBBmOBEA4gA" TargetMode="External"/><Relationship Id="rId4" Type="http://schemas.openxmlformats.org/officeDocument/2006/relationships/image" Target="../media/image1.png"/><Relationship Id="rId5" Type="http://schemas.openxmlformats.org/officeDocument/2006/relationships/notesSlide" Target="../notesSlides/notesSlide8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1.png"/><Relationship Id="rId4" Type="http://schemas.openxmlformats.org/officeDocument/2006/relationships/notesSlide" Target="../notesSlides/notesSlide8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1.png"/><Relationship Id="rId4" Type="http://schemas.openxmlformats.org/officeDocument/2006/relationships/notesSlide" Target="../notesSlides/notesSlide8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BMCmC0AMA2c8QFZVvZuYwCgAlEATmTJEQBZTlUIx4mA6e1kedz1TtfSeAHZaIigA5UNAGoBLAHYB9MAGsAEgC8iIsCUiUaOvfRRNu4LhZ7M+A4RUPbByafKXw1m2yIDMaPRJBfPRdFFQ18ACcfPyh4MUCY+kQWeHwAY1j4oMyQKm8jcDghDlZ8AHMcvL0BeKoqeJ58AHcc7MgxLMT+YvbOvW94GmzpMABnABclD0jc+oS9NDr5jhRBFJnFoZjqVGz6IXWWneXEQX6ujOPs46qVsCKG0oqb-P1JOcaWzeXv3o509BLP5OeJ-VCQZgwBCPVItEFQDogeHeRANfAAQ0oZ0CqKRKJx8RI4DQ7FgYBJ+1MKRKVkpplKR2x3jENFOwTAdGaWPZyHhVA5-zhuP5vNxKLRcPx4qRYtxsJlWVxEl2cu6wjqfVyr2GIFkoWmXmVBJAYgF0ukAGUANJTcJeCjJeIBR25XWuRjTKIOuI5F1JdYZGqUH1B1ENQoIYTccq+xFBtY0T6+kOIv1qhHxF0DVk+kYTNye2aZn3fP2rdZRUs+45lxhraNHKioF1s4Noy5NttvSiI+gPGkxmupzsJlbyqvxb7fVIZKdLeHTqCQ-sNhWAmjwxCQRMY7mUbd45BbmhE8mks90+m0mkmK9c1s17Gt+UP7Gb7Hy996TcHz-449rgBn64gBRpAemGpdrcLohAWdrFGBB6mkeB6WjaHrhAAHrkoLYpAryQE4dzIGM4wgAA9hEAAm0ARAAXOYiDKAANCYIByAAYvg2GQZAaDIGI-FQMkxEgBa6IADYSdAciwFa0AAJ4MYQEAALwgIQejqYwzCCCxIAAMJqVAeicaxBlaSg7FceRgTgCsTYkPEECcC5dneG5VBRvgQA" TargetMode="External"/><Relationship Id="rId3" Type="http://schemas.openxmlformats.org/officeDocument/2006/relationships/image" Target="../media/image1.png"/><Relationship Id="rId4" Type="http://schemas.openxmlformats.org/officeDocument/2006/relationships/notesSlide" Target="../notesSlides/notesSlide8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1.png"/><Relationship Id="rId5" Type="http://schemas.openxmlformats.org/officeDocument/2006/relationships/notesSlide" Target="../notesSlides/notesSlide9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AMB0lwTAVhAFkiR7mYwUwLRhgBQASiAJwBs4Y8IVKt96EmsU0i8Kiy8HGOhiJi8SAHZKNIvWrTUIAGoBLAHbEAHqgAcIAMz1EVPfpqsaqtSAC8IekpABnFQHM1AQwA2IAO4qAFwALTm5lABoMdAAJAC8QdQDcACcAMxTcNQBjXBAAChRoChAAW0dtMEloKgBKLV1wCnp9MLB5C3AnAJAAe2SAExSALhByOypoHQBrSIBhW3B0AFcAMUiAIyXU9OSxSQUedB10Q8UrYmSDtHtIPVP0EzhYYiybu+vxU3EocAJIZCExFcbwM30+BjMP0gxA8BkgTCQNDMd2MlHAiA4hAxrDguKEnGEHEqeOevhBp308Ps12hZMpCIkzSp9KgxDpzKpaHQLNpqDgcKYXPsqN5yOFNCFiNZZMlqJQhnFrPEUnl9ClKBQKIlyh6SwCAH0wF16pqDCZUNd9IyfmAaABlbxeTL4ADSuAAniNSBA7KR6HYKGAZiBZj7wCBVnN-agJOg1CsLgpNawmrphJRiYDLm16Mn7Do9Hn0IHcaT84XjqD0EWXuW03XjOnChI-lJAcD4AWMFQTl3EBJzNLGrnKznULbWa8xygJzOJRPWH9zGW5+P5xL2jCq6h5PodIL5MUwNiQFiiXinoSr4sSaLvog6NvEBqh4YsC-V8+mLzPx-Z5u6X3Hd12AodVxQeQNULTdlSTStKzzJhzlgqDQJQRg0J1PV9TtF1iB6cMMOrSAKFMTgIG5dEfgVaEgA" TargetMode="External"/><Relationship Id="rId3" Type="http://schemas.openxmlformats.org/officeDocument/2006/relationships/image" Target="../media/image1.png"/><Relationship Id="rId4" Type="http://schemas.openxmlformats.org/officeDocument/2006/relationships/notesSlide" Target="../notesSlides/notesSlide9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AMB0lxAWSICsyWvQUwLRjAFABKIAnAGwjkJU3VTiazjMzJtTQoEBMkA7GUr0KIBAA4xIAGoBLAHYB9NAAkAXsRABmFD1ra++5BBTMwrC+y68B23fp16JUuUpTqCADzGjn4-nr2xpQkALza5uIA1gA0IEQA9HrhYKaksSAAwiApcCDyAGJxPNnhfMiFBADu4DySPEi1kmD8lJAEAE5N4K0gPCiULW0R4nCwnX0DPZRa4jRDDFpgo2wEAMaTg739lDwNDDy4tqsA5pt9+zt9jezV2nPT9zQNtzVgddfGHzwBUOvdPz0V0BDDAR0Eqw2wN+s2ev2M4M47S60KBU0coJQpDG7TOVwx+PIkleTz6MIeLz+fEE73qjXwQMaNFcykgHgAhmJRucUAhnlNSOBTMg8MLwHAJRwpWZJasarDPlzkJT2jUJMrfurtJAaKqldqaChelodX8akaZqaLec9bz+ZRrVdbdspuRIPUpu1qVR3edyJcpsyAPYAVwALqyPG8PghRLSxFo9MjughE+dU0mRjiJlcM6S88glitxlDA2nc9zlYjTunubnRCSFXmmw27vHY4MPrpif9492eR8EThjiWB5IFf2hyPk1d+1c3cShdia-PffP9o2Hv2W20bDSY3H3j5KMyFMoOfqUEe7agj4LUsxRTLZZYkeLJeN5Q8O-qf3qtf2AFumal7AdaAwkuBYG9FeSZ3DesGoDBR7Og6R4LrecHehhiH+oaR7BuG54aEGjBgMMSCkM0nAQMqkx-KRWhGGIkBUYwMAQBATi7kAA" TargetMode="External"/><Relationship Id="rId3" Type="http://schemas.openxmlformats.org/officeDocument/2006/relationships/image" Target="../media/image1.png"/><Relationship Id="rId4" Type="http://schemas.openxmlformats.org/officeDocument/2006/relationships/notesSlide" Target="../notesSlides/notesSlide9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1.png"/><Relationship Id="rId4" Type="http://schemas.openxmlformats.org/officeDocument/2006/relationships/notesSlide" Target="../notesSlides/notesSlide9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hyperlink" Target="https://www.falstad.com/circuit/circuitjs.html?ctz=CQAgjCAMB0lxZIgKxOStBTAtGMAoADxADYAWEMgDkoGYAmFRpMEkAZQEMBbABwBtMITgDsAJiAAWAe35iANCABmAZxABeFCAASAL0UAXAE6cAxgGsQAdwCW46VZD0k3FfgBKIAJxswXxj7gJEgsUNDoYOFOsGEh4fiOgX6MrCz+UAlBaSnpyRnOAOxZ4LnB4AVsFABqdvhGJTmM9FQ0eSxwMJD4YMheTi0NILTIjVBOneAdUx0x9PGOw6Nk1INdppQrecs0zTQsOJBsnfgA5hs7A9tDkBQh+IXng2TkTyBVMnKZDEjONN9OZDuC2cAKQ-3oBWY90gRXBgOuFHo8IoAGEADIAaQ8QxBEMY-1oNzGjGQsyic3QExgBGIYAqxXoDCCtyCIHc7A04HMRCckOK-1YLNYIBUtgMpkkPOeiOQbGQtDY9DKLDYKO0nIgAFcAGI8wKLShwIaysbCmoiTmMKogACk9AAQuAotaVHYABSMXg2MLoPQgAwASnw0koOLGgK8NEp0AgYMmptoGSAA" TargetMode="External"/><Relationship Id="rId4" Type="http://schemas.openxmlformats.org/officeDocument/2006/relationships/image" Target="../media/image1.png"/><Relationship Id="rId5" Type="http://schemas.openxmlformats.org/officeDocument/2006/relationships/notesSlide" Target="../notesSlides/notesSlide9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1.png"/><Relationship Id="rId4" Type="http://schemas.openxmlformats.org/officeDocument/2006/relationships/notesSlide" Target="../notesSlides/notesSlide9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OCmC0AMCs5YnsxqUzGAUADxADYAWEYgDjPkJQCYRkwaBBAYwEcBXASwGduALtwD2AOxBCAtpABcEgIacQAXhAAKAEoBlEAFJaAIRAaxAShABhABIrwAOlj1JvHBpABOGmHf1P4QsiBZLAOZKEhgeF28DgA7h5ePuBJ3vSwOABOyfSpILTklLmMsCUOOGDw7nkF2SAAzPA5Sci0EUglHZ2htNFx9Y21xBS16axkw7lDlPmUjDCwNBE4AObj0zVT9bCkgTitAOxrgySDIABqABbCADYAJn11rXmwlI8txLvxb3kf9U+0+zSe1gh2+tF+dW2P2QpAsABkANKuP4tQEorY7PIobrRPK4tohXAEMD7LwBPKPfyYpjGHSqMAAa3wZBOtGoKDqNFo5MYNGstggnAAYsyTg16BRXuzeSB5AAzASQLI9faHASKWw9ch1EDOOSxQQXbjiMAAenocK0RjUOoARoIADRkc6mHDCECFBjBdyURCEr05CDpIA" TargetMode="External"/><Relationship Id="rId3" Type="http://schemas.openxmlformats.org/officeDocument/2006/relationships/image" Target="../media/image1.png"/><Relationship Id="rId4" Type="http://schemas.openxmlformats.org/officeDocument/2006/relationships/notesSlide" Target="../notesSlides/notesSlide10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1.png"/><Relationship Id="rId4" Type="http://schemas.openxmlformats.org/officeDocument/2006/relationships/notesSlide" Target="../notesSlides/notesSlide10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AMB0lxZIgKxOStBTAtGMAoADxABYAOEAZgCYUxbKA2KcZgGUwEMBrTgc0wYQAOwCCIABSZC-AQCdOAF0wATAJQAaEACUAyiAC84bloBqAS2GGqIU1oBmAZ2voAEgC982kIxIhq1H6+4ACctEhIJDBIlLBQcdHxyPgA7j5+AX4hzJlQ+Jwg2f6QFGCMSNQlIKXIcbi1SIhwzQmtjc1wsKmsFVVgAOw5VZDdA0Olg-6BeWljU35gYfMz4JOVE8xlEaOTW4Wb5StFe8dLI7NLuVfTI5X9y1dRy36mAEYArvZe6VRkQX4kMosWgNfzQdDUcHxCLQAhpYKUP77X5+W6Qe5FRELego0ggADCbAA0vg7lRKuBqBRKJAFlS8W9Pvg5OTGvSsZSKO1OiMwMgQrj6BQSOROcDEk0Oh04pDkmTAZsRaQgXs-ISSWkRaV6eQ2VzurqxcgcUK8gBjUhkPWWirIZiNHDDLppY20U2unp5cx0N2HD3UO0sZCO0otc42-yB-2BkZ8CMB5iG6j9cJ5eVWsWGvC0F4AfUQwiIrP8ZGFcH8Z1YBNc1kQIgAYqT0Sgle76aaXh8vizkK36eVtVzwGH8HyBQOxYwU2LenFJVKeWC5c3fI0lavPWrid0p276f1aTPuge6RR+kwjxaT2LrwmWGBHfbnSBz5t9xe9iNva-PT+71hsD6Ec0lvQM-xjfA41A5hb2nbYyWvU1EJxPMwHeItewyUsfCBahKyBfEayMCB3kbBDGEHF9kD3YVbC7ZkXwosUyBoGdhx5Ud+WqVjTTIY56VnbkF0XWUm3uMhgjAJUJIWQ4tw1ap+IoMJKPDFSxWya0RgtdTTXU-9oXgaFuk0jTDk-fBvVMk5DgM4NANDDi0n0wNTP-SDCnpO99LgtNm10+ldJQ2x8zgdDiEGCgqQoMhAzw1MCKI9iQFIosaBiC8ompJ5GmYFQ5AAewKgAHeIBVMDClUoC9GGmSgcqrfKitKgUAFsKoipjquYUtsoiKswAoABSEBiswFlHE4VrioAG0wfACv8ZhWMiSAQgodAYAgGIqAFNBwnwIA" TargetMode="External"/><Relationship Id="rId3" Type="http://schemas.openxmlformats.org/officeDocument/2006/relationships/image" Target="../media/image1.png"/><Relationship Id="rId4" Type="http://schemas.openxmlformats.org/officeDocument/2006/relationships/notesSlide" Target="../notesSlides/notesSlide10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hyperlink" Target="https://www.falstad.com/circuit/circuitjs.html?ctz=CQAgjOCmC0AMCs5YnsxqUzGAUADxABYAOEAZgCYULSyA2EZMBgYQAsBDAJwHNIQAlgDsAVpADGAFwEB7IQC4QLHgBMQAXiQgADgDEQ4mQFdtAG0gBnEJLb9xpmeIDWISCr6ChkmUoASOACUQOkIQClhSEPAAdgZkZEJYADpkChTGdOT4pPgcAHdg0PDSAE4GYsYccOiQMrCI8DAqCtCANWFAwqJYZCjCSkYwlHS0xFGM7NwCvp7ahkT4qtgauoXGqjXQlgAZAGklmooKUOZUhtOiEHahHC4w4-A6VOJSC6YerJwweBKwl8fkGR4FQ3vV0mAPpCPiMcvlyOEYgxKKkHrADvCUaFkWFEpcdvsCkCQU9yMQTiS0YSyQCiMwaWjxBj7ljqUdQkwsBBPlSig8yNS3jhGYQ6RcReV-hy4L9PjxaRLSOLyLB2ZVqvKaUqwIRQm02DJTCoAPpgG4ENnkejkWLkXFMVi+DTgEBCXSKaCEEo5EAAW1a+Et5XgSJJFApjyUqnR8B1NOBrxJbQ6dxj5N653DEJ6KS+P2CGd60WJ8TB7yhkJhuWmuLANpCmLVy0KDfrOISSj2cLoRZp0RV9LhfbTIGiVsFjNbFqHzMGYE5E0H-an-fHI7HJNHCtnMCbsrXW83ytVaPVh4uZ9jeoNxqzZpQsbIVunZDtEZYjs0WZdbpAcG9foDOhgzCYC6GIVJM1YKMfDAUhSASWASlIKhki5IYBjRIA" TargetMode="External"/><Relationship Id="rId4" Type="http://schemas.openxmlformats.org/officeDocument/2006/relationships/image" Target="../media/image1.png"/><Relationship Id="rId5" Type="http://schemas.openxmlformats.org/officeDocument/2006/relationships/notesSlide" Target="../notesSlides/notesSlide10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AMB0lxZIgKxOStBTAtGMAoADxABYAOEAZgCZSylKA2KcZgZQHsBXAJwGNMIAO4BLAC4ALEACURIALzhIAawA0IADYcAhgBMQACgCCAEQDCIEQDsADlzEBKJSvUA1awqohX+aSEYkVEz+gZSQgUhIJDAMsFBxMfHI+EIhQcwAnMyUwZD41JAA7CBZ6eBgtDnMge5WvmnkSAEoFSy0yHHU0Ohd6IkwBKnNjSXV9FD5RaN0SHi0I4FmADIA0kTghczj1MhbEawgXFYARlwAZmeYPJi6k8Vgm+AkgWCMs8+k3tb4PBvMYB9qIVaAD9og4DEUiAgSCPmEXh88mBkBkqOEnqFGBRQW1EuCIQTEr07mVXgxgg9qiBlmtUkxsR8SM0cXlUkyEYFdu8Ivg+KRmYzmtRoiwwDhIMxIQBzfmBYVRIW7Fh5X5cjEoN7QkWzQmwfAytXyjVIHaSiYFYpqnHIR44mrcMQAfSOpzO6zAGRBrVN5TNrxkckUiGU6xtzAKFDeFGorVm-zgIeIlOhwK1JsecZArsu11uFr+VCxrAYRZq31+yfpKcqRZ1EL1qRhhYo8ObE20aNCyBrLe7IGxHSQuEHzgJCXHdfrrLblD7lDIXdo0-ni6oC7by-XVeiJYom9XK87EzpW-Rrdby7PV9CuR+pDgbZIpSrk71yNRT+yRbVL+heMJuomt0JLdi266gfeUTUqsUI-kWUYblCCFVgEu4THyyHwZAFDsqK4qSnqMoIbhxHjJEJKYZG2FroENQSBwGi3B2qFUH2hRnn2A5xMOcT4lO8SRLxgFQuxq7AgwfbTuJrG0NJL4iQUbaFME8mpHJbGKReCkMOiLFaUMIqtnpt5qSpRb0GhKr9g+VYWbKorCTKdm4c5ZHmlMdm2f627eA6jquusWI4eMZA0HQYLMGYAASngQFwABi6jSGwsUhhw4ComFUSQBkFB9NAEAmi0EzzuAIDxZELBlnUQA" TargetMode="External"/><Relationship Id="rId3" Type="http://schemas.openxmlformats.org/officeDocument/2006/relationships/image" Target="../media/image1.png"/><Relationship Id="rId4" Type="http://schemas.openxmlformats.org/officeDocument/2006/relationships/notesSlide" Target="../notesSlides/notesSlide10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hyperlink" Target="https://www.falstad.com/circuit/circuitjs.html?ctz=CQAgjCAMB0lxZIgKxOStBTAtGMAoADxABYAOEAZgCZSA2EquqcZgIQFcAzLzAJ0wATEAGUAZAAkAXCC4B7ADYK5Ad34hsIAEoiNIAM4qAlgBcAxgAs9AYQl75S1f3xaQDENUgV3YAOzMkSihodGpYD3CYJBhkfBU3Rk8KAE5mJKg4kFSPL3BqCnTIfE9fLLTc7OpqRkYANSMAO3wAQzyKMGTaDq7OkHbkcNwBpEQ4MciJkbG4WEzu8F70+aL4pcXcwsz07eqcihW9hdolkkYDk8YwfPBTjPir9tuH8H8Mvg9d9JokQvBxorAyGSVE8h0oZESuR+UT+0zh4TCsXi4MhFBINEOB3Rx1y5Gh+3wZlIGPS2KokDO4BwkACswA5sTaJQKYyQdE7lRkMddpQuR5kAFMrzjgLOccyASSmL+cxKJQ0qLGNYADIAaRc0vyFGFbJYtGGEVCIWC0WgBFaeKOKCevX6g0B4VG00mJth-0yyBt+roI16BwFvu9+I5AcOyFem3iofm0du-p9NxqZBGccylrAt3Tr39EdyDGDRSl+cOdFFpJAtTkHBMRAS0sor15AVYID4zQAtgAHUgVgD0+hk+hMmE7+hAci4wQotRAmAAbvwAJ45JDt-S1khwKjy0i+JmblhgZi2EAAXnAIA4ADF8HIexikJvkhR0DAIIFyXrovggA" TargetMode="External"/><Relationship Id="rId4" Type="http://schemas.openxmlformats.org/officeDocument/2006/relationships/image" Target="../media/image1.png"/><Relationship Id="rId5" Type="http://schemas.openxmlformats.org/officeDocument/2006/relationships/notesSlide" Target="../notesSlides/notesSlide10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image" Target="../media/image1.png"/><Relationship Id="rId4" Type="http://schemas.openxmlformats.org/officeDocument/2006/relationships/notesSlide" Target="../notesSlides/notesSlide11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hyperlink" Target="https://www.falstad.com/circuit/circuitjs.html?ctz=CQAgjCBMCmC0AMBWEj4rc1K5jAKAA8QAWADhAGZISA2YymkNMRgZQEsBzAOwEMAbKCABqIACIBhEAFJIAISYA6ZKKwAJAF4gAFgFcAtgBoQAFwBOvAMYBrEAHd23ACYB7O+BD6AzngBKIOihIekCwAE5qZnRFNHhlKBilWOU8d0DIYJAwxgz6eDxIeAB2LJzM3GpckhFHAuKg+hY0QvIm6uFaswbwGjQqZl6mcHgRmLwwRDDKQp6+0kbB5rjmEdW15YTEVMpEajAixgpd7vz-I8rM86hERmaURMh4x+QN5aRtinnZkjJv-PdiL82mQBrE8JYfq1BoDyJAbkMwHB6ss8JxIddGDCoEVIkw6iUQd9iNkiSIvAB9RCaQgoMCVeDkRBfSB0hGMABmXhAAF4UCBqYUSlUri0dtR6B1uHgusLjv0xQjVmMJlN5VdPvQrktEmB1usHil3OqaOQrsQWHizsdzYdrb87sRFFNnpskkl3kavmbflrtlizaQ+sd8hD-XbyFjmEiSii0Vj479iIEwYKSIGFcTbeKyeTHWFqUREKziCMAqWS3keiBOTySE7+Roab9EAcUJBGemBnzNAAuEACdi8Lm8ExDTQgAAUlhc3C8Jl43FHLnZnOgJgAlABuOtTXv9-iD4ejiDUlyUDFDEthRlKCB9cAUIaZfJAA" TargetMode="External"/><Relationship Id="rId4" Type="http://schemas.openxmlformats.org/officeDocument/2006/relationships/image" Target="../media/image1.png"/><Relationship Id="rId5" Type="http://schemas.openxmlformats.org/officeDocument/2006/relationships/notesSlide" Target="../notesSlides/notesSlide1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1.png"/><Relationship Id="rId4" Type="http://schemas.openxmlformats.org/officeDocument/2006/relationships/notesSlide" Target="../notesSlides/notesSlide1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1.png"/><Relationship Id="rId4" Type="http://schemas.openxmlformats.org/officeDocument/2006/relationships/notesSlide" Target="../notesSlides/notesSlide11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hyperlink" Target="https://www.falstad.com/circuit/circuitjs.html?ctz=CQAgjCAMB0mRZIgKxOStBTAtGMAoADxABYAOEAJhJQDYlKKkxaQBmbAIwEsAXEAGYAbAIYBnABYgAggBEAwgC4QFYmADWggE4B7ALakQANQA0IADIBlAEIgAvFGjpTFgKKyxIAO58pbNkgA8hJ6+ABK4ADsrGTM0aRM7I6U6JSwVOkwSDDI+F5RMQyQFLFQ+JSQkVTFKgzUtYZG3AB24SAAnKxgjB2snVADJFmkmaPZTvhaveA9-RWJiHCwk9Pzq2QLcFkrcxvTbLSbS5A7rAcU-STkA4vbU5fX-cg9zFvL96zPF6z0R3fTvwBe1ex1OIEO3xA0T+ywA5tNoQiyDRskRwIVpsibqwjFpMAJ7I18CIqJFKFDIDR-KxIpSVCgxuAtm9xqymczlvl+hDSeSeScKlVKGSoRUqMgaWKaE1WvlqRSqYcFWVBewlbTFRQeTR5AQ1GLDsx6OCsUbHM5ibzwfV5bR6hRkIzbizHGzndsuT8asK+TUBZUrbQhuKfsHpS08uwDtbNTGVQHznHE4CdZQ0d0kPRmFdwXSzRAjJafSgc-LkDmHU7mcdXbX3Zzpl8rU3-UKRRKGBK6Ehw7Ko59S0ryyjygmh4OHT0dWx02Lnka0PV805jEWRSQg-3SJvK27q8MD+l6ydPaRrsWrkxR23yeRO6w740I3LoxvY2-41VEx-v9cdSRZx7YMwBzK4UXRKhVxJYs2CxeVYJoXc633RlhmPSN+kTGClVbK0hnvUg4CfPt4LgpUEM-NUKAoxNvxAeRcn1JADgXNVwJYDILWgkUAipaNePpR092rVCjxEk91goYtGCvVUYLFFIzilYxny3ATaLza8qPYOksL2HVaEAqhShAmhGHYs4oKtSgbWjGzEIZYSOTZNDxIw1g1mkv0tOk4NFKoMMVJIuybSVezKKw0KpJqHVIiMipWIqCz2BXQsAEkUG6cB2nJDtsvJcZ0CErTkCysActIfpytvei01VPLqpQeJGpoZp5DTDLSvJag0GNHqBhyRySqy-qSDmQL5AA+q+uDZB4lGkA2oAzqRr2PKZIGldivq1aKDGjz9PowzpoYNb5sOtrDLAVBwS7RqyWYCqGFrbaA1oO74iDOIH1qrT3o8movuqPbFsmrSHvyqFoxakARGofBrszLt-Ih-znuGV6qn+gLMz8iaCFVbHiyBi9QbqgNUa7SI7K7GgRG6BGbuxtgxQhlnskgjHlkJrsBKBgTpz+3no3519QamimxXZqGlJ7WG2AAxHbrOLE2dNTn0kx5XtP5pUdVyHmHyIoH8MMS7wal1X+KxOmJUZ8kyA4xqNkegqNbQbmA0drp4lib7DDhiWqm94HaiKEH5GOr2TIqsgqoqmhrAIa6HY4+UXa3OWudwkOBL9nSaDphnVVzsV8+lumFa03PnjD9ha9tqPg7TpVy71+i4pL0p08wsXrBzjiP3zj9-0jEOh9KD8c8nndLk3RO02ILqZgoSIczAFnsRAAAVCRMC0PR9EwXh9+wXgdC4FoRC0ABPEBMGaABjHQABN97RMh583vBjRIaMzTCNgSgERZDSHkN4XwpAIhCB0CIF+yhBpGBAAAB33iAZ+b8x5EWXp-Ggy8ThTHzjg42fpqgsnwPCfOgIqFLjKIQzcy92gVXweyUE9xmFlQzJlN2zp3gqAYVlXBuZEgJVBCXTc1CJH1ETgQjoHDyRMN9CI5yWlFHCLkXyaRIAk4rDwHOThBpSGiO2KqPRmYahmLjAvSMljl54CxPgmxYAHFlUoBxRxUxujuNcRxQEPYVHwi8V6CgQS4yonyKEuxjA0BZVwt0UoUSnhZWlAAR3wDoJIHF-HtAdI4CAz08BsDKEAA" TargetMode="External"/><Relationship Id="rId4" Type="http://schemas.openxmlformats.org/officeDocument/2006/relationships/image" Target="../media/image1.png"/><Relationship Id="rId5" Type="http://schemas.openxmlformats.org/officeDocument/2006/relationships/notesSlide" Target="../notesSlides/notesSlide11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hyperlink" Target="https://www.falstad.com/circuit/circuitjs.html?ctz=CQAgjCAMB0lxZIgKxOStBTAtGMAoADxABYAOEAZgCYMSqA2KcJgSQDsAHAVwBcAucCAASALxC8ATgEsAhuwDmAG0xRo0egDUQnJdwDOGEeOntemSQDMLmdgGNVMWpvwA3EA3ok4H+pUj0SJTgsCDUoeFIMFHQyG6+VAEJ1JAUSBCooU5qMegwcQoJ3kiepGBMUfgA7smpCWAA7BXV9U0gAJxMjc0pDR1dbXi03aQgmqb4AEosSCTkM2UVzN6hyFnrufiSC3MU5WjUaeCocLBbC8iHCwx16XCnkPiF+x51LwzUgVAtL5d77bQ-t9euAASgrikKECtJJMJYiOA2uQkClZmQvuVjgBrBEjZA3MI+fEYrqQHGyKgpcBzKjo6n0KEbcD3e5M6LMllnEE0dJXfz0MBXGFw-Dcqkvfk7MYTGqUOlgGm7enfGpKhVeMjpGmPEHI5UkTr6sZ2AD2AFtOAjJZrSHU6ekmOwTSAABYAT305lh+mk+nwFOKVEoTBIpUowZAjJidxZ7LjoUQnJ1kD6gZ5tL8VOF8JBkKol1BtEoBa0E22eeLRYjleYiYeLXDTBrwYoNcesoYrZLPjbDc7+aL-ZING+2xbpBH0JHMdZ7fBFGHgL5Ebnob8EaBjZV86DTHxQRXopTKAJW+QbS3Wn0dhdZukvF4CM+QSpkpoJJAkwgAF5mTjiIGa6kA0tChkcmKTLQv6Jv+iT0NQIG+BQCFLJiVT3i6roel6mA+vogiaAAKgApNQABCIC-uEzgADRjIR2CUSEfQuM6XRLN47RQmoEAooS3xsSwyyQFxKA8UIVbfEAA" TargetMode="External"/><Relationship Id="rId4" Type="http://schemas.openxmlformats.org/officeDocument/2006/relationships/image" Target="../media/image1.png"/><Relationship Id="rId5" Type="http://schemas.openxmlformats.org/officeDocument/2006/relationships/notesSlide" Target="../notesSlides/notesSlide11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hyperlink" Target="https://www.falstad.com/circuit/circuitjs.html?ctz=CQAgjCCsCmC0AMA2c8qsmqcxgFAA8QAWADhAGYAmCya85VMZS2AIwEsAXEAMwBsAhgGcAFiACCAEQDCALhAA1AE7QeIALzFFAGhAAZAMoAhDeEW4ASuADsyAJzIwtkIiIhUqIvAB0qct4wfD193ANwAdxt7ZngyB3dcSnhrECS45ko3eLcFdgA7SxB4sEp0ooZ3YiDiEOq6sKVy8FKmtMqweE7fXEb4tr6SMkZOoJ7Wwab6IZQu+DH4qaaiUnaR7oBzJZXs10q5wiYQElR4kjdGZGVVUxzcAVTrOjOKegpnskhakI6R2dDg4a-bqRBaIMiUR4UMEJJIpCHULyoSiQZCIrS5AqRcivcjPRa486JZJQsgEknktzSPAHJJQxjLKHncCOcz3eEUeBubHIcico5QL6AoEA-4zNZzEHMCbs0pDIlwyFUJEoii0nL5CIvHl8-F8uaw8m8rnQ2VaaSUAjNJHHcAM0pMw7UBR3B7USiZLWpD0fQVi8Wi6o-cWavqxV2pMP64kyrypFWZTyKDVY17u43gj1RlKLNPktqU8iWkpIzq2txJB088wASWIxTs1EgDLADb2AQFWbrjlbpEYPZA5vlUGbrZRfYRIDyg7AkE8Aw+iGt02o1U+naIfUhvfDlLwBo32rc26NWinFoNY9SE0gzlNbgEJVwM+oiHjE0eS8qK5Ca6Hr+YkKuEiW4gA+57Ev+HJuEBUFmoWBofleZDWKmExuEYnaQWSMFkpSFqRFhzyIWSnbEUROLPOh1Jds0yElOAVDtMgRgQJo5q6BhphUpO5ogAApJQJjSIWuJmAAYh4lTqgUQA" TargetMode="External"/><Relationship Id="rId4" Type="http://schemas.openxmlformats.org/officeDocument/2006/relationships/image" Target="../media/image1.png"/><Relationship Id="rId5" Type="http://schemas.openxmlformats.org/officeDocument/2006/relationships/notesSlide" Target="../notesSlides/notesSlide11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1.png"/><Relationship Id="rId4" Type="http://schemas.openxmlformats.org/officeDocument/2006/relationships/notesSlide" Target="../notesSlides/notesSlide11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AMB0mRZIgKxOStBTAtGMAoADxABYAOEAJhJQDYlKKkxaQBmbAIwEsAXEAGYAbAIYBnABYgAggBEAwgC4QFYmADWggE4B7ALakQANQA0IADIBlAEIgAvFGjpTFgKKyxIAO58pbNkgA8hJ6+ABK4ADsrGTM0aRMUKQwDNCsKY5IMMj4XlExDJAUsVD4lJCRVEUqDNQ1hkbcAHbhIACcrGCM7awdSUgkGSSwmaPZ+Fo94N195YmIcLATU3MrZPNwKcuz61NstBuLkNus+xR9JORJC1uTF1d9yN3Mm0t3rE-nrPSHt1M--12LyOJxABy+IGivyWAHMplD4WQaFkiOAClMkddWEYtJgBPYGvgRFRIpRIZAaP5WJEKSoUCMMjdXlkGSMmVs8n1wSSydzjuVKpRSZDylRkNTRTRGi08lTyZSDvLSgL2IqaQqKNyaPICGpRQdmPQwZjDY5nESeWC6nLaHUKMhWcDNhkXWznRz-tUhbzqvyKpbaIMxd8g1Lmrl2PsrRro8r-WdYwmAdrKKiukh6MxLmDaaaIEYLd6UNm5chs-bHeB3a6WU6QZyPt0i5844LheKGOK6ANjOHZVGyzHB63VfaS4qW9q2GnRU9DWg6nmnMZC8KSIHI6x1zQK7Wq+7K4yD8cG6QrkXLkwyv6LyVKF3yD3pRG5dvR6QN37Kgm3z+rtqSBnAYgzAbNLmRNEqBXYkizYTE5Tgnd6T3dka1GdkllPBNYMVL9LUGTstzgBo+03dh4MVRCRwTKiaMVbUcj1JB9nnVUIJYKhlwLGDhQCSkoz4ukHRQ6tDzdZ1MLWCgi0YK8VVg0V71OSVexlMjBJo3Nr2-SjaWw3ZtVoICqBKUCaEYdjTmgy1KGtKNbKQ4T0NEvcjwkk8Vi9YVVjwmSgyUqhQ1Ul97OtRUHOo8Kwuk6ptUiYzylY8pLPYLjtLPCh1VINgySy7UCEmS8lWHLLmICJYWDJEraQBLKyQAEzxEQAFchF4bAhEwerwH6TICDhWqauqUkshHIrbRoEgctjFNlnGuphwmpJ-C2SrixoJaASWhqmta9rOu6iBRpSfqc01OotqDFEVSK4cpqqsCQHkadCquYd3uzMrVttdbfoBYcdoEFq2o6rqeuO2BTv+7N-qNa7-SKt97o-SansA16KDfO7P0jb6Hsmjdkw3QHgf2sGjv6SH8AG2LCdikp4cqIqqORlmnpyDHyJoYcqK+iqfp5zEASokm9tBw7epO6mzq5mWCP6dLmdpVnlaeozOcEnnc1x-n8fYIaKEE0WQYO8HKfgaXhYN9hRUZjKqDqZGIriubzwW7MIr5441oBi6vTqY2yYliGLZp6S-ekq7SmIIrHlFBYsRATgREmGEtBEAAHCR8AASRqZg2jJJEKDAQvKfQYT0tiAvcsxUuyVmlVi-AMuyA3evDCaeRUzz6vAqQZvqAhiulib4ih8hTEJ4AqvzyDNvzKCrvAN78fdkHoEzWQqu18yqeDLV2fpPX4mD67oywFQdpsw7hYS7LhhRkrlU2hv+JC5L+JG-9V-zOqD+qiYxAMvdKd8W5kkQHUDuNARDUHwJfJAv9gz7mkl2R+GRn4-w9kGAB08noEBfh7YUuC1zAO7qAuAqDOiQADg+EAIgujwKvkgnKwJDa2yghg0eWDKS0gAYJKc6UWFRn4VGGgICVRgNYVWa0KkRBsEAgg6+lI66UNlugkYmDKgsMVPw+i7MhFgWIgA+W4j5BGUkWoqikCVGoxEOKJhEDEA0Fviwe+ZINFoG4ZUPAtIwDxEQLsfxW56FwMkc4wBVZdirEMqAtx4DwBgDrmXGg1gCCXycXpKMeBKJRh7FwvCvjeEuKKIbVWDDUzhL0vHUpNsezyMAlUykTwomGxaTAhxTT3yBMNvo+Q8Vwm5M6Ek-iITrCFIiW+HpKNDDyEAnkIpMycmY0-HE+i7cRkzNSamYgfcugl0gNNMA01TQABUJCYC0HofQmBeCXOwLwHQXBmgpwAJ4gEwE0AAxjoRqWgj7dhUNNDshhrCpkmM3EFSCQVe3gT9aFRowEgsDuLM2tZTpIsRWo5A8Q7bNyWmQaaS1UkFRUFcJaSClqwrWpSqBajtogEakDMWpsKboulmApanKo54XxevIlB9xnLD5ecGGm8Vq62UcaA51RuQotZZLKmcJOVBLUaVaOZL7TdBsSgE5kEeBNDeSAHQzVeAZ1NSAMFlqIBCrgj1AAYsdEiLQgA" TargetMode="External"/><Relationship Id="rId3" Type="http://schemas.openxmlformats.org/officeDocument/2006/relationships/image" Target="../media/image1.png"/><Relationship Id="rId4" Type="http://schemas.openxmlformats.org/officeDocument/2006/relationships/notesSlide" Target="../notesSlides/notesSlide11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1.png"/><Relationship Id="rId4" Type="http://schemas.openxmlformats.org/officeDocument/2006/relationships/notesSlide" Target="../notesSlides/notesSlide12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hyperlink" Target="https://www.falstad.com/circuit/circuitjs.html?ctz=CQAgjCAMB0mRZIgKxOStBTAtGMAoADxABYAOEAZgCYqA2CyuqcZgJW2rZABEBBAMIAaENwC84SAGsAXCABqAewCuAFxAT08kACoQAY0UATTCAD0IMvm4BOZmGoU6JcI5a0wsENWjof6SmgwEjBkG2o6ZEpkMhsAdhtKKF98AHcQO1cKB2y3SHxqSDiskuCXHNIQACF84jB7SBc4j0gKJHrq9pAACQAvawz7cJBncGGkWhg-X28ZwODQ8Mjo2ISkqbTBsY83MHGCotLhsu3KqoI6+wZLbOaWDvPk9D6BzOpkZlH35gnk99npgEgiEwhEojF4oknps3h8St8oAdihUEScES4qtQiKxvDQttQmPdmJi-s9+uk9h46BM4fUkPkAE6nOmnBETOBwWD4ADmrNpw2od3p+CZqOpVDI5XF7Q5MEZEqlaAcrHpkg5XNFtPFCLZ3llXMKxR1cJ1dwx8sokpVCu8cPZ6vyhptCMtLkFtAxBCZyGVLJ9tF1hQdSJQyoR-u8ZuqWPSEb9cSuwtjCet1Oy0pDyBT8fsJBcLnkRgAhvpsZRGiVKL68e12NiSHiKnn2jWcWxsWAU4VsgLlbXvO2iyNWuAU3Q7p3mDZwMgvLhZzLZXLkvSvIh9fl0uOPGOyLcfpsGPuQM12inNyM96PPlfqCQk5eKHekGnvPfEVuR8-hz3JiHT9eJ6EpOlRKGo+CKPQOJIPeNgUOgMAQO0+BAA" TargetMode="External"/><Relationship Id="rId4" Type="http://schemas.openxmlformats.org/officeDocument/2006/relationships/image" Target="../media/image1.png"/><Relationship Id="rId5" Type="http://schemas.openxmlformats.org/officeDocument/2006/relationships/notesSlide" Target="../notesSlides/notesSlide12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1.png"/><Relationship Id="rId4" Type="http://schemas.openxmlformats.org/officeDocument/2006/relationships/notesSlide" Target="../notesSlides/notesSlide12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1.png"/><Relationship Id="rId4" Type="http://schemas.openxmlformats.org/officeDocument/2006/relationships/notesSlide" Target="../notesSlides/notesSlide12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1.png"/><Relationship Id="rId4" Type="http://schemas.openxmlformats.org/officeDocument/2006/relationships/notesSlide" Target="../notesSlides/notesSlide12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AMB0lxAWSICsyWvQUwLRjAFABGIAzAExmViQActqYlkBAHiAgygGyoqXdkyMLwggAwgHsAdgBMAlgBd5M+dIDmALhAAFRTWREATvNnqsAGhABJAHIBBEAAoA4gF4aASivqAhmpAAZ0Vfc2d3GmgAdm5PAgAlEABOUSZk3lohKA4YZARYKALcwpQCckgo9PA0lPByBgQQADV4gFEAMQIAdyr8akFq5m7wAb6QeoYxliMR4TSRZHIkbNIkuFgCGYXx5e3SUl5hA9huKPJyJNIwFAQEVaiCADdZjgoX-cPwTCLYSAxisDQFBRCopCinJKcFKHIEEdQvO79PKcbIsdhgGJkODjERYxrCXh6AxscCYpCLbiNJD4kaYEAACQAXlYMABbJplCovJbCeo7PLNADKm3G9EGooYPJWa1yIom-Ilr2Y4HWLHh8sRituDCEnMq8qlFEWy0aLQIviV4CSlAQtTA1pAkxQBTwzuEcA9xS9BQMHo2PU1GN4gduUGGIapdtDLADUcjogdLHKlXJ4zoZFojXKDSF4ex2ctBZjHDtDv4k0TetQfPtlBujVrHCFACFzZaDg1ah3HeA3SBXT7ParCkJB57-e3+O3ymGA28jSXeAvi7alzPV2RuDqq6nSJmM4091TmvE88gj+39yuu1vqwxu0mueXN1xQ93TfFWxaQVmxTFJWKToutcY7jqO4EqmBVY8IsZyoKG5BwR+rYzDB4xwT+6HKr6so9JhiECMsBGziAlKwYRizptMpFEem-5pjqkF+sW9EFqxYqPpUaGkJAjT1niTZNIKKGoAMPGNJh4nZDhE6SbxpE8AJ1HcIpUkqcGbzulB8LqZaunaqiwzsQwmSLBxVamYqlnEaaAAi1jtJ0Fr0Oe8mQoebm9sBfY4cO3pacxwzWYBmSKsWLlUMgEUPiK0W3hFCCUtJ2mOqFiWNAloW6j0cUMO5L5hjM+XdgY963sgSQxKqwylQVtVScWxXyfV8nFi1Da8a5+JVjQyxSTQqnyaa4gAPK2LZxCDOe1BoHxaRotUByieABkDAS4wgCA9jSMoOC+AANvIviBGo8L7ZIXQ4AADsdgRWAAZgAxiAbjjNApCNEyPUiJKuzXJQUrDWNE1bD9CpMElUrIFu1U9BDWa7OQkOKSwz3w+Mino6QU7CLgfwjnCdRJdj1BI4e5UkejUpMLUUM9RcvDU1cAMms0TngAcixLCt3PnBlXnIAOAXMSOou+ROYCcwxHOjJibVS0GPMNnLNUINzitgGrWbc5xHN8kzaSA2zNUUL9RwDHTcNa+M6sIIpfNhsmK327bcEO6a9j2JN1xLW82boPNJLXFOmNrI0a20qQm2Cr4rJXftWAgL4cggAAFpI+2yA9gQvagDKMs4M6sjnXRqLIF1xBaIh++r3C09zQGCyBwt+T8LcS9wfvptX1Aq3Dne96IdeiH3Ix2piIj191TsLMawgoPuRtNJ7NWCHPIx+8sbXDzbyv6zrPVnJK6tRAh3OmoK9IENcSSkhbuy0LzW9pqBQ7DuQsIz1V4OnwjApCVfOGj8-7gFoPbLeBA0ZgMZg-VSS1cY4EgDCNUoC4GiGgWQHGlMMHU3oGbR2XIwB4PBmHBUw0EikgdOQTGUQqEcQ2n2D+GAmGixgIQdEMMDygOJvQ3Ej1zqPQANZQAAPQYCaCyfOVgaAgAAKRtntFOB25RcQO0bv2ZuTERb+S0bhK0Sju5JCnIrNqRjB5plxCY4YKiR6M0gKog+M9rTr3tPJJe4garOJIUoiBPQbG7zTCiB2utyhBN5kg7Wx4mj0hGgAGQmiQN4-EaBij6LqdgKIeANFCsCbCwZNrtH2sdVOW1bLiG0AwdEwiimyFkFgGY90jCSFZBwX4zQrCVEes0m6RhfCKEkEYQIVZaiCDyrwFADoPwdBFCM9MIy4IBQ2EVXgpxKC1CiPApiSyqgbN4LUSyizqL7OxPspKhyZkZCSrUa0jFfTbOuXya5iYtlHL2Q6O0fxPh3NeSqRSdomBZG+YTf5M5-mbMaisuCTAGCrIIZUaFpEoWhlhY0AAKg8Ho6yloIt2XCuoDBcWawkktNF3BhjHN5CZbEusEWWSJY6bEaLSiYsuQ2PktAzn0xMklelHLjyooQOSvZNZHl8hpaKyYoYblNlRaQIVyQHQIqSJWGejzFVSsmSAVF5B5UDVEDWT5eKEV6pWh1RSaLCAWhJiqJCliKhrNQG3XROiARDg2E7BcJr+qGtNDE+JwxPWGutSa3WgaxTerFBagNM4Un3mMXQbcAY7VIRRDQBZO5U32o4DyrNjRxCWswdQOADQ7VzMdRBXyLrX6yg9aCh0UllU2maH6iaPQFyNsLQqoYtb3Tc29efLVOq20xsgH2+NB8k2iGLRwTNVEM2TGnelSCOZxA6qtVOfKCBcT5Vvn2V1bqIL7sCj25IfIG18l9XE1tkVT1xrWWKqs7axJuQGGiuVw6KpiQ3WtcM27QwGXyrrAD-6rn-okHK9dlAEq4girup1lanVHuqievlAlUOXv9R+x0xMpyodDTOWgXZ5KEfyQK6NUUuy4dqCuGDaUUQRSA-RtKSUEoSEFZBx0uIt0ZG3eWsWb9EPVvdVyBclkpKWQw9e0T2JrUHMfQR+cxG3hMvI46ecuHNK-p48GejuJGMmS4yxrjEhSgcaiFObjIBzMOr3dWqt7d8PIFxVJXFknVPOanLixzVnbwudvKS9zvnPPlS01ZizKJrN4oMpFpdMWJBko41uEtKyxRwYrQJw9QnvOwrUkhZtV7VM5anLC7zckJJDS1Rim9klPOtVC0lmdMLzJO1WpGpKDW80PHYBMiiDKYXRlpOIYRr0IDyHuvl+JIAAB8IBhHsBgOIkkPXEVQdCqcL5vBFCp3qayZpWBFD1JAF0upEhATQHEFEKwsThK5wW80b2AL4JZjoHMGcC18BLSyRzNIuTpLjM2q0aQx3DvJ1kCABQgR46+AAJ7fVvGRaoxXWaroINYao8PEa4gR6ODAbp6ZY8Rm8BHjRbA6pnmDBr+BiuRrY6j9HTXJjkCx-Qu7ePVXM8Z0TmnthBXk9vIS-6VmSXxbp-gfn2Kme8C8yUct+OpcS7eK5kAtgyXXDmPuWgbwmD0c0htYobPCFEIypYsGtBjP5u+hr1NpuUQk7J4QpYJktdkzU02+wLA1fVA13aR3jpqN64KAb+FRvUpzHimlcDlvGhJHmGDGPTaef03oz7ljtRGj2EIJ7-A+4Ui8hRLn7IzBA-CeDzn0MYu8pgfEKUcnOeJ5x7JMrslqr8+jBdwX9POqs8h5oOrX3veaRF-QCXr3HVu5g1qnm+3peOp-VvL1AUieW8Lr7zmgd9g5WC8lg6WFmtFIlabPrkf2-KCYUlpiTC6eaWrAEKk0gmIOtbUIDPG-ClRD35Weara0+OY792B-miAUC7HqO2SFagBAOCFFEAZsD3YxV-TMSVRSBAwvUWIPX-KDLXAAzXN3OVF-B0VDc-VlJscQZvQhUAx0VNCAqDW3aA9hb7NZUYbsFIGkXEZsSgV6cQQVdEZmLtZ2N5DbWg3OVdEAAAQk4LkXIGbBF24PmFHQbAHhVDFVpBgKEIgDEMoFkUkPA1EPEM0KkOrx0N4D0IkAeBnjXkANmGhgHQty2HMIR1niF0+H2FlBECRCc2xXMLN0ZnBywHul8AAFd9pFAcAE4wcIAshchCB4QHCvDLDXdDIzCiddgFDuBrCdVbCkiCRFdNlnCNhXCN5T8PC3hYjKA6k-DAjgjQivgIjYAoiCjOMh5ijdcaVuB2tkj2trC5VbC2iCQkppdciPdUiRg+iPCjNvCyiAigiQisAwjUQRw6iRAxjhiMpmieod57D1jrDBVbCRlkisUnCeI8ihjJ55ch59lVEfDyipiqjwjURajCYTiGix4MhViv4+R7Cj5SJrDSgthPiPi+R+jDjBje4ATsVPiSjLjJjKiZjqi7j7EHjwTLFwTXjCFv4PiBhUjjwSCRQgxoZdhv5ASXDjiCSwSBgISJiKjpjZiaj4Tojv5YjcT4jdQv4-9hBaEBBrCHhfjWTKFCiDiiTe4HRCV2SnjSjfCoSqTYTwIFiRSGTZSUT4UMF7ClSB0YCcSlTYFTiVggTr5jiMFCUMFyTxTKSqjhA4SFjDTLFDSFTQExRlS7TVTCAthiF7SCUcidT8iiE-xsViEjSrjoSwczTpSHjfSrTAIbTaw8ThAvFMSmw2CcSYzdgvFCSjjqBkzsUvE-SJTTSpT7jojMzLFMzViOFsQIoMRMR6AWDeAiBfAZh1BekroSl81oBztKgnAjAZi4gSyKp5gogc89NaQiA1BazodoDkBmwIA2DnB6ysAsBpAuy4j8ogxK9bleAsBfBHoSlYlWhbIQBS4tsyAeIQARpU5WQg5zDaoMRZD5plD2C2NnBS4Oy4gzDsQTVrh9wTU81BV+5XzDVFizVDg1ic1MZOFPzoCdVJBOMaJsgkAkguBChbje5wiCBIKrzoK8hIA4K842EvgBBdQ9wrMQB2hAVXy9wgQQBBQ5zAgBkAAdQIeIOipwIkOACwOimAaAAwOi8QOIIAA" TargetMode="External"/><Relationship Id="rId3" Type="http://schemas.openxmlformats.org/officeDocument/2006/relationships/image" Target="../media/image1.png"/><Relationship Id="rId4" Type="http://schemas.openxmlformats.org/officeDocument/2006/relationships/notesSlide" Target="../notesSlides/notesSlide13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lstad.com/circuit/circuitjs.html?ctz=CQAgjCAMB0lxAWSICsyWvQUwLRjAFABGIAzAExmViQActqYlkBAHiAgygGyoqXdkyMLwggAwgHsAdgBMAlgBd5M+dIDmALhAAFRTWREATvNnqsAGhABJAHIBBEAAoA4gF4aASivqAhmpAAZ0Vfc2d3GmgAdm5PAgAlEABOUSZk3lohKA4YZARYKALcwpQCckgo9PA0lPByBgQQADV4gFEAMQIAdyr8akFq5m7wAb6QeoYxliMR4TSRZHIkbNIkuFgCGYXx5e3SUl5hSHJoUloEBDAUBEFrpNpSAgA3WY4KV-3D8Ewi2EgMYpgaAoKIVFIUbhRJKcFKHYEEdSvBDvbYXBhCNjgGJkODjEQ4xrCXh6AyYsDYpCLbiNJCEkaYEAACQAXlYMABbJplCqvJbCeo7PLNADKm3G9EG4oYfJWa1yYomgqlb2Y4HWLERiuRlC1nGyLHKlUVMooi2WjRaBF8KvASUoCFqYDtIEmKAKeDdRzg3t+QgKBh9LB62qxvBDYAuUGG4cjDtEkaDHEdscdzoNPMp4zoZHOWYaIujuPKDXexajwdTlH4kzT3Mq1dtVcjTvtIoAQlabQcGrVuy7wJ6QB7-d7A4U-V7A9H3qR+F3yuX53lewvE3GqMveH305VM2dGvuczTmvFC8hDyHD2ve9wuALt3XUPfb6hI32LfEO9bQY1FTFpRKrrulcI6jsU4GgVOhqoAM5BRE2v7wRwJ4djMPCLEhP7jEhk7yj0WFwQIyyEYu1IYURizZtMIBkXmID-nRuF4fRL5lgxio7jB56QI01wHjxyFNMKqFcQS9ECaQAm4Rs+ESQJ3A8GJ1EKVu8mKSGTEbIiKk2jpaL6sM7GAUWEqcZkizGeRgkACLWO0nTWvQ3GNNC-EuQOwGDgGY4QZpibmcqTnKv5mQbi6oUPjMQV9kFNx0t5WnhXk1JJRwoUYj00Uvq5ZAvtROV9gYDDbskMTqsMRW5ZMcDFVJwwFQJlWSYSFU1WJNDLM1UbQR1zlqopXUWuIADytjWcQgzntQaC8WkLDsPgBwweA+kDES4wgCA9jSMoOC+AANvIviBGoiL7ZIXQ4AADsdgRWAAZgAxiAbjjKcjQso++CsbsVw6uazQjWNYrfdKuzkClMrILe5U9EwkPg5DiksM98O-opaNkHOwi4P844InUKWztQEMHnli6YzKTC1FDX3kDTuykGkMoWg54AHIsSwrVz5Bc0ByDDkxvnjmqo4yezsHZmAHOhhTMvkvGXMKxTCBK9iEY81znHSwKVNM-9QpNJ0cMUGDwgy7TcOq7+SsIIpvMtT1du8A7K1Ia7Fr2PYZLS2GeoRtmduqvitjDQAKiAACqwqtNZ2jCgAZIyIAhAA1lggSA6N1kgAoRhYI9ij7QAnhNVxLaWdDoHNZIoHOGNrI0a30qQm3Cr47JXftWAgL4cggAAFpI+2yA9mevRgLLOAu7KZ10aiyBdcTWiIpZK9wNN8x5AsgULvoi95zGrzqUvcCi2KJsfssiI6F8VRvojqw-4xa19ghmsIKC5izWfA3D79KivpbEYm9Gjkl1q-Hq8FpRq0jB7EUjICBXCSKGD+4BaA82WJRSCYF1RvVKFA2CuwohwIBkJRBcMMG-l2LQe2WCCCo1oS7GhA0lo4xwJAOEGp0GsNEEwrGqpL78KpvQM23UeRgFEYAxuSohoJCxM6cgGMoQ6lMhtQcJwMCaJFjAQgC0YZHnQUTNR+JHrnUeqnKAAB6DATQ2RMlZGqEAABSTsTo5yu3KPiV2-Mhy71FmLCcB8wLi3cSfGsc5laXySJE7EXjH6HGGPE2WyTXbaztGgp0Akf5NHEBVDJ0iPH0J6KknmPEYGOx5OUPUnjOE22PE0Rkw0AAy40SDvD4mqCUfQMTsD1DwBooUQTBzDJtdo+1joDy2tZcQ2gGALUsRM2QsgsAzHukYSQ7IOB-GaFYSoj1Nk3SML4RQkgjCBEfLUQQDBagoGdB+DoYornZiuThAJGwZivMoLUKIbD3n5V4L83gtQAqTg+VUAKIKUpgoBS6FKtQ7Ton+U84FAoEVpmRZ84FzpHT-C+AGcFuLFKOiYFkAl3CSULhJX8xMXy6gMEhEMHqApGUrSbkhRoYcoj1UBUtJgDAgXiMqPy+ifLIyCs5dwHlLpcQitBXTBgAUIyNACpy0oPQoVgIFLQaFCq4VgMjDq48YcEDSsRfS5IAptZooFMqy1+Yw6PA1dikmNzazMrddQSMSR7kgDDuQaVNAMa2rxUKi1Qb4xgNDZywg1piZqg5fiGgSEUGDkBLg-e6bAmPlNP1VSUb1LNCaa04YuaI0CLzWGstdBapRolDG0tC4aASnjc29E0Yk0VHtP7LtYb9LJvtClAdyFxCxorZVS4og2qpv3ofYWWaoI8lzT6ygXUV2CWLeNHoy7nTxvXZxatXMuo0C5pygN26m3HAPJEq9i5J2iwaD2qij5+1tTig+kdAa41zhyvenKM6glzszTg+U0Fl33gEuai0m7G3IHNXuq1OaqUDDXQMTlTqwopHPD+taHbgWxj1DlTi+lf3wtjBIR437KCxXxEFADwSQlBIXeVMDC4jViXY9BlpW6wrsfjexg9bHewCVoLUTlpqL3IFE1uOc0m720dCvpIKxG9SxRSrFCQpqqMunxPe2g+J6PMbwcLQ+GxWNSdxF1VVRbuOwZldh6juJBNSZnCJ94aq7MPFXbJ94a5aO6dU-iFTirdPqd0xIUo2mohznvdF75qBZ0ZqYyBszS6FyCq6hKmzJbJOipk5QQVzmWK1uK8hMOUrcsMXjQxPzgKYt6ji32hrMWUqNcaOIKV2nbwNHxN15ICXANJZ0SlorrKuqsq4zlsKY25ysqK1hTLAlOXcsqxJOcWFas0XrXqPrwWtsNBSn19r3L2B3IojKhlCZ6TiEsa9CA8h7rZZzgAPhAJY9gMBbGYjOzRJCQVIT4t4IoAeqz2SbKwIoVZIADkrIkECaA4gohWGacJF6JRmhl1Ja+X8VdJpRgWr7GCkx9aoDefiDAIBWjSBh1Dvushc7yECF3XwpceoiEu3MWbANxABusNUF8tEmC9awejz0dNhf8neLRRotgA1s4F90v6+2R2mr56DZXQveC7dF6l4V5BevdPIFL+tIBbCmvlwKvlSussdYIGr9neW6j4kKzr61zu+VG4K0tGXUqrhzFzF5uoqnfMbWKGLtnAek0O-06M0dX1JEqv9tHvUMu5cSKWIqlEpMXTua2iwP31QA+Ogzy6WoiwRbh4kQn1K6uNPiEeBHly8wHdJDSDL836fVPF-U2JrahAC-4FzFhoPNzm7MAKJX4V1ecrq9-RF+PQ-1Yt4pKbqVzLCOjGz8Pxo9gA0D+ryerVPatah4n7rwvUapYO4nRINPU-cy9X59VAGZu6bH61UO29O-HhK+ls6VlEYikc2yEYe5+f+BWjUpA2IWEO+2sqwAg3SUBWuJu9ghAPU8BNEGMSBmBoyu+X0GBgu2B0uEg3KTsQBSEEYSEE2IAbY+ekSGB5wkwzsLoeo5eoBcBzoge0s2Ige3++BnBQ62BnGEga+EizBjBbs1GKeNBei7MNQowfYKQ8UvAbYlAr04gpqC0JO66gB2KgOMhaOPOIAAAhBoS4uQG2CIWSCTofiMCiMcEiviLQYYRAKYZQM4hYRRiYWYR4ZYeIBgKYbwL4SQW-LiILgAtwKenDiDBEbsAAi7vsPKCIP0LiIKgsFJt4rnFgPdL4AAK77SKA4Ddz04QBZC5CECIjpE6aiAAKB4Yg9RnznZXyRHHg84xFS5xHvAJGSQbDJF2Fe41HvAx4bQrI5H5GFHFHfBlGwAVH9HVFzF1FhoiCHZxGHZRH14xErFEitZ-KJG9GREjA7E1FhYuxZFjEFFFFYAlH6jjizHLEqpJrcDqYh7azPzhFXLrGmpbBvFxE-K7E9H54HE3y8o1EgqZGjF5EXGTGlH6gzEEzAnzEImLHazQI0TEIsrrGlBbComC6ondFJFAl4l8qonDGUAQnjGXHXHTGQB3EklJokkvFfRlRonCDMktEjpSrYkDC4kDD4n7HUDMlpHMmklnGQkTFXFTGwk0nwnCn0kDDIlMn-7EL-7rHcrYlKmsnOh8mAkClanEmcHgnZFimUmSkTi0kGmPycGMk9T8KC62lRG0Egy2ksIgkrAAlIJAn8JpH8IinklQkSnCBSl3E+lJo+nWkSJSJ2kSjsmNBtiEBbCRk0ISjakenUBSLemASGnnHin06BlmnwlSLDGSKAThnCoFKC7lkOkBpbDlm7AFIpl9EtjIBpEFK+lGkUmTF5m3HwmtlJqtmMn6K4hBTkg8G5jrREC+AzDqDHJXRTKjrQAI6VBOD5yyBxCDlwbzBRBD5Bb0hEBqCTnFw0HIBxk0GUBODTlYBYDSBrmzBwbNgMTQiOG8BYC+CPRTLNKxwgDzzA5kCSQgDDQDzshkgAKVTkjzA0kjKnmGGNBODzz5xxANGyqhpXAP7Rqab3xIUYxPEFqJINGf5YWhTlqxkBqSAuhETZBID3CoCFAwkClDCkXgJokUWQBUUAjQAQAQDUZDBnD0QgDtBkqypnDAggDChXmBBnIAA6gQ8QUlTgJIcAFgUlMA7FcAUl4gcQQAA" TargetMode="External"/><Relationship Id="rId3" Type="http://schemas.openxmlformats.org/officeDocument/2006/relationships/image" Target="../media/image1.png"/><Relationship Id="rId4" Type="http://schemas.openxmlformats.org/officeDocument/2006/relationships/notesSlide" Target="../notesSlides/notesSlide13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638B6"/>
        </a:solidFill>
        <a:effectLst/>
      </p:bgPr>
    </p:bg>
    <p:spTree>
      <p:nvGrpSpPr>
        <p:cNvPr id="1" name=""/>
        <p:cNvGrpSpPr/>
        <p:nvPr/>
      </p:nvGrpSpPr>
      <p:grpSpPr/>
      <p:sp>
        <p:nvSpPr>
          <p:cNvPr id="2" name="Background"/>
          <p:cNvSpPr/>
          <p:nvPr/>
        </p:nvSpPr>
        <p:spPr>
          <a:xfrm>
            <a:off x="0" y="0"/>
            <a:ext cx="12191695" cy="6858000"/>
          </a:xfrm>
          <a:prstGeom prst="rect">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ogo card"/>
          <p:cNvSpPr/>
          <p:nvPr/>
        </p:nvSpPr>
        <p:spPr>
          <a:xfrm>
            <a:off x="548640" y="548640"/>
            <a:ext cx="3017520" cy="109728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RWU logo" descr="rwu_logo.png"/>
          <p:cNvPicPr>
            <a:picLocks noChangeAspect="1"/>
          </p:cNvPicPr>
          <p:nvPr/>
        </p:nvPicPr>
        <p:blipFill>
          <a:blip r:embed="rId2"/>
          <a:stretch>
            <a:fillRect/>
          </a:stretch>
        </p:blipFill>
        <p:spPr>
          <a:xfrm>
            <a:off x="777240" y="731520"/>
            <a:ext cx="2204185" cy="731520"/>
          </a:xfrm>
          <a:prstGeom prst="rect">
            <a:avLst/>
          </a:prstGeom>
        </p:spPr>
      </p:pic>
      <p:sp>
        <p:nvSpPr>
          <p:cNvPr id="5" name="TextBox 4"/>
          <p:cNvSpPr txBox="1"/>
          <p:nvPr/>
        </p:nvSpPr>
        <p:spPr>
          <a:xfrm>
            <a:off x="548640" y="2377440"/>
            <a:ext cx="11094415" cy="1005840"/>
          </a:xfrm>
          <a:prstGeom prst="rect">
            <a:avLst/>
          </a:prstGeom>
          <a:noFill/>
        </p:spPr>
        <p:txBody>
          <a:bodyPr wrap="square" lIns="0" rIns="0" tIns="0" bIns="0" anchor="ctr">
            <a:noAutofit/>
          </a:bodyPr>
          <a:lstStyle/>
          <a:p>
            <a:pPr algn="l">
              <a:lnSpc>
                <a:spcPct val="100000"/>
              </a:lnSpc>
              <a:spcAft>
                <a:spcPts val="600"/>
              </a:spcAft>
              <a:buNone/>
            </a:pPr>
            <a:r>
              <a:rPr sz="5400" b="1" i="0">
                <a:solidFill>
                  <a:srgbClr val="FFFFFF"/>
                </a:solidFill>
                <a:latin typeface="Calibri"/>
              </a:rPr>
              <a:t>Electronic Circuit Design</a:t>
            </a:r>
          </a:p>
        </p:txBody>
      </p:sp>
      <p:sp>
        <p:nvSpPr>
          <p:cNvPr id="6" name="TextBox 5"/>
          <p:cNvSpPr txBox="1"/>
          <p:nvPr/>
        </p:nvSpPr>
        <p:spPr>
          <a:xfrm>
            <a:off x="548640" y="3429000"/>
            <a:ext cx="11094415" cy="548640"/>
          </a:xfrm>
          <a:prstGeom prst="rect">
            <a:avLst/>
          </a:prstGeom>
          <a:noFill/>
        </p:spPr>
        <p:txBody>
          <a:bodyPr wrap="square" lIns="0" rIns="0" tIns="0" bIns="0" anchor="t">
            <a:noAutofit/>
          </a:bodyPr>
          <a:lstStyle/>
          <a:p>
            <a:pPr algn="l">
              <a:lnSpc>
                <a:spcPct val="100000"/>
              </a:lnSpc>
              <a:spcAft>
                <a:spcPts val="600"/>
              </a:spcAft>
              <a:buNone/>
            </a:pPr>
            <a:r>
              <a:rPr sz="2600" b="0" i="0">
                <a:solidFill>
                  <a:srgbClr val="CFE9F3"/>
                </a:solidFill>
                <a:latin typeface="Calibri"/>
              </a:rPr>
              <a:t>The practical points — with Falstad examples</a:t>
            </a:r>
          </a:p>
        </p:txBody>
      </p:sp>
      <p:sp>
        <p:nvSpPr>
          <p:cNvPr id="7" name="TextBox 6"/>
          <p:cNvSpPr txBox="1"/>
          <p:nvPr/>
        </p:nvSpPr>
        <p:spPr>
          <a:xfrm>
            <a:off x="548640" y="4937760"/>
            <a:ext cx="7315200" cy="411480"/>
          </a:xfrm>
          <a:prstGeom prst="rect">
            <a:avLst/>
          </a:prstGeom>
          <a:noFill/>
        </p:spPr>
        <p:txBody>
          <a:bodyPr wrap="square" lIns="0" rIns="0" tIns="0" bIns="0" anchor="t">
            <a:noAutofit/>
          </a:bodyPr>
          <a:lstStyle/>
          <a:p>
            <a:pPr algn="l">
              <a:lnSpc>
                <a:spcPct val="100000"/>
              </a:lnSpc>
              <a:spcAft>
                <a:spcPts val="600"/>
              </a:spcAft>
              <a:buNone/>
            </a:pPr>
            <a:r>
              <a:rPr sz="2000" b="1" i="0">
                <a:solidFill>
                  <a:srgbClr val="FFFFFF"/>
                </a:solidFill>
                <a:latin typeface="Calibri"/>
              </a:rPr>
              <a:t>Prof. Dr. Markus Pfeil</a:t>
            </a:r>
          </a:p>
        </p:txBody>
      </p:sp>
      <p:sp>
        <p:nvSpPr>
          <p:cNvPr id="8" name="TextBox 7"/>
          <p:cNvSpPr txBox="1"/>
          <p:nvPr/>
        </p:nvSpPr>
        <p:spPr>
          <a:xfrm>
            <a:off x="548640" y="5349240"/>
            <a:ext cx="7315200" cy="365760"/>
          </a:xfrm>
          <a:prstGeom prst="rect">
            <a:avLst/>
          </a:prstGeom>
          <a:noFill/>
        </p:spPr>
        <p:txBody>
          <a:bodyPr wrap="square" lIns="0" rIns="0" tIns="0" bIns="0" anchor="t">
            <a:noAutofit/>
          </a:bodyPr>
          <a:lstStyle/>
          <a:p>
            <a:pPr algn="l">
              <a:lnSpc>
                <a:spcPct val="100000"/>
              </a:lnSpc>
              <a:spcAft>
                <a:spcPts val="600"/>
              </a:spcAft>
              <a:buNone/>
            </a:pPr>
            <a:r>
              <a:rPr sz="1800" b="0" i="0">
                <a:solidFill>
                  <a:srgbClr val="CFE9F3"/>
                </a:solidFill>
                <a:latin typeface="Calibri"/>
              </a:rPr>
              <a:t>Winter semester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INTRODUCTION</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How to use this deck</a:t>
            </a:r>
          </a:p>
        </p:txBody>
      </p:sp>
      <p:sp>
        <p:nvSpPr>
          <p:cNvPr id="4" name="Info card"/>
          <p:cNvSpPr/>
          <p:nvPr/>
        </p:nvSpPr>
        <p:spPr>
          <a:xfrm>
            <a:off x="548640" y="1481328"/>
            <a:ext cx="3515258" cy="2834640"/>
          </a:xfrm>
          <a:prstGeom prst="roundRect">
            <a:avLst>
              <a:gd name="adj" fmla="val 4516"/>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icon"/>
          <p:cNvSpPr/>
          <p:nvPr/>
        </p:nvSpPr>
        <p:spPr>
          <a:xfrm>
            <a:off x="868680" y="1755648"/>
            <a:ext cx="685800" cy="685800"/>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55648"/>
            <a:ext cx="685800" cy="685800"/>
          </a:xfrm>
          <a:prstGeom prst="rect">
            <a:avLst/>
          </a:prstGeom>
          <a:noFill/>
        </p:spPr>
        <p:txBody>
          <a:bodyPr wrap="square" lIns="0" rIns="0" tIns="0" bIns="0" anchor="ctr">
            <a:noAutofit/>
          </a:bodyPr>
          <a:lstStyle/>
          <a:p>
            <a:pPr algn="ctr">
              <a:lnSpc>
                <a:spcPct val="100000"/>
              </a:lnSpc>
              <a:spcAft>
                <a:spcPts val="600"/>
              </a:spcAft>
              <a:buNone/>
            </a:pPr>
            <a:r>
              <a:rPr sz="2400" b="1" i="0">
                <a:solidFill>
                  <a:srgbClr val="FFFFFF"/>
                </a:solidFill>
                <a:latin typeface="Calibri"/>
              </a:rPr>
              <a:t>1</a:t>
            </a:r>
          </a:p>
        </p:txBody>
      </p:sp>
      <p:sp>
        <p:nvSpPr>
          <p:cNvPr id="7" name="TextBox 6"/>
          <p:cNvSpPr txBox="1"/>
          <p:nvPr/>
        </p:nvSpPr>
        <p:spPr>
          <a:xfrm>
            <a:off x="868680" y="2624328"/>
            <a:ext cx="2875178" cy="457200"/>
          </a:xfrm>
          <a:prstGeom prst="rect">
            <a:avLst/>
          </a:prstGeom>
          <a:noFill/>
        </p:spPr>
        <p:txBody>
          <a:bodyPr wrap="square" lIns="0" rIns="0" tIns="0" bIns="0" anchor="t">
            <a:noAutofit/>
          </a:bodyPr>
          <a:lstStyle/>
          <a:p>
            <a:pPr algn="l">
              <a:lnSpc>
                <a:spcPct val="100000"/>
              </a:lnSpc>
              <a:spcAft>
                <a:spcPts val="600"/>
              </a:spcAft>
              <a:buNone/>
            </a:pPr>
            <a:r>
              <a:rPr sz="2400" b="1" i="0">
                <a:solidFill>
                  <a:srgbClr val="6638B6"/>
                </a:solidFill>
                <a:latin typeface="Calibri"/>
              </a:rPr>
              <a:t>Slides</a:t>
            </a:r>
          </a:p>
        </p:txBody>
      </p:sp>
      <p:sp>
        <p:nvSpPr>
          <p:cNvPr id="8" name="TextBox 7"/>
          <p:cNvSpPr txBox="1"/>
          <p:nvPr/>
        </p:nvSpPr>
        <p:spPr>
          <a:xfrm>
            <a:off x="868680" y="3127248"/>
            <a:ext cx="2875178" cy="1097280"/>
          </a:xfrm>
          <a:prstGeom prst="rect">
            <a:avLst/>
          </a:prstGeom>
          <a:noFill/>
        </p:spPr>
        <p:txBody>
          <a:bodyPr wrap="square" lIns="0" rIns="0" tIns="0" bIns="0" anchor="t">
            <a:noAutofit/>
          </a:bodyPr>
          <a:lstStyle/>
          <a:p>
            <a:pPr algn="l">
              <a:lnSpc>
                <a:spcPct val="100000"/>
              </a:lnSpc>
              <a:spcAft>
                <a:spcPts val="600"/>
              </a:spcAft>
              <a:buNone/>
            </a:pPr>
            <a:r>
              <a:rPr sz="1700" b="0" i="0">
                <a:solidFill>
                  <a:srgbClr val="23232B"/>
                </a:solidFill>
                <a:latin typeface="Calibri"/>
              </a:rPr>
              <a:t>The practical points of each section: rules of thumb, design recipes, pitfalls</a:t>
            </a:r>
          </a:p>
        </p:txBody>
      </p:sp>
      <p:sp>
        <p:nvSpPr>
          <p:cNvPr id="9" name="Info card"/>
          <p:cNvSpPr/>
          <p:nvPr/>
        </p:nvSpPr>
        <p:spPr>
          <a:xfrm>
            <a:off x="4338218" y="1481328"/>
            <a:ext cx="3515258" cy="2834640"/>
          </a:xfrm>
          <a:prstGeom prst="roundRect">
            <a:avLst>
              <a:gd name="adj" fmla="val 4516"/>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icon"/>
          <p:cNvSpPr/>
          <p:nvPr/>
        </p:nvSpPr>
        <p:spPr>
          <a:xfrm>
            <a:off x="4658258" y="1755648"/>
            <a:ext cx="685800" cy="685800"/>
          </a:xfrm>
          <a:prstGeom prst="ellipse">
            <a:avLst/>
          </a:prstGeom>
          <a:solidFill>
            <a:srgbClr val="007F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8258" y="1755648"/>
            <a:ext cx="685800" cy="685800"/>
          </a:xfrm>
          <a:prstGeom prst="rect">
            <a:avLst/>
          </a:prstGeom>
          <a:noFill/>
        </p:spPr>
        <p:txBody>
          <a:bodyPr wrap="square" lIns="0" rIns="0" tIns="0" bIns="0" anchor="ctr">
            <a:noAutofit/>
          </a:bodyPr>
          <a:lstStyle/>
          <a:p>
            <a:pPr algn="ctr">
              <a:lnSpc>
                <a:spcPct val="100000"/>
              </a:lnSpc>
              <a:spcAft>
                <a:spcPts val="600"/>
              </a:spcAft>
              <a:buNone/>
            </a:pPr>
            <a:r>
              <a:rPr sz="2400" b="1" i="0">
                <a:solidFill>
                  <a:srgbClr val="FFFFFF"/>
                </a:solidFill>
                <a:latin typeface="Calibri"/>
              </a:rPr>
              <a:t>2</a:t>
            </a:r>
          </a:p>
        </p:txBody>
      </p:sp>
      <p:sp>
        <p:nvSpPr>
          <p:cNvPr id="12" name="TextBox 11"/>
          <p:cNvSpPr txBox="1"/>
          <p:nvPr/>
        </p:nvSpPr>
        <p:spPr>
          <a:xfrm>
            <a:off x="4658258" y="2624328"/>
            <a:ext cx="2875178" cy="457200"/>
          </a:xfrm>
          <a:prstGeom prst="rect">
            <a:avLst/>
          </a:prstGeom>
          <a:noFill/>
        </p:spPr>
        <p:txBody>
          <a:bodyPr wrap="square" lIns="0" rIns="0" tIns="0" bIns="0" anchor="t">
            <a:noAutofit/>
          </a:bodyPr>
          <a:lstStyle/>
          <a:p>
            <a:pPr algn="l">
              <a:lnSpc>
                <a:spcPct val="100000"/>
              </a:lnSpc>
              <a:spcAft>
                <a:spcPts val="600"/>
              </a:spcAft>
              <a:buNone/>
            </a:pPr>
            <a:r>
              <a:rPr sz="2400" b="1" i="0">
                <a:solidFill>
                  <a:srgbClr val="007F9B"/>
                </a:solidFill>
                <a:latin typeface="Calibri"/>
              </a:rPr>
              <a:t>Script</a:t>
            </a:r>
          </a:p>
        </p:txBody>
      </p:sp>
      <p:sp>
        <p:nvSpPr>
          <p:cNvPr id="13" name="TextBox 12"/>
          <p:cNvSpPr txBox="1"/>
          <p:nvPr/>
        </p:nvSpPr>
        <p:spPr>
          <a:xfrm>
            <a:off x="4658258" y="3127248"/>
            <a:ext cx="2875178" cy="1097280"/>
          </a:xfrm>
          <a:prstGeom prst="rect">
            <a:avLst/>
          </a:prstGeom>
          <a:noFill/>
        </p:spPr>
        <p:txBody>
          <a:bodyPr wrap="square" lIns="0" rIns="0" tIns="0" bIns="0" anchor="t">
            <a:noAutofit/>
          </a:bodyPr>
          <a:lstStyle/>
          <a:p>
            <a:pPr algn="l">
              <a:lnSpc>
                <a:spcPct val="100000"/>
              </a:lnSpc>
              <a:spcAft>
                <a:spcPts val="600"/>
              </a:spcAft>
              <a:buNone/>
            </a:pPr>
            <a:r>
              <a:rPr sz="1700" b="0" i="0">
                <a:solidFill>
                  <a:srgbClr val="23232B"/>
                </a:solidFill>
                <a:latin typeface="Calibri"/>
              </a:rPr>
              <a:t>All derivations, worked numbers and the exercises: work the math there</a:t>
            </a:r>
          </a:p>
        </p:txBody>
      </p:sp>
      <p:sp>
        <p:nvSpPr>
          <p:cNvPr id="14" name="Info card"/>
          <p:cNvSpPr/>
          <p:nvPr/>
        </p:nvSpPr>
        <p:spPr>
          <a:xfrm>
            <a:off x="8127796" y="1481328"/>
            <a:ext cx="3515258" cy="2834640"/>
          </a:xfrm>
          <a:prstGeom prst="roundRect">
            <a:avLst>
              <a:gd name="adj" fmla="val 4516"/>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icon"/>
          <p:cNvSpPr/>
          <p:nvPr/>
        </p:nvSpPr>
        <p:spPr>
          <a:xfrm>
            <a:off x="8447836" y="1755648"/>
            <a:ext cx="685800" cy="685800"/>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47836" y="1755648"/>
            <a:ext cx="685800" cy="685800"/>
          </a:xfrm>
          <a:prstGeom prst="rect">
            <a:avLst/>
          </a:prstGeom>
          <a:noFill/>
        </p:spPr>
        <p:txBody>
          <a:bodyPr wrap="square" lIns="0" rIns="0" tIns="0" bIns="0" anchor="ctr">
            <a:noAutofit/>
          </a:bodyPr>
          <a:lstStyle/>
          <a:p>
            <a:pPr algn="ctr">
              <a:lnSpc>
                <a:spcPct val="100000"/>
              </a:lnSpc>
              <a:spcAft>
                <a:spcPts val="600"/>
              </a:spcAft>
              <a:buNone/>
            </a:pPr>
            <a:r>
              <a:rPr sz="2400" b="1" i="0">
                <a:solidFill>
                  <a:srgbClr val="FFFFFF"/>
                </a:solidFill>
                <a:latin typeface="Calibri"/>
              </a:rPr>
              <a:t>3</a:t>
            </a:r>
          </a:p>
        </p:txBody>
      </p:sp>
      <p:sp>
        <p:nvSpPr>
          <p:cNvPr id="17" name="TextBox 16"/>
          <p:cNvSpPr txBox="1"/>
          <p:nvPr/>
        </p:nvSpPr>
        <p:spPr>
          <a:xfrm>
            <a:off x="8447836" y="2624328"/>
            <a:ext cx="2875178" cy="457200"/>
          </a:xfrm>
          <a:prstGeom prst="rect">
            <a:avLst/>
          </a:prstGeom>
          <a:noFill/>
        </p:spPr>
        <p:txBody>
          <a:bodyPr wrap="square" lIns="0" rIns="0" tIns="0" bIns="0" anchor="t">
            <a:noAutofit/>
          </a:bodyPr>
          <a:lstStyle/>
          <a:p>
            <a:pPr algn="l">
              <a:lnSpc>
                <a:spcPct val="100000"/>
              </a:lnSpc>
              <a:spcAft>
                <a:spcPts val="600"/>
              </a:spcAft>
              <a:buNone/>
            </a:pPr>
            <a:r>
              <a:rPr sz="2400" b="1" i="0">
                <a:solidFill>
                  <a:srgbClr val="00A9CE"/>
                </a:solidFill>
                <a:latin typeface="Calibri"/>
              </a:rPr>
              <a:t>Falstad</a:t>
            </a:r>
          </a:p>
        </p:txBody>
      </p:sp>
      <p:sp>
        <p:nvSpPr>
          <p:cNvPr id="18" name="TextBox 17"/>
          <p:cNvSpPr txBox="1"/>
          <p:nvPr/>
        </p:nvSpPr>
        <p:spPr>
          <a:xfrm>
            <a:off x="8447836" y="3127248"/>
            <a:ext cx="2875178" cy="1097280"/>
          </a:xfrm>
          <a:prstGeom prst="rect">
            <a:avLst/>
          </a:prstGeom>
          <a:noFill/>
        </p:spPr>
        <p:txBody>
          <a:bodyPr wrap="square" lIns="0" rIns="0" tIns="0" bIns="0" anchor="t">
            <a:noAutofit/>
          </a:bodyPr>
          <a:lstStyle/>
          <a:p>
            <a:pPr algn="l">
              <a:lnSpc>
                <a:spcPct val="100000"/>
              </a:lnSpc>
              <a:spcAft>
                <a:spcPts val="600"/>
              </a:spcAft>
              <a:buNone/>
            </a:pPr>
            <a:r>
              <a:rPr sz="1700" b="0" i="0">
                <a:solidFill>
                  <a:srgbClr val="23232B"/>
                </a:solidFill>
                <a:latin typeface="Calibri"/>
              </a:rPr>
              <a:t>Every example is one click away: the chips open the circuit in the browser</a:t>
            </a:r>
          </a:p>
        </p:txBody>
      </p:sp>
      <p:sp>
        <p:nvSpPr>
          <p:cNvPr id="19" name="Falstad led_resistor">
            <a:hlinkClick r:id="rId2"/>
          </p:cNvPr>
          <p:cNvSpPr/>
          <p:nvPr/>
        </p:nvSpPr>
        <p:spPr>
          <a:xfrm>
            <a:off x="548640" y="4846320"/>
            <a:ext cx="658368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lay icon"/>
          <p:cNvSpPr/>
          <p:nvPr/>
        </p:nvSpPr>
        <p:spPr>
          <a:xfrm>
            <a:off x="694944" y="5000244"/>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lay icon"/>
          <p:cNvSpPr/>
          <p:nvPr/>
        </p:nvSpPr>
        <p:spPr>
          <a:xfrm rot="5400000">
            <a:off x="832103" y="5119115"/>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alstad link led_resistor">
            <a:hlinkClick r:id="rId2"/>
          </p:cNvPr>
          <p:cNvSpPr txBox="1"/>
          <p:nvPr/>
        </p:nvSpPr>
        <p:spPr>
          <a:xfrm>
            <a:off x="1234440" y="4956048"/>
            <a:ext cx="580644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basics/led_resistor</a:t>
            </a:r>
          </a:p>
        </p:txBody>
      </p:sp>
      <p:sp>
        <p:nvSpPr>
          <p:cNvPr id="23" name="Falstad hint"/>
          <p:cNvSpPr txBox="1"/>
          <p:nvPr/>
        </p:nvSpPr>
        <p:spPr>
          <a:xfrm>
            <a:off x="1234440" y="5230368"/>
            <a:ext cx="580644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Example chip: click it to open the circuit in the simulator</a:t>
            </a:r>
          </a:p>
        </p:txBody>
      </p:sp>
      <p:sp>
        <p:nvSpPr>
          <p:cNvPr id="24" name="TextBox 23"/>
          <p:cNvSpPr txBox="1"/>
          <p:nvPr/>
        </p:nvSpPr>
        <p:spPr>
          <a:xfrm>
            <a:off x="7498079" y="4846320"/>
            <a:ext cx="4144975" cy="1097280"/>
          </a:xfrm>
          <a:prstGeom prst="rect">
            <a:avLst/>
          </a:prstGeom>
          <a:noFill/>
        </p:spPr>
        <p:txBody>
          <a:bodyPr wrap="square" lIns="0" rIns="0" tIns="0" bIns="0" anchor="t">
            <a:noAutofit/>
          </a:bodyPr>
          <a:lstStyle/>
          <a:p>
            <a:pPr algn="l">
              <a:lnSpc>
                <a:spcPct val="100000"/>
              </a:lnSpc>
              <a:spcAft>
                <a:spcPts val="600"/>
              </a:spcAft>
              <a:buNone/>
            </a:pPr>
            <a:r>
              <a:rPr sz="1500" b="0" i="0">
                <a:solidFill>
                  <a:srgbClr val="62626E"/>
                </a:solidFill>
                <a:latin typeface="Calibri"/>
              </a:rPr>
              <a:t>Thread through all chapters: the capstone chain Pt100 bridge → amplifier → anti-aliasing filter → sample &amp; hold → 3-bit flash ADC</a:t>
            </a:r>
          </a:p>
        </p:txBody>
      </p:sp>
      <p:pic>
        <p:nvPicPr>
          <p:cNvPr id="25"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2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a:t>
            </a:r>
          </a:p>
        </p:txBody>
      </p:sp>
      <p:sp>
        <p:nvSpPr>
          <p:cNvPr id="2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INTRODUCTION</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Contents</a:t>
            </a:r>
          </a:p>
        </p:txBody>
      </p:sp>
      <p:sp>
        <p:nvSpPr>
          <p:cNvPr id="4" name="Agenda item"/>
          <p:cNvSpPr/>
          <p:nvPr/>
        </p:nvSpPr>
        <p:spPr>
          <a:xfrm>
            <a:off x="548640" y="1389888"/>
            <a:ext cx="5364327" cy="786384"/>
          </a:xfrm>
          <a:prstGeom prst="roundRect">
            <a:avLst>
              <a:gd name="adj" fmla="val 11627"/>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89888"/>
            <a:ext cx="822960" cy="786384"/>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6638B6"/>
                </a:solidFill>
                <a:latin typeface="Calibri"/>
              </a:rPr>
              <a:t>01</a:t>
            </a:r>
          </a:p>
        </p:txBody>
      </p:sp>
      <p:sp>
        <p:nvSpPr>
          <p:cNvPr id="6" name="TextBox 5"/>
          <p:cNvSpPr txBox="1"/>
          <p:nvPr/>
        </p:nvSpPr>
        <p:spPr>
          <a:xfrm>
            <a:off x="1600200" y="1389888"/>
            <a:ext cx="4175607" cy="786384"/>
          </a:xfrm>
          <a:prstGeom prst="rect">
            <a:avLst/>
          </a:prstGeom>
          <a:noFill/>
        </p:spPr>
        <p:txBody>
          <a:bodyPr wrap="square" lIns="0" rIns="0" tIns="0" bIns="0" anchor="ctr">
            <a:noAutofit/>
          </a:bodyPr>
          <a:lstStyle/>
          <a:p>
            <a:pPr algn="l">
              <a:lnSpc>
                <a:spcPct val="100000"/>
              </a:lnSpc>
              <a:spcAft>
                <a:spcPts val="600"/>
              </a:spcAft>
              <a:buNone/>
            </a:pPr>
            <a:r>
              <a:rPr sz="1900" b="1" i="0">
                <a:solidFill>
                  <a:srgbClr val="23232B"/>
                </a:solidFill>
                <a:latin typeface="Calibri"/>
              </a:rPr>
              <a:t>Basics</a:t>
            </a:r>
          </a:p>
          <a:p>
            <a:pPr algn="l">
              <a:lnSpc>
                <a:spcPct val="100000"/>
              </a:lnSpc>
              <a:spcAft>
                <a:spcPts val="0"/>
              </a:spcAft>
              <a:buNone/>
            </a:pPr>
            <a:r>
              <a:rPr sz="1300" b="0" i="0">
                <a:solidFill>
                  <a:srgbClr val="62626E"/>
                </a:solidFill>
                <a:latin typeface="Calibri"/>
              </a:rPr>
              <a:t>The tools every later chapter uses: Ohm, Kirchhoff, dividers, LED, RC</a:t>
            </a:r>
          </a:p>
        </p:txBody>
      </p:sp>
      <p:sp>
        <p:nvSpPr>
          <p:cNvPr id="7" name="Agenda item"/>
          <p:cNvSpPr/>
          <p:nvPr/>
        </p:nvSpPr>
        <p:spPr>
          <a:xfrm>
            <a:off x="548640" y="2322576"/>
            <a:ext cx="5364327" cy="786384"/>
          </a:xfrm>
          <a:prstGeom prst="roundRect">
            <a:avLst>
              <a:gd name="adj" fmla="val 11627"/>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322576"/>
            <a:ext cx="822960" cy="786384"/>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6638B6"/>
                </a:solidFill>
                <a:latin typeface="Calibri"/>
              </a:rPr>
              <a:t>02</a:t>
            </a:r>
          </a:p>
        </p:txBody>
      </p:sp>
      <p:sp>
        <p:nvSpPr>
          <p:cNvPr id="9" name="TextBox 8"/>
          <p:cNvSpPr txBox="1"/>
          <p:nvPr/>
        </p:nvSpPr>
        <p:spPr>
          <a:xfrm>
            <a:off x="1600200" y="2322576"/>
            <a:ext cx="4175607" cy="786384"/>
          </a:xfrm>
          <a:prstGeom prst="rect">
            <a:avLst/>
          </a:prstGeom>
          <a:noFill/>
        </p:spPr>
        <p:txBody>
          <a:bodyPr wrap="square" lIns="0" rIns="0" tIns="0" bIns="0" anchor="ctr">
            <a:noAutofit/>
          </a:bodyPr>
          <a:lstStyle/>
          <a:p>
            <a:pPr algn="l">
              <a:lnSpc>
                <a:spcPct val="100000"/>
              </a:lnSpc>
              <a:spcAft>
                <a:spcPts val="600"/>
              </a:spcAft>
              <a:buNone/>
            </a:pPr>
            <a:r>
              <a:rPr sz="1900" b="1" i="0">
                <a:solidFill>
                  <a:srgbClr val="23232B"/>
                </a:solidFill>
                <a:latin typeface="Calibri"/>
              </a:rPr>
              <a:t>Op-Amp Basics</a:t>
            </a:r>
          </a:p>
          <a:p>
            <a:pPr algn="l">
              <a:lnSpc>
                <a:spcPct val="100000"/>
              </a:lnSpc>
              <a:spcAft>
                <a:spcPts val="0"/>
              </a:spcAft>
              <a:buNone/>
            </a:pPr>
            <a:r>
              <a:rPr sz="1300" b="0" i="0">
                <a:solidFill>
                  <a:srgbClr val="62626E"/>
                </a:solidFill>
                <a:latin typeface="Calibri"/>
              </a:rPr>
              <a:t>The minimum op-amp knowledge: golden rules, buffer, non-inverting amplifier</a:t>
            </a:r>
          </a:p>
        </p:txBody>
      </p:sp>
      <p:sp>
        <p:nvSpPr>
          <p:cNvPr id="10" name="Agenda item"/>
          <p:cNvSpPr/>
          <p:nvPr/>
        </p:nvSpPr>
        <p:spPr>
          <a:xfrm>
            <a:off x="548640" y="3255264"/>
            <a:ext cx="5364327" cy="786384"/>
          </a:xfrm>
          <a:prstGeom prst="roundRect">
            <a:avLst>
              <a:gd name="adj" fmla="val 11627"/>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255264"/>
            <a:ext cx="822960" cy="786384"/>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6638B6"/>
                </a:solidFill>
                <a:latin typeface="Calibri"/>
              </a:rPr>
              <a:t>03</a:t>
            </a:r>
          </a:p>
        </p:txBody>
      </p:sp>
      <p:sp>
        <p:nvSpPr>
          <p:cNvPr id="12" name="TextBox 11"/>
          <p:cNvSpPr txBox="1"/>
          <p:nvPr/>
        </p:nvSpPr>
        <p:spPr>
          <a:xfrm>
            <a:off x="1600200" y="3255264"/>
            <a:ext cx="4175607" cy="786384"/>
          </a:xfrm>
          <a:prstGeom prst="rect">
            <a:avLst/>
          </a:prstGeom>
          <a:noFill/>
        </p:spPr>
        <p:txBody>
          <a:bodyPr wrap="square" lIns="0" rIns="0" tIns="0" bIns="0" anchor="ctr">
            <a:noAutofit/>
          </a:bodyPr>
          <a:lstStyle/>
          <a:p>
            <a:pPr algn="l">
              <a:lnSpc>
                <a:spcPct val="100000"/>
              </a:lnSpc>
              <a:spcAft>
                <a:spcPts val="600"/>
              </a:spcAft>
              <a:buNone/>
            </a:pPr>
            <a:r>
              <a:rPr sz="1900" b="1" i="0">
                <a:solidFill>
                  <a:srgbClr val="23232B"/>
                </a:solidFill>
                <a:latin typeface="Calibri"/>
              </a:rPr>
              <a:t>Voltage and Current Sources</a:t>
            </a:r>
          </a:p>
          <a:p>
            <a:pPr algn="l">
              <a:lnSpc>
                <a:spcPct val="100000"/>
              </a:lnSpc>
              <a:spcAft>
                <a:spcPts val="0"/>
              </a:spcAft>
              <a:buNone/>
            </a:pPr>
            <a:r>
              <a:rPr sz="1300" b="0" i="0">
                <a:solidFill>
                  <a:srgbClr val="62626E"/>
                </a:solidFill>
                <a:latin typeface="Calibri"/>
              </a:rPr>
              <a:t>Real sources, Zener and transistor regulators, current sources for sensors</a:t>
            </a:r>
          </a:p>
        </p:txBody>
      </p:sp>
      <p:sp>
        <p:nvSpPr>
          <p:cNvPr id="13" name="Agenda item"/>
          <p:cNvSpPr/>
          <p:nvPr/>
        </p:nvSpPr>
        <p:spPr>
          <a:xfrm>
            <a:off x="548640" y="4187952"/>
            <a:ext cx="5364327" cy="786384"/>
          </a:xfrm>
          <a:prstGeom prst="roundRect">
            <a:avLst>
              <a:gd name="adj" fmla="val 11627"/>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187952"/>
            <a:ext cx="822960" cy="786384"/>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6638B6"/>
                </a:solidFill>
                <a:latin typeface="Calibri"/>
              </a:rPr>
              <a:t>04</a:t>
            </a:r>
          </a:p>
        </p:txBody>
      </p:sp>
      <p:sp>
        <p:nvSpPr>
          <p:cNvPr id="15" name="TextBox 14"/>
          <p:cNvSpPr txBox="1"/>
          <p:nvPr/>
        </p:nvSpPr>
        <p:spPr>
          <a:xfrm>
            <a:off x="1600200" y="4187952"/>
            <a:ext cx="4175607" cy="786384"/>
          </a:xfrm>
          <a:prstGeom prst="rect">
            <a:avLst/>
          </a:prstGeom>
          <a:noFill/>
        </p:spPr>
        <p:txBody>
          <a:bodyPr wrap="square" lIns="0" rIns="0" tIns="0" bIns="0" anchor="ctr">
            <a:noAutofit/>
          </a:bodyPr>
          <a:lstStyle/>
          <a:p>
            <a:pPr algn="l">
              <a:lnSpc>
                <a:spcPct val="100000"/>
              </a:lnSpc>
              <a:spcAft>
                <a:spcPts val="600"/>
              </a:spcAft>
              <a:buNone/>
            </a:pPr>
            <a:r>
              <a:rPr sz="1900" b="1" i="0">
                <a:solidFill>
                  <a:srgbClr val="23232B"/>
                </a:solidFill>
                <a:latin typeface="Calibri"/>
              </a:rPr>
              <a:t>Voltage References</a:t>
            </a:r>
          </a:p>
          <a:p>
            <a:pPr algn="l">
              <a:lnSpc>
                <a:spcPct val="100000"/>
              </a:lnSpc>
              <a:spcAft>
                <a:spcPts val="0"/>
              </a:spcAft>
              <a:buNone/>
            </a:pPr>
            <a:r>
              <a:rPr sz="1300" b="0" i="0">
                <a:solidFill>
                  <a:srgbClr val="62626E"/>
                </a:solidFill>
                <a:latin typeface="Calibri"/>
              </a:rPr>
              <a:t>Zener and bandgap references, scaling to 4.00 V, ratiometric measurement</a:t>
            </a:r>
          </a:p>
        </p:txBody>
      </p:sp>
      <p:sp>
        <p:nvSpPr>
          <p:cNvPr id="16" name="Agenda item"/>
          <p:cNvSpPr/>
          <p:nvPr/>
        </p:nvSpPr>
        <p:spPr>
          <a:xfrm>
            <a:off x="548640" y="5120640"/>
            <a:ext cx="5364327" cy="786384"/>
          </a:xfrm>
          <a:prstGeom prst="roundRect">
            <a:avLst>
              <a:gd name="adj" fmla="val 11627"/>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120640"/>
            <a:ext cx="822960" cy="786384"/>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6638B6"/>
                </a:solidFill>
                <a:latin typeface="Calibri"/>
              </a:rPr>
              <a:t>05</a:t>
            </a:r>
          </a:p>
        </p:txBody>
      </p:sp>
      <p:sp>
        <p:nvSpPr>
          <p:cNvPr id="18" name="TextBox 17"/>
          <p:cNvSpPr txBox="1"/>
          <p:nvPr/>
        </p:nvSpPr>
        <p:spPr>
          <a:xfrm>
            <a:off x="1600200" y="5120640"/>
            <a:ext cx="4175607" cy="786384"/>
          </a:xfrm>
          <a:prstGeom prst="rect">
            <a:avLst/>
          </a:prstGeom>
          <a:noFill/>
        </p:spPr>
        <p:txBody>
          <a:bodyPr wrap="square" lIns="0" rIns="0" tIns="0" bIns="0" anchor="ctr">
            <a:noAutofit/>
          </a:bodyPr>
          <a:lstStyle/>
          <a:p>
            <a:pPr algn="l">
              <a:lnSpc>
                <a:spcPct val="100000"/>
              </a:lnSpc>
              <a:spcAft>
                <a:spcPts val="600"/>
              </a:spcAft>
              <a:buNone/>
            </a:pPr>
            <a:r>
              <a:rPr sz="1900" b="1" i="0">
                <a:solidFill>
                  <a:srgbClr val="23232B"/>
                </a:solidFill>
                <a:latin typeface="Calibri"/>
              </a:rPr>
              <a:t>Bridge Circuits</a:t>
            </a:r>
          </a:p>
          <a:p>
            <a:pPr algn="l">
              <a:lnSpc>
                <a:spcPct val="100000"/>
              </a:lnSpc>
              <a:spcAft>
                <a:spcPts val="0"/>
              </a:spcAft>
              <a:buNone/>
            </a:pPr>
            <a:r>
              <a:rPr sz="1300" b="0" i="0">
                <a:solidFill>
                  <a:srgbClr val="62626E"/>
                </a:solidFill>
                <a:latin typeface="Calibri"/>
              </a:rPr>
              <a:t>Turn small sensor resistance changes into a clean differential voltage</a:t>
            </a:r>
          </a:p>
        </p:txBody>
      </p:sp>
      <p:sp>
        <p:nvSpPr>
          <p:cNvPr id="19" name="Agenda item"/>
          <p:cNvSpPr/>
          <p:nvPr/>
        </p:nvSpPr>
        <p:spPr>
          <a:xfrm>
            <a:off x="6278727" y="1389888"/>
            <a:ext cx="5364327" cy="786384"/>
          </a:xfrm>
          <a:prstGeom prst="roundRect">
            <a:avLst>
              <a:gd name="adj" fmla="val 11627"/>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7327" y="1389888"/>
            <a:ext cx="822960" cy="786384"/>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6638B6"/>
                </a:solidFill>
                <a:latin typeface="Calibri"/>
              </a:rPr>
              <a:t>06</a:t>
            </a:r>
          </a:p>
        </p:txBody>
      </p:sp>
      <p:sp>
        <p:nvSpPr>
          <p:cNvPr id="21" name="TextBox 20"/>
          <p:cNvSpPr txBox="1"/>
          <p:nvPr/>
        </p:nvSpPr>
        <p:spPr>
          <a:xfrm>
            <a:off x="7330287" y="1389888"/>
            <a:ext cx="4175607" cy="786384"/>
          </a:xfrm>
          <a:prstGeom prst="rect">
            <a:avLst/>
          </a:prstGeom>
          <a:noFill/>
        </p:spPr>
        <p:txBody>
          <a:bodyPr wrap="square" lIns="0" rIns="0" tIns="0" bIns="0" anchor="ctr">
            <a:noAutofit/>
          </a:bodyPr>
          <a:lstStyle/>
          <a:p>
            <a:pPr algn="l">
              <a:lnSpc>
                <a:spcPct val="100000"/>
              </a:lnSpc>
              <a:spcAft>
                <a:spcPts val="600"/>
              </a:spcAft>
              <a:buNone/>
            </a:pPr>
            <a:r>
              <a:rPr sz="1900" b="1" i="0">
                <a:solidFill>
                  <a:srgbClr val="23232B"/>
                </a:solidFill>
                <a:latin typeface="Calibri"/>
              </a:rPr>
              <a:t>Operational Amplifiers</a:t>
            </a:r>
          </a:p>
          <a:p>
            <a:pPr algn="l">
              <a:lnSpc>
                <a:spcPct val="100000"/>
              </a:lnSpc>
              <a:spcAft>
                <a:spcPts val="0"/>
              </a:spcAft>
              <a:buNone/>
            </a:pPr>
            <a:r>
              <a:rPr sz="1300" b="0" i="0">
                <a:solidFill>
                  <a:srgbClr val="62626E"/>
                </a:solidFill>
                <a:latin typeface="Calibri"/>
              </a:rPr>
              <a:t>Basic op-amp circuits, real limits, and the capstone measurement amplifier</a:t>
            </a:r>
          </a:p>
        </p:txBody>
      </p:sp>
      <p:sp>
        <p:nvSpPr>
          <p:cNvPr id="22" name="Agenda item"/>
          <p:cNvSpPr/>
          <p:nvPr/>
        </p:nvSpPr>
        <p:spPr>
          <a:xfrm>
            <a:off x="6278727" y="2322576"/>
            <a:ext cx="5364327" cy="786384"/>
          </a:xfrm>
          <a:prstGeom prst="roundRect">
            <a:avLst>
              <a:gd name="adj" fmla="val 11627"/>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2322576"/>
            <a:ext cx="822960" cy="786384"/>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6638B6"/>
                </a:solidFill>
                <a:latin typeface="Calibri"/>
              </a:rPr>
              <a:t>07</a:t>
            </a:r>
          </a:p>
        </p:txBody>
      </p:sp>
      <p:sp>
        <p:nvSpPr>
          <p:cNvPr id="24" name="TextBox 23"/>
          <p:cNvSpPr txBox="1"/>
          <p:nvPr/>
        </p:nvSpPr>
        <p:spPr>
          <a:xfrm>
            <a:off x="7330287" y="2322576"/>
            <a:ext cx="4175607" cy="786384"/>
          </a:xfrm>
          <a:prstGeom prst="rect">
            <a:avLst/>
          </a:prstGeom>
          <a:noFill/>
        </p:spPr>
        <p:txBody>
          <a:bodyPr wrap="square" lIns="0" rIns="0" tIns="0" bIns="0" anchor="ctr">
            <a:noAutofit/>
          </a:bodyPr>
          <a:lstStyle/>
          <a:p>
            <a:pPr algn="l">
              <a:lnSpc>
                <a:spcPct val="100000"/>
              </a:lnSpc>
              <a:spcAft>
                <a:spcPts val="600"/>
              </a:spcAft>
              <a:buNone/>
            </a:pPr>
            <a:r>
              <a:rPr sz="1900" b="1" i="0">
                <a:solidFill>
                  <a:srgbClr val="23232B"/>
                </a:solidFill>
                <a:latin typeface="Calibri"/>
              </a:rPr>
              <a:t>Active Filters</a:t>
            </a:r>
          </a:p>
          <a:p>
            <a:pPr algn="l">
              <a:lnSpc>
                <a:spcPct val="100000"/>
              </a:lnSpc>
              <a:spcAft>
                <a:spcPts val="0"/>
              </a:spcAft>
              <a:buNone/>
            </a:pPr>
            <a:r>
              <a:rPr sz="1300" b="0" i="0">
                <a:solidFill>
                  <a:srgbClr val="62626E"/>
                </a:solidFill>
                <a:latin typeface="Calibri"/>
              </a:rPr>
              <a:t>Remove interference before sampling: RC, active and Sallen-Key low-passes</a:t>
            </a:r>
          </a:p>
        </p:txBody>
      </p:sp>
      <p:sp>
        <p:nvSpPr>
          <p:cNvPr id="25" name="Agenda item"/>
          <p:cNvSpPr/>
          <p:nvPr/>
        </p:nvSpPr>
        <p:spPr>
          <a:xfrm>
            <a:off x="6278727" y="3255264"/>
            <a:ext cx="5364327" cy="786384"/>
          </a:xfrm>
          <a:prstGeom prst="roundRect">
            <a:avLst>
              <a:gd name="adj" fmla="val 11627"/>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3255264"/>
            <a:ext cx="822960" cy="786384"/>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6638B6"/>
                </a:solidFill>
                <a:latin typeface="Calibri"/>
              </a:rPr>
              <a:t>08</a:t>
            </a:r>
          </a:p>
        </p:txBody>
      </p:sp>
      <p:sp>
        <p:nvSpPr>
          <p:cNvPr id="27" name="TextBox 26"/>
          <p:cNvSpPr txBox="1"/>
          <p:nvPr/>
        </p:nvSpPr>
        <p:spPr>
          <a:xfrm>
            <a:off x="7330287" y="3255264"/>
            <a:ext cx="4175607" cy="786384"/>
          </a:xfrm>
          <a:prstGeom prst="rect">
            <a:avLst/>
          </a:prstGeom>
          <a:noFill/>
        </p:spPr>
        <p:txBody>
          <a:bodyPr wrap="square" lIns="0" rIns="0" tIns="0" bIns="0" anchor="ctr">
            <a:noAutofit/>
          </a:bodyPr>
          <a:lstStyle/>
          <a:p>
            <a:pPr algn="l">
              <a:lnSpc>
                <a:spcPct val="100000"/>
              </a:lnSpc>
              <a:spcAft>
                <a:spcPts val="600"/>
              </a:spcAft>
              <a:buNone/>
            </a:pPr>
            <a:r>
              <a:rPr sz="1900" b="1" i="0">
                <a:solidFill>
                  <a:srgbClr val="23232B"/>
                </a:solidFill>
                <a:latin typeface="Calibri"/>
              </a:rPr>
              <a:t>Sample and Hold</a:t>
            </a:r>
          </a:p>
          <a:p>
            <a:pPr algn="l">
              <a:lnSpc>
                <a:spcPct val="100000"/>
              </a:lnSpc>
              <a:spcAft>
                <a:spcPts val="0"/>
              </a:spcAft>
              <a:buNone/>
            </a:pPr>
            <a:r>
              <a:rPr sz="1300" b="0" i="0">
                <a:solidFill>
                  <a:srgbClr val="62626E"/>
                </a:solidFill>
                <a:latin typeface="Calibri"/>
              </a:rPr>
              <a:t>Freeze the filtered signal at a defined instant while the ADC converts</a:t>
            </a:r>
          </a:p>
        </p:txBody>
      </p:sp>
      <p:sp>
        <p:nvSpPr>
          <p:cNvPr id="28" name="Agenda item"/>
          <p:cNvSpPr/>
          <p:nvPr/>
        </p:nvSpPr>
        <p:spPr>
          <a:xfrm>
            <a:off x="6278727" y="4187952"/>
            <a:ext cx="5364327" cy="786384"/>
          </a:xfrm>
          <a:prstGeom prst="roundRect">
            <a:avLst>
              <a:gd name="adj" fmla="val 11627"/>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07327" y="4187952"/>
            <a:ext cx="822960" cy="786384"/>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6638B6"/>
                </a:solidFill>
                <a:latin typeface="Calibri"/>
              </a:rPr>
              <a:t>09</a:t>
            </a:r>
          </a:p>
        </p:txBody>
      </p:sp>
      <p:sp>
        <p:nvSpPr>
          <p:cNvPr id="30" name="TextBox 29"/>
          <p:cNvSpPr txBox="1"/>
          <p:nvPr/>
        </p:nvSpPr>
        <p:spPr>
          <a:xfrm>
            <a:off x="7330287" y="4187952"/>
            <a:ext cx="4175607" cy="786384"/>
          </a:xfrm>
          <a:prstGeom prst="rect">
            <a:avLst/>
          </a:prstGeom>
          <a:noFill/>
        </p:spPr>
        <p:txBody>
          <a:bodyPr wrap="square" lIns="0" rIns="0" tIns="0" bIns="0" anchor="ctr">
            <a:noAutofit/>
          </a:bodyPr>
          <a:lstStyle/>
          <a:p>
            <a:pPr algn="l">
              <a:lnSpc>
                <a:spcPct val="100000"/>
              </a:lnSpc>
              <a:spcAft>
                <a:spcPts val="600"/>
              </a:spcAft>
              <a:buNone/>
            </a:pPr>
            <a:r>
              <a:rPr sz="1900" b="1" i="0">
                <a:solidFill>
                  <a:srgbClr val="23232B"/>
                </a:solidFill>
                <a:latin typeface="Calibri"/>
              </a:rPr>
              <a:t>Analog-to-Digital Conversion</a:t>
            </a:r>
          </a:p>
          <a:p>
            <a:pPr algn="l">
              <a:lnSpc>
                <a:spcPct val="100000"/>
              </a:lnSpc>
              <a:spcAft>
                <a:spcPts val="0"/>
              </a:spcAft>
              <a:buNone/>
            </a:pPr>
            <a:r>
              <a:rPr sz="1300" b="0" i="0">
                <a:solidFill>
                  <a:srgbClr val="62626E"/>
                </a:solidFill>
                <a:latin typeface="Calibri"/>
              </a:rPr>
              <a:t>Sample, quantize, compare, encode: from voltage to code, the 3-bit flash way</a:t>
            </a:r>
          </a:p>
        </p:txBody>
      </p:sp>
      <p:sp>
        <p:nvSpPr>
          <p:cNvPr id="31" name="Agenda item"/>
          <p:cNvSpPr/>
          <p:nvPr/>
        </p:nvSpPr>
        <p:spPr>
          <a:xfrm>
            <a:off x="6278727" y="5120640"/>
            <a:ext cx="5364327" cy="786384"/>
          </a:xfrm>
          <a:prstGeom prst="roundRect">
            <a:avLst>
              <a:gd name="adj" fmla="val 11627"/>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07327" y="5120640"/>
            <a:ext cx="822960" cy="786384"/>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6638B6"/>
                </a:solidFill>
                <a:latin typeface="Calibri"/>
              </a:rPr>
              <a:t>10</a:t>
            </a:r>
          </a:p>
        </p:txBody>
      </p:sp>
      <p:sp>
        <p:nvSpPr>
          <p:cNvPr id="33" name="TextBox 32"/>
          <p:cNvSpPr txBox="1"/>
          <p:nvPr/>
        </p:nvSpPr>
        <p:spPr>
          <a:xfrm>
            <a:off x="7330287" y="5120640"/>
            <a:ext cx="4175607" cy="786384"/>
          </a:xfrm>
          <a:prstGeom prst="rect">
            <a:avLst/>
          </a:prstGeom>
          <a:noFill/>
        </p:spPr>
        <p:txBody>
          <a:bodyPr wrap="square" lIns="0" rIns="0" tIns="0" bIns="0" anchor="ctr">
            <a:noAutofit/>
          </a:bodyPr>
          <a:lstStyle/>
          <a:p>
            <a:pPr algn="l">
              <a:lnSpc>
                <a:spcPct val="100000"/>
              </a:lnSpc>
              <a:spcAft>
                <a:spcPts val="600"/>
              </a:spcAft>
              <a:buNone/>
            </a:pPr>
            <a:r>
              <a:rPr sz="1900" b="1" i="0">
                <a:solidFill>
                  <a:srgbClr val="23232B"/>
                </a:solidFill>
                <a:latin typeface="Calibri"/>
              </a:rPr>
              <a:t>From Sensor to Digital Value</a:t>
            </a:r>
          </a:p>
          <a:p>
            <a:pPr algn="l">
              <a:lnSpc>
                <a:spcPct val="100000"/>
              </a:lnSpc>
              <a:spcAft>
                <a:spcPts val="0"/>
              </a:spcAft>
              <a:buNone/>
            </a:pPr>
            <a:r>
              <a:rPr sz="1300" b="0" i="0">
                <a:solidFill>
                  <a:srgbClr val="62626E"/>
                </a:solidFill>
                <a:latin typeface="Calibri"/>
              </a:rPr>
              <a:t>The whole course in one chain: Pt100 thermometer to 3-bit code on LEDs</a:t>
            </a:r>
          </a:p>
        </p:txBody>
      </p:sp>
      <p:pic>
        <p:nvPicPr>
          <p:cNvPr id="34"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3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a:t>
            </a:r>
          </a:p>
        </p:txBody>
      </p:sp>
      <p:sp>
        <p:nvSpPr>
          <p:cNvPr id="3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6638B6"/>
        </a:solidFill>
        <a:effectLst/>
      </p:bgPr>
    </p:bg>
    <p:spTree>
      <p:nvGrpSpPr>
        <p:cNvPr id="1" name=""/>
        <p:cNvGrpSpPr/>
        <p:nvPr/>
      </p:nvGrpSpPr>
      <p:grpSpPr/>
      <p:sp>
        <p:nvSpPr>
          <p:cNvPr id="2" name="Chapter number"/>
          <p:cNvSpPr txBox="1"/>
          <p:nvPr/>
        </p:nvSpPr>
        <p:spPr>
          <a:xfrm>
            <a:off x="548640" y="822960"/>
            <a:ext cx="2743200" cy="1463040"/>
          </a:xfrm>
          <a:prstGeom prst="rect">
            <a:avLst/>
          </a:prstGeom>
          <a:noFill/>
        </p:spPr>
        <p:txBody>
          <a:bodyPr wrap="square" lIns="0" rIns="0" tIns="0" bIns="0" anchor="t">
            <a:noAutofit/>
          </a:bodyPr>
          <a:lstStyle/>
          <a:p>
            <a:pPr algn="l">
              <a:lnSpc>
                <a:spcPct val="100000"/>
              </a:lnSpc>
              <a:spcAft>
                <a:spcPts val="600"/>
              </a:spcAft>
              <a:buNone/>
            </a:pPr>
            <a:r>
              <a:rPr sz="9600" b="1" i="0">
                <a:solidFill>
                  <a:srgbClr val="9B7DD4"/>
                </a:solidFill>
                <a:latin typeface="Calibri"/>
              </a:rPr>
              <a:t>01</a:t>
            </a:r>
          </a:p>
        </p:txBody>
      </p:sp>
      <p:sp>
        <p:nvSpPr>
          <p:cNvPr id="3" name="Chapter title"/>
          <p:cNvSpPr txBox="1"/>
          <p:nvPr/>
        </p:nvSpPr>
        <p:spPr>
          <a:xfrm>
            <a:off x="548640" y="2331720"/>
            <a:ext cx="11094415" cy="914400"/>
          </a:xfrm>
          <a:prstGeom prst="rect">
            <a:avLst/>
          </a:prstGeom>
          <a:noFill/>
        </p:spPr>
        <p:txBody>
          <a:bodyPr wrap="square" lIns="0" rIns="0" tIns="0" bIns="0" anchor="ctr">
            <a:noAutofit/>
          </a:bodyPr>
          <a:lstStyle/>
          <a:p>
            <a:pPr algn="l">
              <a:lnSpc>
                <a:spcPct val="100000"/>
              </a:lnSpc>
              <a:spcAft>
                <a:spcPts val="600"/>
              </a:spcAft>
              <a:buNone/>
            </a:pPr>
            <a:r>
              <a:rPr sz="4400" b="1" i="0">
                <a:solidFill>
                  <a:srgbClr val="FFFFFF"/>
                </a:solidFill>
                <a:latin typeface="Calibri"/>
              </a:rPr>
              <a:t>Basics</a:t>
            </a:r>
          </a:p>
        </p:txBody>
      </p:sp>
      <p:sp>
        <p:nvSpPr>
          <p:cNvPr id="4" name="Chapter subtitle"/>
          <p:cNvSpPr txBox="1"/>
          <p:nvPr/>
        </p:nvSpPr>
        <p:spPr>
          <a:xfrm>
            <a:off x="548640" y="3246120"/>
            <a:ext cx="11094415" cy="4572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CFE9F3"/>
                </a:solidFill>
                <a:latin typeface="Calibri"/>
              </a:rPr>
              <a:t>The tools every later chapter uses: Ohm, Kirchhoff, dividers, LED, RC</a:t>
            </a:r>
          </a:p>
        </p:txBody>
      </p:sp>
      <p:sp>
        <p:nvSpPr>
          <p:cNvPr id="5" name="Takeaway card"/>
          <p:cNvSpPr/>
          <p:nvPr/>
        </p:nvSpPr>
        <p:spPr>
          <a:xfrm>
            <a:off x="548640"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1</a:t>
            </a:r>
          </a:p>
        </p:txBody>
      </p:sp>
      <p:sp>
        <p:nvSpPr>
          <p:cNvPr id="7" name="Takeaway"/>
          <p:cNvSpPr txBox="1"/>
          <p:nvPr/>
        </p:nvSpPr>
        <p:spPr>
          <a:xfrm>
            <a:off x="822959"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Every connection is a divider: watch the load</a:t>
            </a:r>
          </a:p>
        </p:txBody>
      </p:sp>
      <p:sp>
        <p:nvSpPr>
          <p:cNvPr id="8" name="Takeaway card"/>
          <p:cNvSpPr/>
          <p:nvPr/>
        </p:nvSpPr>
        <p:spPr>
          <a:xfrm>
            <a:off x="4338218"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2538"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2</a:t>
            </a:r>
          </a:p>
        </p:txBody>
      </p:sp>
      <p:sp>
        <p:nvSpPr>
          <p:cNvPr id="10" name="Takeaway"/>
          <p:cNvSpPr txBox="1"/>
          <p:nvPr/>
        </p:nvSpPr>
        <p:spPr>
          <a:xfrm>
            <a:off x="4612538"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Size LED resistors from V</a:t>
            </a:r>
            <a:r>
              <a:rPr sz="1800" b="1" i="0" baseline="-25000">
                <a:solidFill>
                  <a:srgbClr val="FFFFFF"/>
                </a:solidFill>
                <a:latin typeface="Calibri"/>
              </a:rPr>
              <a:t>S</a:t>
            </a:r>
            <a:r>
              <a:rPr sz="1800" b="1" i="0">
                <a:solidFill>
                  <a:srgbClr val="FFFFFF"/>
                </a:solidFill>
                <a:latin typeface="Calibri"/>
              </a:rPr>
              <a:t> − V</a:t>
            </a:r>
            <a:r>
              <a:rPr sz="1800" b="1" i="0" baseline="-25000">
                <a:solidFill>
                  <a:srgbClr val="FFFFFF"/>
                </a:solidFill>
                <a:latin typeface="Calibri"/>
              </a:rPr>
              <a:t>F</a:t>
            </a:r>
            <a:r>
              <a:rPr sz="1800" b="1" i="0">
                <a:solidFill>
                  <a:srgbClr val="FFFFFF"/>
                </a:solidFill>
                <a:latin typeface="Calibri"/>
              </a:rPr>
              <a:t>, round up</a:t>
            </a:r>
          </a:p>
        </p:txBody>
      </p:sp>
      <p:sp>
        <p:nvSpPr>
          <p:cNvPr id="11" name="Takeaway card"/>
          <p:cNvSpPr/>
          <p:nvPr/>
        </p:nvSpPr>
        <p:spPr>
          <a:xfrm>
            <a:off x="8127796"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2116"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3</a:t>
            </a:r>
          </a:p>
        </p:txBody>
      </p:sp>
      <p:sp>
        <p:nvSpPr>
          <p:cNvPr id="13" name="Takeaway"/>
          <p:cNvSpPr txBox="1"/>
          <p:nvPr/>
        </p:nvSpPr>
        <p:spPr>
          <a:xfrm>
            <a:off x="8402116"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τ = RC: 63 % after τ, settled after 5τ</a:t>
            </a:r>
          </a:p>
        </p:txBody>
      </p:sp>
      <p:sp>
        <p:nvSpPr>
          <p:cNvPr id="14" name="Footer"/>
          <p:cNvSpPr txBox="1"/>
          <p:nvPr/>
        </p:nvSpPr>
        <p:spPr>
          <a:xfrm>
            <a:off x="548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FFFFFF"/>
                </a:solidFill>
                <a:latin typeface="Calibri"/>
              </a:rPr>
              <a:t>Electronic Circuit Design  ·  Basics</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FFFFF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QUANTITIES, UNITS AND OHM'S LAW</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Ohm's law, power and standard values</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ohm-s-law-1.png"/>
          <p:cNvPicPr>
            <a:picLocks noChangeAspect="1"/>
          </p:cNvPicPr>
          <p:nvPr/>
        </p:nvPicPr>
        <p:blipFill>
          <a:blip r:embed="rId2"/>
          <a:stretch>
            <a:fillRect/>
          </a:stretch>
        </p:blipFill>
        <p:spPr>
          <a:xfrm>
            <a:off x="6876288" y="1899888"/>
            <a:ext cx="4565599" cy="3643438"/>
          </a:xfrm>
          <a:prstGeom prst="rect">
            <a:avLst/>
          </a:prstGeom>
        </p:spPr>
      </p:pic>
      <p:sp>
        <p:nvSpPr>
          <p:cNvPr id="6" name="Bullets"/>
          <p:cNvSpPr txBox="1"/>
          <p:nvPr/>
        </p:nvSpPr>
        <p:spPr>
          <a:xfrm>
            <a:off x="548640" y="1298448"/>
            <a:ext cx="5806440" cy="3296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Calculate in V, kΩ and mA: no powers of ten needed</a:t>
            </a:r>
          </a:p>
          <a:p>
            <a:pPr algn="l" marL="274320" indent="-274320">
              <a:lnSpc>
                <a:spcPct val="100000"/>
              </a:lnSpc>
              <a:spcAft>
                <a:spcPts val="1000"/>
              </a:spcAft>
              <a:buClr>
                <a:srgbClr val="00A9CE"/>
              </a:buClr>
              <a:buFont typeface="Arial"/>
              <a:buChar char="•"/>
            </a:pPr>
            <a:r>
              <a:rPr sz="2000" b="0" i="0">
                <a:solidFill>
                  <a:srgbClr val="23232B"/>
                </a:solidFill>
                <a:latin typeface="Calibri"/>
              </a:rPr>
              <a:t>P = V·I = I</a:t>
            </a:r>
            <a:r>
              <a:rPr sz="2000" b="0" i="0" baseline="30000">
                <a:solidFill>
                  <a:srgbClr val="23232B"/>
                </a:solidFill>
                <a:latin typeface="Calibri"/>
              </a:rPr>
              <a:t>2</a:t>
            </a:r>
            <a:r>
              <a:rPr sz="2000" b="0" i="0">
                <a:solidFill>
                  <a:srgbClr val="23232B"/>
                </a:solidFill>
                <a:latin typeface="Calibri"/>
              </a:rPr>
              <a:t>R = V</a:t>
            </a:r>
            <a:r>
              <a:rPr sz="2000" b="0" i="0" baseline="30000">
                <a:solidFill>
                  <a:srgbClr val="23232B"/>
                </a:solidFill>
                <a:latin typeface="Calibri"/>
              </a:rPr>
              <a:t>2</a:t>
            </a:r>
            <a:r>
              <a:rPr sz="2000" b="0" i="0">
                <a:solidFill>
                  <a:srgbClr val="23232B"/>
                </a:solidFill>
                <a:latin typeface="Calibri"/>
              </a:rPr>
              <a:t>/R; stay below about 50 % of the power rating</a:t>
            </a:r>
          </a:p>
          <a:p>
            <a:pPr algn="l" marL="274320" indent="-274320">
              <a:lnSpc>
                <a:spcPct val="100000"/>
              </a:lnSpc>
              <a:spcAft>
                <a:spcPts val="1000"/>
              </a:spcAft>
              <a:buClr>
                <a:srgbClr val="00A9CE"/>
              </a:buClr>
              <a:buFont typeface="Arial"/>
              <a:buChar char="•"/>
            </a:pPr>
            <a:r>
              <a:rPr sz="2000" b="0" i="0">
                <a:solidFill>
                  <a:srgbClr val="23232B"/>
                </a:solidFill>
                <a:latin typeface="Calibri"/>
              </a:rPr>
              <a:t>SMD 0603: 0.1 W, 1206: 0.25 W, through-hole 0207: 0.25 … 0.6 W</a:t>
            </a:r>
          </a:p>
          <a:p>
            <a:pPr algn="l" marL="274320" indent="-274320">
              <a:lnSpc>
                <a:spcPct val="100000"/>
              </a:lnSpc>
              <a:spcAft>
                <a:spcPts val="1000"/>
              </a:spcAft>
              <a:buClr>
                <a:srgbClr val="00A9CE"/>
              </a:buClr>
              <a:buFont typeface="Arial"/>
              <a:buChar char="•"/>
            </a:pPr>
            <a:r>
              <a:rPr sz="2000" b="0" i="0">
                <a:solidFill>
                  <a:srgbClr val="23232B"/>
                </a:solidFill>
                <a:latin typeface="Calibri"/>
              </a:rPr>
              <a:t>E12: 1.0 1.2 1.5 1.8 2.2 2.7 3.3 3.9 4.7 5.6 6.8 8.2; E96 for 1 % parts</a:t>
            </a:r>
          </a:p>
          <a:p>
            <a:pPr algn="l" marL="274320" indent="-274320">
              <a:lnSpc>
                <a:spcPct val="100000"/>
              </a:lnSpc>
              <a:spcAft>
                <a:spcPts val="1000"/>
              </a:spcAft>
              <a:buClr>
                <a:srgbClr val="00A9CE"/>
              </a:buClr>
              <a:buFont typeface="Arial"/>
              <a:buChar char="•"/>
            </a:pPr>
            <a:r>
              <a:rPr sz="2000" b="0" i="0">
                <a:solidFill>
                  <a:srgbClr val="23232B"/>
                </a:solidFill>
                <a:latin typeface="Calibri"/>
              </a:rPr>
              <a:t>Capstone: sensor current limited to 1 mA because of self-heating</a:t>
            </a:r>
          </a:p>
        </p:txBody>
      </p:sp>
      <p:sp>
        <p:nvSpPr>
          <p:cNvPr id="7" name="Key rule"/>
          <p:cNvSpPr/>
          <p:nvPr/>
        </p:nvSpPr>
        <p:spPr>
          <a:xfrm>
            <a:off x="548640" y="49154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50251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52994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 = R·I</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KIRCHHOFF'S LAWS AND NETWORKS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Series and parallel</a:t>
            </a:r>
          </a:p>
        </p:txBody>
      </p:sp>
      <p:sp>
        <p:nvSpPr>
          <p:cNvPr id="4" name="Figure panel"/>
          <p:cNvSpPr/>
          <p:nvPr/>
        </p:nvSpPr>
        <p:spPr>
          <a:xfrm>
            <a:off x="6903719" y="1298448"/>
            <a:ext cx="4739335" cy="4846320"/>
          </a:xfrm>
          <a:prstGeom prst="roundRect">
            <a:avLst>
              <a:gd name="adj" fmla="val 2315"/>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kirchhoff-s-current-law-kcl-and-voltage--1.png"/>
          <p:cNvPicPr>
            <a:picLocks noChangeAspect="1"/>
          </p:cNvPicPr>
          <p:nvPr/>
        </p:nvPicPr>
        <p:blipFill>
          <a:blip r:embed="rId2"/>
          <a:stretch>
            <a:fillRect/>
          </a:stretch>
        </p:blipFill>
        <p:spPr>
          <a:xfrm>
            <a:off x="7104888" y="2096231"/>
            <a:ext cx="4336999" cy="3250752"/>
          </a:xfrm>
          <a:prstGeom prst="rect">
            <a:avLst/>
          </a:prstGeom>
        </p:spPr>
      </p:pic>
      <p:sp>
        <p:nvSpPr>
          <p:cNvPr id="6" name="Compare card"/>
          <p:cNvSpPr/>
          <p:nvPr/>
        </p:nvSpPr>
        <p:spPr>
          <a:xfrm>
            <a:off x="548640" y="1298448"/>
            <a:ext cx="6035040" cy="2286000"/>
          </a:xfrm>
          <a:prstGeom prst="roundRect">
            <a:avLst>
              <a:gd name="adj" fmla="val 5600"/>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 head"/>
          <p:cNvSpPr txBox="1"/>
          <p:nvPr/>
        </p:nvSpPr>
        <p:spPr>
          <a:xfrm>
            <a:off x="868680" y="1572768"/>
            <a:ext cx="5394959"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6638B6"/>
                </a:solidFill>
                <a:latin typeface="Calibri"/>
              </a:rPr>
              <a:t>Series</a:t>
            </a:r>
          </a:p>
        </p:txBody>
      </p:sp>
      <p:sp>
        <p:nvSpPr>
          <p:cNvPr id="8" name="Card bullets"/>
          <p:cNvSpPr txBox="1"/>
          <p:nvPr/>
        </p:nvSpPr>
        <p:spPr>
          <a:xfrm>
            <a:off x="868680" y="2167128"/>
            <a:ext cx="5394959" cy="123444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Same current, voltages add (KVL)</a:t>
            </a:r>
          </a:p>
          <a:p>
            <a:pPr algn="l" marL="274320" indent="-274320">
              <a:lnSpc>
                <a:spcPct val="100000"/>
              </a:lnSpc>
              <a:spcAft>
                <a:spcPts val="1000"/>
              </a:spcAft>
              <a:buClr>
                <a:srgbClr val="00A9CE"/>
              </a:buClr>
              <a:buFont typeface="Arial"/>
              <a:buChar char="•"/>
            </a:pPr>
            <a:r>
              <a:rPr sz="2000" b="0" i="0">
                <a:solidFill>
                  <a:srgbClr val="23232B"/>
                </a:solidFill>
                <a:latin typeface="Calibri"/>
              </a:rPr>
              <a:t>R = R</a:t>
            </a:r>
            <a:r>
              <a:rPr sz="2000" b="0" i="0" baseline="-25000">
                <a:solidFill>
                  <a:srgbClr val="23232B"/>
                </a:solidFill>
                <a:latin typeface="Calibri"/>
              </a:rPr>
              <a:t>1</a:t>
            </a:r>
            <a:r>
              <a:rPr sz="2000" b="0" i="0">
                <a:solidFill>
                  <a:srgbClr val="23232B"/>
                </a:solidFill>
                <a:latin typeface="Calibri"/>
              </a:rPr>
              <a:t> + R</a:t>
            </a:r>
            <a:r>
              <a:rPr sz="2000" b="0" i="0" baseline="-25000">
                <a:solidFill>
                  <a:srgbClr val="23232B"/>
                </a:solidFill>
                <a:latin typeface="Calibri"/>
              </a:rPr>
              <a:t>2</a:t>
            </a:r>
          </a:p>
          <a:p>
            <a:pPr algn="l" marL="274320" indent="-274320">
              <a:lnSpc>
                <a:spcPct val="100000"/>
              </a:lnSpc>
              <a:spcAft>
                <a:spcPts val="1000"/>
              </a:spcAft>
              <a:buClr>
                <a:srgbClr val="00A9CE"/>
              </a:buClr>
              <a:buFont typeface="Arial"/>
              <a:buChar char="•"/>
            </a:pPr>
            <a:r>
              <a:rPr sz="2000" b="0" i="0">
                <a:solidFill>
                  <a:srgbClr val="23232B"/>
                </a:solidFill>
                <a:latin typeface="Calibri"/>
              </a:rPr>
              <a:t>Larger than the largest resistor</a:t>
            </a:r>
          </a:p>
        </p:txBody>
      </p:sp>
      <p:sp>
        <p:nvSpPr>
          <p:cNvPr id="9" name="Compare card"/>
          <p:cNvSpPr/>
          <p:nvPr/>
        </p:nvSpPr>
        <p:spPr>
          <a:xfrm>
            <a:off x="548640" y="3858768"/>
            <a:ext cx="6035040" cy="2286000"/>
          </a:xfrm>
          <a:prstGeom prst="roundRect">
            <a:avLst>
              <a:gd name="adj" fmla="val 5600"/>
            </a:avLst>
          </a:prstGeom>
          <a:solidFill>
            <a:srgbClr val="E5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head"/>
          <p:cNvSpPr txBox="1"/>
          <p:nvPr/>
        </p:nvSpPr>
        <p:spPr>
          <a:xfrm>
            <a:off x="868680" y="4133087"/>
            <a:ext cx="5394959"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007F9B"/>
                </a:solidFill>
                <a:latin typeface="Calibri"/>
              </a:rPr>
              <a:t>Parallel</a:t>
            </a:r>
          </a:p>
        </p:txBody>
      </p:sp>
      <p:sp>
        <p:nvSpPr>
          <p:cNvPr id="11" name="Card bullets"/>
          <p:cNvSpPr txBox="1"/>
          <p:nvPr/>
        </p:nvSpPr>
        <p:spPr>
          <a:xfrm>
            <a:off x="868680" y="4727448"/>
            <a:ext cx="5394959" cy="123444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Same voltage, currents add (KCL)</a:t>
            </a:r>
          </a:p>
          <a:p>
            <a:pPr algn="l" marL="274320" indent="-274320">
              <a:lnSpc>
                <a:spcPct val="100000"/>
              </a:lnSpc>
              <a:spcAft>
                <a:spcPts val="1000"/>
              </a:spcAft>
              <a:buClr>
                <a:srgbClr val="00A9CE"/>
              </a:buClr>
              <a:buFont typeface="Arial"/>
              <a:buChar char="•"/>
            </a:pPr>
            <a:r>
              <a:rPr sz="2000" b="0" i="0">
                <a:solidFill>
                  <a:srgbClr val="23232B"/>
                </a:solidFill>
                <a:latin typeface="Calibri"/>
              </a:rPr>
              <a:t>R</a:t>
            </a:r>
            <a:r>
              <a:rPr sz="2000" b="0" i="0" baseline="-25000">
                <a:solidFill>
                  <a:srgbClr val="23232B"/>
                </a:solidFill>
                <a:latin typeface="Calibri"/>
              </a:rPr>
              <a:t>1</a:t>
            </a:r>
            <a:r>
              <a:rPr sz="2000" b="0" i="0">
                <a:solidFill>
                  <a:srgbClr val="23232B"/>
                </a:solidFill>
                <a:latin typeface="Calibri"/>
              </a:rPr>
              <a:t>‖R</a:t>
            </a:r>
            <a:r>
              <a:rPr sz="2000" b="0" i="0" baseline="-25000">
                <a:solidFill>
                  <a:srgbClr val="23232B"/>
                </a:solidFill>
                <a:latin typeface="Calibri"/>
              </a:rPr>
              <a:t>2</a:t>
            </a:r>
            <a:r>
              <a:rPr sz="2000" b="0" i="0">
                <a:solidFill>
                  <a:srgbClr val="23232B"/>
                </a:solidFill>
                <a:latin typeface="Calibri"/>
              </a:rPr>
              <a:t> = R</a:t>
            </a:r>
            <a:r>
              <a:rPr sz="2000" b="0" i="0" baseline="-25000">
                <a:solidFill>
                  <a:srgbClr val="23232B"/>
                </a:solidFill>
                <a:latin typeface="Calibri"/>
              </a:rPr>
              <a:t>1</a:t>
            </a:r>
            <a:r>
              <a:rPr sz="2000" b="0" i="0">
                <a:solidFill>
                  <a:srgbClr val="23232B"/>
                </a:solidFill>
                <a:latin typeface="Calibri"/>
              </a:rPr>
              <a:t>R</a:t>
            </a:r>
            <a:r>
              <a:rPr sz="2000" b="0" i="0" baseline="-25000">
                <a:solidFill>
                  <a:srgbClr val="23232B"/>
                </a:solidFill>
                <a:latin typeface="Calibri"/>
              </a:rPr>
              <a:t>2</a:t>
            </a:r>
            <a:r>
              <a:rPr sz="2000" b="0" i="0">
                <a:solidFill>
                  <a:srgbClr val="23232B"/>
                </a:solidFill>
                <a:latin typeface="Calibri"/>
              </a:rPr>
              <a:t>/(R</a:t>
            </a:r>
            <a:r>
              <a:rPr sz="2000" b="0" i="0" baseline="-25000">
                <a:solidFill>
                  <a:srgbClr val="23232B"/>
                </a:solidFill>
                <a:latin typeface="Calibri"/>
              </a:rPr>
              <a:t>1</a:t>
            </a:r>
            <a:r>
              <a:rPr sz="2000" b="0" i="0">
                <a:solidFill>
                  <a:srgbClr val="23232B"/>
                </a:solidFill>
                <a:latin typeface="Calibri"/>
              </a:rPr>
              <a:t>+R</a:t>
            </a:r>
            <a:r>
              <a:rPr sz="2000" b="0" i="0" baseline="-25000">
                <a:solidFill>
                  <a:srgbClr val="23232B"/>
                </a:solidFill>
                <a:latin typeface="Calibri"/>
              </a:rPr>
              <a:t>2</a:t>
            </a:r>
            <a:r>
              <a:rPr sz="2000" b="0" i="0">
                <a:solidFill>
                  <a:srgbClr val="23232B"/>
                </a:solidFill>
                <a:latin typeface="Calibri"/>
              </a:rPr>
              <a:t>)</a:t>
            </a:r>
          </a:p>
          <a:p>
            <a:pPr algn="l" marL="274320" indent="-274320">
              <a:lnSpc>
                <a:spcPct val="100000"/>
              </a:lnSpc>
              <a:spcAft>
                <a:spcPts val="1000"/>
              </a:spcAft>
              <a:buClr>
                <a:srgbClr val="00A9CE"/>
              </a:buClr>
              <a:buFont typeface="Arial"/>
              <a:buChar char="•"/>
            </a:pPr>
            <a:r>
              <a:rPr sz="2000" b="0" i="0">
                <a:solidFill>
                  <a:srgbClr val="23232B"/>
                </a:solidFill>
                <a:latin typeface="Calibri"/>
              </a:rPr>
              <a:t>Smaller than the smallest; R‖R = R/2</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KIRCHHOFF'S LAWS AND NETWORKS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series-parallel network</a:t>
            </a:r>
          </a:p>
        </p:txBody>
      </p:sp>
      <p:sp>
        <p:nvSpPr>
          <p:cNvPr id="4" name="Label"/>
          <p:cNvSpPr txBox="1"/>
          <p:nvPr/>
        </p:nvSpPr>
        <p:spPr>
          <a:xfrm>
            <a:off x="548640" y="1298448"/>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5" name="Falstad network">
            <a:hlinkClick r:id="rId2"/>
          </p:cNvPr>
          <p:cNvSpPr/>
          <p:nvPr/>
        </p:nvSpPr>
        <p:spPr>
          <a:xfrm>
            <a:off x="548640" y="17099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a:off x="694944"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rot="5400000">
            <a:off x="832103"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lstad link network">
            <a:hlinkClick r:id="rId2"/>
          </p:cNvPr>
          <p:cNvSpPr txBox="1"/>
          <p:nvPr/>
        </p:nvSpPr>
        <p:spPr>
          <a:xfrm>
            <a:off x="1234440" y="1819655"/>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basics/network</a:t>
            </a:r>
          </a:p>
        </p:txBody>
      </p:sp>
      <p:sp>
        <p:nvSpPr>
          <p:cNvPr id="9" name="Falstad hint"/>
          <p:cNvSpPr txBox="1"/>
          <p:nvPr/>
        </p:nvSpPr>
        <p:spPr>
          <a:xfrm>
            <a:off x="1234440" y="20939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Hover over each resistor: current and power; check KCL at node A</a:t>
            </a:r>
          </a:p>
        </p:txBody>
      </p:sp>
      <p:sp>
        <p:nvSpPr>
          <p:cNvPr id="10" name="Label"/>
          <p:cNvSpPr txBox="1"/>
          <p:nvPr/>
        </p:nvSpPr>
        <p:spPr>
          <a:xfrm>
            <a:off x="548640" y="2785872"/>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1" name="Observe"/>
          <p:cNvSpPr txBox="1"/>
          <p:nvPr/>
        </p:nvSpPr>
        <p:spPr>
          <a:xfrm>
            <a:off x="548640" y="3197352"/>
            <a:ext cx="1109441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Recipe: combine parallel, add series, total current, then go back</a:t>
            </a:r>
          </a:p>
          <a:p>
            <a:pPr algn="l" marL="274320" indent="-274320">
              <a:lnSpc>
                <a:spcPct val="100000"/>
              </a:lnSpc>
              <a:spcAft>
                <a:spcPts val="1000"/>
              </a:spcAft>
              <a:buClr>
                <a:srgbClr val="00A9CE"/>
              </a:buClr>
              <a:buFont typeface="Arial"/>
              <a:buChar char="•"/>
            </a:pPr>
            <a:r>
              <a:rPr sz="1800" b="0" i="0">
                <a:solidFill>
                  <a:srgbClr val="23232B"/>
                </a:solidFill>
                <a:latin typeface="Calibri"/>
              </a:rPr>
              <a:t>KCL at node A as a cheap check: I</a:t>
            </a:r>
            <a:r>
              <a:rPr sz="1800" b="0" i="0" baseline="-25000">
                <a:solidFill>
                  <a:srgbClr val="23232B"/>
                </a:solidFill>
                <a:latin typeface="Calibri"/>
              </a:rPr>
              <a:t>1</a:t>
            </a:r>
            <a:r>
              <a:rPr sz="1800" b="0" i="0">
                <a:solidFill>
                  <a:srgbClr val="23232B"/>
                </a:solidFill>
                <a:latin typeface="Calibri"/>
              </a:rPr>
              <a:t> = I</a:t>
            </a:r>
            <a:r>
              <a:rPr sz="1800" b="0" i="0" baseline="-25000">
                <a:solidFill>
                  <a:srgbClr val="23232B"/>
                </a:solidFill>
                <a:latin typeface="Calibri"/>
              </a:rPr>
              <a:t>2</a:t>
            </a:r>
            <a:r>
              <a:rPr sz="1800" b="0" i="0">
                <a:solidFill>
                  <a:srgbClr val="23232B"/>
                </a:solidFill>
                <a:latin typeface="Calibri"/>
              </a:rPr>
              <a:t> + I</a:t>
            </a:r>
            <a:r>
              <a:rPr sz="1800" b="0" i="0" baseline="-25000">
                <a:solidFill>
                  <a:srgbClr val="23232B"/>
                </a:solidFill>
                <a:latin typeface="Calibri"/>
              </a:rPr>
              <a:t>3</a:t>
            </a:r>
          </a:p>
          <a:p>
            <a:pPr algn="l" marL="274320" indent="-274320">
              <a:lnSpc>
                <a:spcPct val="100000"/>
              </a:lnSpc>
              <a:spcAft>
                <a:spcPts val="1000"/>
              </a:spcAft>
              <a:buClr>
                <a:srgbClr val="00A9CE"/>
              </a:buClr>
              <a:buFont typeface="Arial"/>
              <a:buChar char="•"/>
            </a:pPr>
            <a:r>
              <a:rPr sz="1800" b="0" i="0">
                <a:solidFill>
                  <a:srgbClr val="23232B"/>
                </a:solidFill>
                <a:latin typeface="Calibri"/>
              </a:rPr>
              <a:t>Compare each resistor's power with a 0.25 W rating</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VOLTAGE DIVIDER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The voltage divider and its load</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unloaded-divider-1.png"/>
          <p:cNvPicPr>
            <a:picLocks noChangeAspect="1"/>
          </p:cNvPicPr>
          <p:nvPr/>
        </p:nvPicPr>
        <p:blipFill>
          <a:blip r:embed="rId2"/>
          <a:stretch>
            <a:fillRect/>
          </a:stretch>
        </p:blipFill>
        <p:spPr>
          <a:xfrm>
            <a:off x="6876288" y="2328956"/>
            <a:ext cx="4565599" cy="2785302"/>
          </a:xfrm>
          <a:prstGeom prst="rect">
            <a:avLst/>
          </a:prstGeom>
        </p:spPr>
      </p:pic>
      <p:sp>
        <p:nvSpPr>
          <p:cNvPr id="6" name="Falstad divider_loaded">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divider_loaded">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basics/divider_loaded</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Compare Vout_open (5.00 V) and Vout_load (3.33 V)</a:t>
            </a:r>
          </a:p>
        </p:txBody>
      </p:sp>
      <p:sp>
        <p:nvSpPr>
          <p:cNvPr id="11" name="Bullets"/>
          <p:cNvSpPr txBox="1"/>
          <p:nvPr/>
        </p:nvSpPr>
        <p:spPr>
          <a:xfrm>
            <a:off x="548640" y="1298448"/>
            <a:ext cx="5806440" cy="247395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Unloaded: the voltages divide in the ratio of the resistances</a:t>
            </a:r>
          </a:p>
          <a:p>
            <a:pPr algn="l" marL="274320" indent="-274320">
              <a:lnSpc>
                <a:spcPct val="100000"/>
              </a:lnSpc>
              <a:spcAft>
                <a:spcPts val="1000"/>
              </a:spcAft>
              <a:buClr>
                <a:srgbClr val="00A9CE"/>
              </a:buClr>
              <a:buFont typeface="Arial"/>
              <a:buChar char="•"/>
            </a:pPr>
            <a:r>
              <a:rPr sz="1800" b="0" i="0">
                <a:solidFill>
                  <a:srgbClr val="23232B"/>
                </a:solidFill>
                <a:latin typeface="Calibri"/>
              </a:rPr>
              <a:t>Seen from the load: V</a:t>
            </a:r>
            <a:r>
              <a:rPr sz="1800" b="0" i="0" baseline="-25000">
                <a:solidFill>
                  <a:srgbClr val="23232B"/>
                </a:solidFill>
                <a:latin typeface="Calibri"/>
              </a:rPr>
              <a:t>th</a:t>
            </a:r>
            <a:r>
              <a:rPr sz="1800" b="0" i="0">
                <a:solidFill>
                  <a:srgbClr val="23232B"/>
                </a:solidFill>
                <a:latin typeface="Calibri"/>
              </a:rPr>
              <a:t> = V</a:t>
            </a:r>
            <a:r>
              <a:rPr sz="1800" b="0" i="0" baseline="-25000">
                <a:solidFill>
                  <a:srgbClr val="23232B"/>
                </a:solidFill>
                <a:latin typeface="Calibri"/>
              </a:rPr>
              <a:t>0</a:t>
            </a:r>
            <a:r>
              <a:rPr sz="1800" b="0" i="0">
                <a:solidFill>
                  <a:srgbClr val="23232B"/>
                </a:solidFill>
                <a:latin typeface="Calibri"/>
              </a:rPr>
              <a:t>·R</a:t>
            </a:r>
            <a:r>
              <a:rPr sz="1800" b="0" i="0" baseline="-25000">
                <a:solidFill>
                  <a:srgbClr val="23232B"/>
                </a:solidFill>
                <a:latin typeface="Calibri"/>
              </a:rPr>
              <a:t>2</a:t>
            </a:r>
            <a:r>
              <a:rPr sz="1800" b="0" i="0">
                <a:solidFill>
                  <a:srgbClr val="23232B"/>
                </a:solidFill>
                <a:latin typeface="Calibri"/>
              </a:rPr>
              <a:t>/(R</a:t>
            </a:r>
            <a:r>
              <a:rPr sz="1800" b="0" i="0" baseline="-25000">
                <a:solidFill>
                  <a:srgbClr val="23232B"/>
                </a:solidFill>
                <a:latin typeface="Calibri"/>
              </a:rPr>
              <a:t>1</a:t>
            </a:r>
            <a:r>
              <a:rPr sz="1800" b="0" i="0">
                <a:solidFill>
                  <a:srgbClr val="23232B"/>
                </a:solidFill>
                <a:latin typeface="Calibri"/>
              </a:rPr>
              <a:t>+R</a:t>
            </a:r>
            <a:r>
              <a:rPr sz="1800" b="0" i="0" baseline="-25000">
                <a:solidFill>
                  <a:srgbClr val="23232B"/>
                </a:solidFill>
                <a:latin typeface="Calibri"/>
              </a:rPr>
              <a:t>2</a:t>
            </a:r>
            <a:r>
              <a:rPr sz="1800" b="0" i="0">
                <a:solidFill>
                  <a:srgbClr val="23232B"/>
                </a:solidFill>
                <a:latin typeface="Calibri"/>
              </a:rPr>
              <a:t>), R</a:t>
            </a:r>
            <a:r>
              <a:rPr sz="1800" b="0" i="0" baseline="-25000">
                <a:solidFill>
                  <a:srgbClr val="23232B"/>
                </a:solidFill>
                <a:latin typeface="Calibri"/>
              </a:rPr>
              <a:t>th</a:t>
            </a:r>
            <a:r>
              <a:rPr sz="1800" b="0" i="0">
                <a:solidFill>
                  <a:srgbClr val="23232B"/>
                </a:solidFill>
                <a:latin typeface="Calibri"/>
              </a:rPr>
              <a:t> = R</a:t>
            </a:r>
            <a:r>
              <a:rPr sz="1800" b="0" i="0" baseline="-25000">
                <a:solidFill>
                  <a:srgbClr val="23232B"/>
                </a:solidFill>
                <a:latin typeface="Calibri"/>
              </a:rPr>
              <a:t>1</a:t>
            </a:r>
            <a:r>
              <a:rPr sz="1800" b="0" i="0">
                <a:solidFill>
                  <a:srgbClr val="23232B"/>
                </a:solidFill>
                <a:latin typeface="Calibri"/>
              </a:rPr>
              <a:t>‖R</a:t>
            </a:r>
            <a:r>
              <a:rPr sz="1800" b="0" i="0" baseline="-25000">
                <a:solidFill>
                  <a:srgbClr val="23232B"/>
                </a:solidFill>
                <a:latin typeface="Calibri"/>
              </a:rPr>
              <a:t>2</a:t>
            </a:r>
          </a:p>
          <a:p>
            <a:pPr algn="l" marL="274320" indent="-274320">
              <a:lnSpc>
                <a:spcPct val="100000"/>
              </a:lnSpc>
              <a:spcAft>
                <a:spcPts val="1000"/>
              </a:spcAft>
              <a:buClr>
                <a:srgbClr val="00A9CE"/>
              </a:buClr>
              <a:buFont typeface="Arial"/>
              <a:buChar char="•"/>
            </a:pPr>
            <a:r>
              <a:rPr sz="1800" b="0" i="0">
                <a:solidFill>
                  <a:srgbClr val="23232B"/>
                </a:solidFill>
                <a:latin typeface="Calibri"/>
              </a:rPr>
              <a:t>R</a:t>
            </a:r>
            <a:r>
              <a:rPr sz="1800" b="0" i="0" baseline="-25000">
                <a:solidFill>
                  <a:srgbClr val="23232B"/>
                </a:solidFill>
                <a:latin typeface="Calibri"/>
              </a:rPr>
              <a:t>L</a:t>
            </a:r>
            <a:r>
              <a:rPr sz="1800" b="0" i="0">
                <a:solidFill>
                  <a:srgbClr val="23232B"/>
                </a:solidFill>
                <a:latin typeface="Calibri"/>
              </a:rPr>
              <a:t> ≥ 10·R</a:t>
            </a:r>
            <a:r>
              <a:rPr sz="1800" b="0" i="0" baseline="-25000">
                <a:solidFill>
                  <a:srgbClr val="23232B"/>
                </a:solidFill>
                <a:latin typeface="Calibri"/>
              </a:rPr>
              <a:t>th</a:t>
            </a:r>
            <a:r>
              <a:rPr sz="1800" b="0" i="0">
                <a:solidFill>
                  <a:srgbClr val="23232B"/>
                </a:solidFill>
                <a:latin typeface="Calibri"/>
              </a:rPr>
              <a:t> for &lt; 10 % error, ≥ 100·R</a:t>
            </a:r>
            <a:r>
              <a:rPr sz="1800" b="0" i="0" baseline="-25000">
                <a:solidFill>
                  <a:srgbClr val="23232B"/>
                </a:solidFill>
                <a:latin typeface="Calibri"/>
              </a:rPr>
              <a:t>th</a:t>
            </a:r>
            <a:r>
              <a:rPr sz="1800" b="0" i="0">
                <a:solidFill>
                  <a:srgbClr val="23232B"/>
                </a:solidFill>
                <a:latin typeface="Calibri"/>
              </a:rPr>
              <a:t> for &lt; 1 % (or buffer it)</a:t>
            </a:r>
          </a:p>
          <a:p>
            <a:pPr algn="l" marL="274320" indent="-274320">
              <a:lnSpc>
                <a:spcPct val="100000"/>
              </a:lnSpc>
              <a:spcAft>
                <a:spcPts val="1000"/>
              </a:spcAft>
              <a:buClr>
                <a:srgbClr val="00A9CE"/>
              </a:buClr>
              <a:buFont typeface="Arial"/>
              <a:buChar char="•"/>
            </a:pPr>
            <a:r>
              <a:rPr sz="1800" b="0" i="0">
                <a:solidFill>
                  <a:srgbClr val="23232B"/>
                </a:solidFill>
                <a:latin typeface="Calibri"/>
              </a:rPr>
              <a:t>Small R: stiff but high cross current; large R: sensitive to every load</a:t>
            </a:r>
          </a:p>
          <a:p>
            <a:pPr algn="l" marL="274320" indent="-274320">
              <a:lnSpc>
                <a:spcPct val="100000"/>
              </a:lnSpc>
              <a:spcAft>
                <a:spcPts val="1000"/>
              </a:spcAft>
              <a:buClr>
                <a:srgbClr val="00A9CE"/>
              </a:buClr>
              <a:buFont typeface="Arial"/>
              <a:buChar char="•"/>
            </a:pPr>
            <a:r>
              <a:rPr sz="1800" b="0" i="0">
                <a:solidFill>
                  <a:srgbClr val="23232B"/>
                </a:solidFill>
                <a:latin typeface="Calibri"/>
              </a:rPr>
              <a:t>Capstone ADC ladder: 8 × 1 kΩ at 4 V, loaded only by comparator inputs</a:t>
            </a:r>
          </a:p>
        </p:txBody>
      </p:sp>
      <p:sp>
        <p:nvSpPr>
          <p:cNvPr id="12" name="Key rule"/>
          <p:cNvSpPr/>
          <p:nvPr/>
        </p:nvSpPr>
        <p:spPr>
          <a:xfrm>
            <a:off x="548640" y="409244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420217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47649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out</a:t>
            </a:r>
            <a:r>
              <a:rPr sz="1700" b="1" i="0">
                <a:solidFill>
                  <a:srgbClr val="4E2A8C"/>
                </a:solidFill>
                <a:latin typeface="Calibri"/>
              </a:rPr>
              <a:t> = V</a:t>
            </a:r>
            <a:r>
              <a:rPr sz="1700" b="1" i="0" baseline="-25000">
                <a:solidFill>
                  <a:srgbClr val="4E2A8C"/>
                </a:solidFill>
                <a:latin typeface="Calibri"/>
              </a:rPr>
              <a:t>0</a:t>
            </a:r>
            <a:r>
              <a:rPr sz="1700" b="1" i="0">
                <a:solidFill>
                  <a:srgbClr val="4E2A8C"/>
                </a:solidFill>
                <a:latin typeface="Calibri"/>
              </a:rPr>
              <a:t>·R</a:t>
            </a:r>
            <a:r>
              <a:rPr sz="1700" b="1" i="0" baseline="-25000">
                <a:solidFill>
                  <a:srgbClr val="4E2A8C"/>
                </a:solidFill>
                <a:latin typeface="Calibri"/>
              </a:rPr>
              <a:t>2</a:t>
            </a:r>
            <a:r>
              <a:rPr sz="1700" b="1" i="0">
                <a:solidFill>
                  <a:srgbClr val="4E2A8C"/>
                </a:solidFill>
                <a:latin typeface="Calibri"/>
              </a:rPr>
              <a:t>/(R</a:t>
            </a:r>
            <a:r>
              <a:rPr sz="1700" b="1" i="0" baseline="-25000">
                <a:solidFill>
                  <a:srgbClr val="4E2A8C"/>
                </a:solidFill>
                <a:latin typeface="Calibri"/>
              </a:rPr>
              <a:t>1</a:t>
            </a:r>
            <a:r>
              <a:rPr sz="1700" b="1" i="0">
                <a:solidFill>
                  <a:srgbClr val="4E2A8C"/>
                </a:solidFill>
                <a:latin typeface="Calibri"/>
              </a:rPr>
              <a:t>+R</a:t>
            </a:r>
            <a:r>
              <a:rPr sz="1700" b="1" i="0" baseline="-25000">
                <a:solidFill>
                  <a:srgbClr val="4E2A8C"/>
                </a:solidFill>
                <a:latin typeface="Calibri"/>
              </a:rPr>
              <a:t>2</a:t>
            </a:r>
            <a:r>
              <a:rPr sz="1700" b="1" i="0">
                <a:solidFill>
                  <a:srgbClr val="4E2A8C"/>
                </a:solidFill>
                <a:latin typeface="Calibri"/>
              </a:rPr>
              <a:t>)</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VOLTAGE DIVIDER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Current divider</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current-divider-1.png"/>
          <p:cNvPicPr>
            <a:picLocks noChangeAspect="1"/>
          </p:cNvPicPr>
          <p:nvPr/>
        </p:nvPicPr>
        <p:blipFill>
          <a:blip r:embed="rId2"/>
          <a:stretch>
            <a:fillRect/>
          </a:stretch>
        </p:blipFill>
        <p:spPr>
          <a:xfrm>
            <a:off x="6876288" y="2649174"/>
            <a:ext cx="4565599" cy="2144866"/>
          </a:xfrm>
          <a:prstGeom prst="rect">
            <a:avLst/>
          </a:prstGeom>
        </p:spPr>
      </p:pic>
      <p:sp>
        <p:nvSpPr>
          <p:cNvPr id="6" name="Falstad current_divider">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current_divider">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basics/current_divider</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10 mA into 1 kΩ ‖ 4.7 kΩ: read 8.25 mA and 1.75 mA</a:t>
            </a:r>
          </a:p>
        </p:txBody>
      </p:sp>
      <p:sp>
        <p:nvSpPr>
          <p:cNvPr id="11" name="Bullets"/>
          <p:cNvSpPr txBox="1"/>
          <p:nvPr/>
        </p:nvSpPr>
        <p:spPr>
          <a:xfrm>
            <a:off x="548640" y="1298448"/>
            <a:ext cx="5806440" cy="3861815"/>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The smaller resistor takes the larger current</a:t>
            </a:r>
          </a:p>
          <a:p>
            <a:pPr algn="l" marL="274320" indent="-274320">
              <a:lnSpc>
                <a:spcPct val="100000"/>
              </a:lnSpc>
              <a:spcAft>
                <a:spcPts val="1000"/>
              </a:spcAft>
              <a:buClr>
                <a:srgbClr val="00A9CE"/>
              </a:buClr>
              <a:buFont typeface="Arial"/>
              <a:buChar char="•"/>
            </a:pPr>
            <a:r>
              <a:rPr sz="2000" b="0" i="0">
                <a:solidFill>
                  <a:srgbClr val="23232B"/>
                </a:solidFill>
                <a:latin typeface="Calibri"/>
              </a:rPr>
              <a:t>I</a:t>
            </a:r>
            <a:r>
              <a:rPr sz="2000" b="0" i="0" baseline="-25000">
                <a:solidFill>
                  <a:srgbClr val="23232B"/>
                </a:solidFill>
                <a:latin typeface="Calibri"/>
              </a:rPr>
              <a:t>1</a:t>
            </a:r>
            <a:r>
              <a:rPr sz="2000" b="0" i="0">
                <a:solidFill>
                  <a:srgbClr val="23232B"/>
                </a:solidFill>
                <a:latin typeface="Calibri"/>
              </a:rPr>
              <a:t> = I·R</a:t>
            </a:r>
            <a:r>
              <a:rPr sz="2000" b="0" i="0" baseline="-25000">
                <a:solidFill>
                  <a:srgbClr val="23232B"/>
                </a:solidFill>
                <a:latin typeface="Calibri"/>
              </a:rPr>
              <a:t>2</a:t>
            </a:r>
            <a:r>
              <a:rPr sz="2000" b="0" i="0">
                <a:solidFill>
                  <a:srgbClr val="23232B"/>
                </a:solidFill>
                <a:latin typeface="Calibri"/>
              </a:rPr>
              <a:t>/(R</a:t>
            </a:r>
            <a:r>
              <a:rPr sz="2000" b="0" i="0" baseline="-25000">
                <a:solidFill>
                  <a:srgbClr val="23232B"/>
                </a:solidFill>
                <a:latin typeface="Calibri"/>
              </a:rPr>
              <a:t>1</a:t>
            </a:r>
            <a:r>
              <a:rPr sz="2000" b="0" i="0">
                <a:solidFill>
                  <a:srgbClr val="23232B"/>
                </a:solidFill>
                <a:latin typeface="Calibri"/>
              </a:rPr>
              <a:t>+R</a:t>
            </a:r>
            <a:r>
              <a:rPr sz="2000" b="0" i="0" baseline="-25000">
                <a:solidFill>
                  <a:srgbClr val="23232B"/>
                </a:solidFill>
                <a:latin typeface="Calibri"/>
              </a:rPr>
              <a:t>2</a:t>
            </a:r>
            <a:r>
              <a:rPr sz="2000" b="0" i="0">
                <a:solidFill>
                  <a:srgbClr val="23232B"/>
                </a:solidFill>
                <a:latin typeface="Calibri"/>
              </a:rPr>
              <a:t>), I</a:t>
            </a:r>
            <a:r>
              <a:rPr sz="2000" b="0" i="0" baseline="-25000">
                <a:solidFill>
                  <a:srgbClr val="23232B"/>
                </a:solidFill>
                <a:latin typeface="Calibri"/>
              </a:rPr>
              <a:t>2</a:t>
            </a:r>
            <a:r>
              <a:rPr sz="2000" b="0" i="0">
                <a:solidFill>
                  <a:srgbClr val="23232B"/>
                </a:solidFill>
                <a:latin typeface="Calibri"/>
              </a:rPr>
              <a:t> = I·R</a:t>
            </a:r>
            <a:r>
              <a:rPr sz="2000" b="0" i="0" baseline="-25000">
                <a:solidFill>
                  <a:srgbClr val="23232B"/>
                </a:solidFill>
                <a:latin typeface="Calibri"/>
              </a:rPr>
              <a:t>1</a:t>
            </a:r>
            <a:r>
              <a:rPr sz="2000" b="0" i="0">
                <a:solidFill>
                  <a:srgbClr val="23232B"/>
                </a:solidFill>
                <a:latin typeface="Calibri"/>
              </a:rPr>
              <a:t>/(R</a:t>
            </a:r>
            <a:r>
              <a:rPr sz="2000" b="0" i="0" baseline="-25000">
                <a:solidFill>
                  <a:srgbClr val="23232B"/>
                </a:solidFill>
                <a:latin typeface="Calibri"/>
              </a:rPr>
              <a:t>1</a:t>
            </a:r>
            <a:r>
              <a:rPr sz="2000" b="0" i="0">
                <a:solidFill>
                  <a:srgbClr val="23232B"/>
                </a:solidFill>
                <a:latin typeface="Calibri"/>
              </a:rPr>
              <a:t>+R</a:t>
            </a:r>
            <a:r>
              <a:rPr sz="2000" b="0" i="0" baseline="-25000">
                <a:solidFill>
                  <a:srgbClr val="23232B"/>
                </a:solidFill>
                <a:latin typeface="Calibri"/>
              </a:rPr>
              <a:t>2</a:t>
            </a:r>
            <a:r>
              <a:rPr sz="2000" b="0" i="0">
                <a:solidFill>
                  <a:srgbClr val="23232B"/>
                </a:solidFill>
                <a:latin typeface="Calibri"/>
              </a:rPr>
              <a:t>)</a:t>
            </a:r>
          </a:p>
          <a:p>
            <a:pPr algn="l" marL="274320" indent="-274320">
              <a:lnSpc>
                <a:spcPct val="100000"/>
              </a:lnSpc>
              <a:spcAft>
                <a:spcPts val="1000"/>
              </a:spcAft>
              <a:buClr>
                <a:srgbClr val="00A9CE"/>
              </a:buClr>
              <a:buFont typeface="Arial"/>
              <a:buChar char="•"/>
            </a:pPr>
            <a:r>
              <a:rPr sz="2000" b="0" i="0">
                <a:solidFill>
                  <a:srgbClr val="23232B"/>
                </a:solidFill>
                <a:latin typeface="Calibri"/>
              </a:rPr>
              <a:t>Potentiometer wiper: V</a:t>
            </a:r>
            <a:r>
              <a:rPr sz="2000" b="0" i="0" baseline="-25000">
                <a:solidFill>
                  <a:srgbClr val="23232B"/>
                </a:solidFill>
                <a:latin typeface="Calibri"/>
              </a:rPr>
              <a:t>out</a:t>
            </a:r>
            <a:r>
              <a:rPr sz="2000" b="0" i="0">
                <a:solidFill>
                  <a:srgbClr val="23232B"/>
                </a:solidFill>
                <a:latin typeface="Calibri"/>
              </a:rPr>
              <a:t> = x·V</a:t>
            </a:r>
            <a:r>
              <a:rPr sz="2000" b="0" i="0" baseline="-25000">
                <a:solidFill>
                  <a:srgbClr val="23232B"/>
                </a:solidFill>
                <a:latin typeface="Calibri"/>
              </a:rPr>
              <a:t>0</a:t>
            </a:r>
            <a:r>
              <a:rPr sz="2000" b="0" i="0">
                <a:solidFill>
                  <a:srgbClr val="23232B"/>
                </a:solidFill>
                <a:latin typeface="Calibri"/>
              </a:rPr>
              <a:t>; load the wiper only lightly</a:t>
            </a:r>
          </a:p>
        </p:txBody>
      </p:sp>
      <p:pic>
        <p:nvPicPr>
          <p:cNvPr id="12"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EQUIVALENT SOURCES AND SUPERPOSITION</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Thevenin equivalent and load line</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load-line-of-a-real-source-1.png"/>
          <p:cNvPicPr>
            <a:picLocks noChangeAspect="1"/>
          </p:cNvPicPr>
          <p:nvPr/>
        </p:nvPicPr>
        <p:blipFill>
          <a:blip r:embed="rId2"/>
          <a:stretch>
            <a:fillRect/>
          </a:stretch>
        </p:blipFill>
        <p:spPr>
          <a:xfrm>
            <a:off x="6876288" y="2532309"/>
            <a:ext cx="4565599" cy="2378597"/>
          </a:xfrm>
          <a:prstGeom prst="rect">
            <a:avLst/>
          </a:prstGeom>
        </p:spPr>
      </p:pic>
      <p:sp>
        <p:nvSpPr>
          <p:cNvPr id="6" name="Falstad thevenin">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thevenin">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basics/thevenin</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VL_orig = VL_equiv = 3.10 V; short R</a:t>
            </a:r>
            <a:r>
              <a:rPr sz="1300" b="0" i="0" baseline="-25000">
                <a:solidFill>
                  <a:srgbClr val="23232B"/>
                </a:solidFill>
                <a:latin typeface="Calibri"/>
              </a:rPr>
              <a:t>L</a:t>
            </a:r>
            <a:r>
              <a:rPr sz="1300" b="0" i="0">
                <a:solidFill>
                  <a:srgbClr val="23232B"/>
                </a:solidFill>
                <a:latin typeface="Calibri"/>
              </a:rPr>
              <a:t> to read I</a:t>
            </a:r>
            <a:r>
              <a:rPr sz="1300" b="0" i="0" baseline="-25000">
                <a:solidFill>
                  <a:srgbClr val="23232B"/>
                </a:solidFill>
                <a:latin typeface="Calibri"/>
              </a:rPr>
              <a:t>sc</a:t>
            </a:r>
          </a:p>
        </p:txBody>
      </p:sp>
      <p:sp>
        <p:nvSpPr>
          <p:cNvPr id="11" name="Bullets"/>
          <p:cNvSpPr txBox="1"/>
          <p:nvPr/>
        </p:nvSpPr>
        <p:spPr>
          <a:xfrm>
            <a:off x="548640" y="1298448"/>
            <a:ext cx="5806440" cy="25603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Any linear two-terminal network = V</a:t>
            </a:r>
            <a:r>
              <a:rPr sz="2000" b="0" i="0" baseline="-25000">
                <a:solidFill>
                  <a:srgbClr val="23232B"/>
                </a:solidFill>
                <a:latin typeface="Calibri"/>
              </a:rPr>
              <a:t>th</a:t>
            </a:r>
            <a:r>
              <a:rPr sz="2000" b="0" i="0">
                <a:solidFill>
                  <a:srgbClr val="23232B"/>
                </a:solidFill>
                <a:latin typeface="Calibri"/>
              </a:rPr>
              <a:t> in series with R</a:t>
            </a:r>
            <a:r>
              <a:rPr sz="2000" b="0" i="0" baseline="-25000">
                <a:solidFill>
                  <a:srgbClr val="23232B"/>
                </a:solidFill>
                <a:latin typeface="Calibri"/>
              </a:rPr>
              <a:t>th</a:t>
            </a:r>
          </a:p>
          <a:p>
            <a:pPr algn="l" marL="274320" indent="-274320">
              <a:lnSpc>
                <a:spcPct val="100000"/>
              </a:lnSpc>
              <a:spcAft>
                <a:spcPts val="1000"/>
              </a:spcAft>
              <a:buClr>
                <a:srgbClr val="00A9CE"/>
              </a:buClr>
              <a:buFont typeface="Arial"/>
              <a:buChar char="•"/>
            </a:pPr>
            <a:r>
              <a:rPr sz="2000" b="0" i="0">
                <a:solidFill>
                  <a:srgbClr val="23232B"/>
                </a:solidFill>
                <a:latin typeface="Calibri"/>
              </a:rPr>
              <a:t>V</a:t>
            </a:r>
            <a:r>
              <a:rPr sz="2000" b="0" i="0" baseline="-25000">
                <a:solidFill>
                  <a:srgbClr val="23232B"/>
                </a:solidFill>
                <a:latin typeface="Calibri"/>
              </a:rPr>
              <a:t>th</a:t>
            </a:r>
            <a:r>
              <a:rPr sz="2000" b="0" i="0">
                <a:solidFill>
                  <a:srgbClr val="23232B"/>
                </a:solidFill>
                <a:latin typeface="Calibri"/>
              </a:rPr>
              <a:t> = V</a:t>
            </a:r>
            <a:r>
              <a:rPr sz="2000" b="0" i="0" baseline="-25000">
                <a:solidFill>
                  <a:srgbClr val="23232B"/>
                </a:solidFill>
                <a:latin typeface="Calibri"/>
              </a:rPr>
              <a:t>oc</a:t>
            </a:r>
            <a:r>
              <a:rPr sz="2000" b="0" i="0">
                <a:solidFill>
                  <a:srgbClr val="23232B"/>
                </a:solidFill>
                <a:latin typeface="Calibri"/>
              </a:rPr>
              <a:t>, R</a:t>
            </a:r>
            <a:r>
              <a:rPr sz="2000" b="0" i="0" baseline="-25000">
                <a:solidFill>
                  <a:srgbClr val="23232B"/>
                </a:solidFill>
                <a:latin typeface="Calibri"/>
              </a:rPr>
              <a:t>th</a:t>
            </a:r>
            <a:r>
              <a:rPr sz="2000" b="0" i="0">
                <a:solidFill>
                  <a:srgbClr val="23232B"/>
                </a:solidFill>
                <a:latin typeface="Calibri"/>
              </a:rPr>
              <a:t> = V</a:t>
            </a:r>
            <a:r>
              <a:rPr sz="2000" b="0" i="0" baseline="-25000">
                <a:solidFill>
                  <a:srgbClr val="23232B"/>
                </a:solidFill>
                <a:latin typeface="Calibri"/>
              </a:rPr>
              <a:t>oc</a:t>
            </a:r>
            <a:r>
              <a:rPr sz="2000" b="0" i="0">
                <a:solidFill>
                  <a:srgbClr val="23232B"/>
                </a:solidFill>
                <a:latin typeface="Calibri"/>
              </a:rPr>
              <a:t>/I</a:t>
            </a:r>
            <a:r>
              <a:rPr sz="2000" b="0" i="0" baseline="-25000">
                <a:solidFill>
                  <a:srgbClr val="23232B"/>
                </a:solidFill>
                <a:latin typeface="Calibri"/>
              </a:rPr>
              <a:t>sc</a:t>
            </a:r>
            <a:r>
              <a:rPr sz="2000" b="0" i="0">
                <a:solidFill>
                  <a:srgbClr val="23232B"/>
                </a:solidFill>
                <a:latin typeface="Calibri"/>
              </a:rPr>
              <a:t>, or set sources to zero</a:t>
            </a:r>
          </a:p>
          <a:p>
            <a:pPr algn="l" marL="274320" indent="-274320">
              <a:lnSpc>
                <a:spcPct val="100000"/>
              </a:lnSpc>
              <a:spcAft>
                <a:spcPts val="1000"/>
              </a:spcAft>
              <a:buClr>
                <a:srgbClr val="00A9CE"/>
              </a:buClr>
              <a:buFont typeface="Arial"/>
              <a:buChar char="•"/>
            </a:pPr>
            <a:r>
              <a:rPr sz="2000" b="0" i="0">
                <a:solidFill>
                  <a:srgbClr val="23232B"/>
                </a:solidFill>
                <a:latin typeface="Calibri"/>
              </a:rPr>
              <a:t>Zeroed sources: voltage source → wire, current source → open</a:t>
            </a:r>
          </a:p>
          <a:p>
            <a:pPr algn="l" marL="274320" indent="-274320">
              <a:lnSpc>
                <a:spcPct val="100000"/>
              </a:lnSpc>
              <a:spcAft>
                <a:spcPts val="1000"/>
              </a:spcAft>
              <a:buClr>
                <a:srgbClr val="00A9CE"/>
              </a:buClr>
              <a:buFont typeface="Arial"/>
              <a:buChar char="•"/>
            </a:pPr>
            <a:r>
              <a:rPr sz="2000" b="0" i="0">
                <a:solidFill>
                  <a:srgbClr val="23232B"/>
                </a:solidFill>
                <a:latin typeface="Calibri"/>
              </a:rPr>
              <a:t>Operating point: source line V</a:t>
            </a:r>
            <a:r>
              <a:rPr sz="2000" b="0" i="0" baseline="-25000">
                <a:solidFill>
                  <a:srgbClr val="23232B"/>
                </a:solidFill>
                <a:latin typeface="Calibri"/>
              </a:rPr>
              <a:t>th</a:t>
            </a:r>
            <a:r>
              <a:rPr sz="2000" b="0" i="0">
                <a:solidFill>
                  <a:srgbClr val="23232B"/>
                </a:solidFill>
                <a:latin typeface="Calibri"/>
              </a:rPr>
              <a:t> − R</a:t>
            </a:r>
            <a:r>
              <a:rPr sz="2000" b="0" i="0" baseline="-25000">
                <a:solidFill>
                  <a:srgbClr val="23232B"/>
                </a:solidFill>
                <a:latin typeface="Calibri"/>
              </a:rPr>
              <a:t>th</a:t>
            </a:r>
            <a:r>
              <a:rPr sz="2000" b="0" i="0">
                <a:solidFill>
                  <a:srgbClr val="23232B"/>
                </a:solidFill>
                <a:latin typeface="Calibri"/>
              </a:rPr>
              <a:t>·I</a:t>
            </a:r>
            <a:r>
              <a:rPr sz="2000" b="0" i="0" baseline="-25000">
                <a:solidFill>
                  <a:srgbClr val="23232B"/>
                </a:solidFill>
                <a:latin typeface="Calibri"/>
              </a:rPr>
              <a:t>L</a:t>
            </a:r>
            <a:r>
              <a:rPr sz="2000" b="0" i="0">
                <a:solidFill>
                  <a:srgbClr val="23232B"/>
                </a:solidFill>
                <a:latin typeface="Calibri"/>
              </a:rPr>
              <a:t> meets the load line</a:t>
            </a:r>
          </a:p>
        </p:txBody>
      </p:sp>
      <p:sp>
        <p:nvSpPr>
          <p:cNvPr id="12" name="Key rule"/>
          <p:cNvSpPr/>
          <p:nvPr/>
        </p:nvSpPr>
        <p:spPr>
          <a:xfrm>
            <a:off x="548640" y="41788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42885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5628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R</a:t>
            </a:r>
            <a:r>
              <a:rPr sz="1700" b="1" i="0" baseline="-25000">
                <a:solidFill>
                  <a:srgbClr val="4E2A8C"/>
                </a:solidFill>
                <a:latin typeface="Calibri"/>
              </a:rPr>
              <a:t>th</a:t>
            </a:r>
            <a:r>
              <a:rPr sz="1700" b="1" i="0">
                <a:solidFill>
                  <a:srgbClr val="4E2A8C"/>
                </a:solidFill>
                <a:latin typeface="Calibri"/>
              </a:rPr>
              <a:t> = V</a:t>
            </a:r>
            <a:r>
              <a:rPr sz="1700" b="1" i="0" baseline="-25000">
                <a:solidFill>
                  <a:srgbClr val="4E2A8C"/>
                </a:solidFill>
                <a:latin typeface="Calibri"/>
              </a:rPr>
              <a:t>oc</a:t>
            </a:r>
            <a:r>
              <a:rPr sz="1700" b="1" i="0">
                <a:solidFill>
                  <a:srgbClr val="4E2A8C"/>
                </a:solidFill>
                <a:latin typeface="Calibri"/>
              </a:rPr>
              <a:t>/I</a:t>
            </a:r>
            <a:r>
              <a:rPr sz="1700" b="1" i="0" baseline="-25000">
                <a:solidFill>
                  <a:srgbClr val="4E2A8C"/>
                </a:solidFill>
                <a:latin typeface="Calibri"/>
              </a:rPr>
              <a:t>sc</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EQUIVALENT SOURCES AND SUPERPOSITION</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superposition</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superposition-1.png"/>
          <p:cNvPicPr>
            <a:picLocks noChangeAspect="1"/>
          </p:cNvPicPr>
          <p:nvPr/>
        </p:nvPicPr>
        <p:blipFill>
          <a:blip r:embed="rId2"/>
          <a:stretch>
            <a:fillRect/>
          </a:stretch>
        </p:blipFill>
        <p:spPr>
          <a:xfrm>
            <a:off x="749808" y="2463167"/>
            <a:ext cx="5998464" cy="2516881"/>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superposition">
            <a:hlinkClick r:id="rId3"/>
          </p:cNvPr>
          <p:cNvSpPr/>
          <p:nvPr/>
        </p:nvSpPr>
        <p:spPr>
          <a:xfrm>
            <a:off x="7269479" y="1709928"/>
            <a:ext cx="437357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superposition">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basics/superposition</a:t>
            </a:r>
          </a:p>
        </p:txBody>
      </p:sp>
      <p:sp>
        <p:nvSpPr>
          <p:cNvPr id="11" name="Falstad hint"/>
          <p:cNvSpPr txBox="1"/>
          <p:nvPr/>
        </p:nvSpPr>
        <p:spPr>
          <a:xfrm>
            <a:off x="7955279" y="2093976"/>
            <a:ext cx="359633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Read VX1, VX2 and VX: 6.00 V + 1.25 V = 7.25 V</a:t>
            </a:r>
          </a:p>
        </p:txBody>
      </p:sp>
      <p:sp>
        <p:nvSpPr>
          <p:cNvPr id="12" name="Label"/>
          <p:cNvSpPr txBox="1"/>
          <p:nvPr/>
        </p:nvSpPr>
        <p:spPr>
          <a:xfrm>
            <a:off x="7269479" y="2785872"/>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197352"/>
            <a:ext cx="437357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Each source alone, the other set to zero, then add the results</a:t>
            </a:r>
          </a:p>
          <a:p>
            <a:pPr algn="l" marL="274320" indent="-274320">
              <a:lnSpc>
                <a:spcPct val="100000"/>
              </a:lnSpc>
              <a:spcAft>
                <a:spcPts val="1000"/>
              </a:spcAft>
              <a:buClr>
                <a:srgbClr val="00A9CE"/>
              </a:buClr>
              <a:buFont typeface="Arial"/>
              <a:buChar char="•"/>
            </a:pPr>
            <a:r>
              <a:rPr sz="1800" b="0" i="0">
                <a:solidFill>
                  <a:srgbClr val="23232B"/>
                </a:solidFill>
                <a:latin typeface="Calibri"/>
              </a:rPr>
              <a:t>Only for linear circuits: fails when a diode switches or an op-amp clips</a:t>
            </a:r>
          </a:p>
          <a:p>
            <a:pPr algn="l" marL="274320" indent="-274320">
              <a:lnSpc>
                <a:spcPct val="100000"/>
              </a:lnSpc>
              <a:spcAft>
                <a:spcPts val="1000"/>
              </a:spcAft>
              <a:buClr>
                <a:srgbClr val="00A9CE"/>
              </a:buClr>
              <a:buFont typeface="Arial"/>
              <a:buChar char="•"/>
            </a:pPr>
            <a:r>
              <a:rPr sz="1800" b="0" i="0">
                <a:solidFill>
                  <a:srgbClr val="23232B"/>
                </a:solidFill>
                <a:latin typeface="Calibri"/>
              </a:rPr>
              <a:t>Not valid for power (quadratic in current)</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LED WITH SERIES RESISTOR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The LED: a nonlinear load</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led-characteristic-1.png"/>
          <p:cNvPicPr>
            <a:picLocks noChangeAspect="1"/>
          </p:cNvPicPr>
          <p:nvPr/>
        </p:nvPicPr>
        <p:blipFill>
          <a:blip r:embed="rId2"/>
          <a:stretch>
            <a:fillRect/>
          </a:stretch>
        </p:blipFill>
        <p:spPr>
          <a:xfrm>
            <a:off x="6876288" y="2522445"/>
            <a:ext cx="4565599" cy="2398325"/>
          </a:xfrm>
          <a:prstGeom prst="rect">
            <a:avLst/>
          </a:prstGeom>
        </p:spPr>
      </p:pic>
      <p:sp>
        <p:nvSpPr>
          <p:cNvPr id="6" name="Bullets"/>
          <p:cNvSpPr txBox="1"/>
          <p:nvPr/>
        </p:nvSpPr>
        <p:spPr>
          <a:xfrm>
            <a:off x="548640" y="1298448"/>
            <a:ext cx="5806440" cy="48463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Current rises exponentially: never connect an LED directly to a source</a:t>
            </a:r>
          </a:p>
          <a:p>
            <a:pPr algn="l" marL="274320" indent="-274320">
              <a:lnSpc>
                <a:spcPct val="100000"/>
              </a:lnSpc>
              <a:spcAft>
                <a:spcPts val="1000"/>
              </a:spcAft>
              <a:buClr>
                <a:srgbClr val="00A9CE"/>
              </a:buClr>
              <a:buFont typeface="Arial"/>
              <a:buChar char="•"/>
            </a:pPr>
            <a:r>
              <a:rPr sz="2000" b="0" i="0">
                <a:solidFill>
                  <a:srgbClr val="23232B"/>
                </a:solidFill>
                <a:latin typeface="Calibri"/>
              </a:rPr>
              <a:t>Model: constant V</a:t>
            </a:r>
            <a:r>
              <a:rPr sz="2000" b="0" i="0" baseline="-25000">
                <a:solidFill>
                  <a:srgbClr val="23232B"/>
                </a:solidFill>
                <a:latin typeface="Calibri"/>
              </a:rPr>
              <a:t>F</a:t>
            </a:r>
            <a:r>
              <a:rPr sz="2000" b="0" i="0">
                <a:solidFill>
                  <a:srgbClr val="23232B"/>
                </a:solidFill>
                <a:latin typeface="Calibri"/>
              </a:rPr>
              <a:t>; red ≈ 2.0 V, green/blue/white (InGaN) ≈ 3.0 V</a:t>
            </a:r>
          </a:p>
          <a:p>
            <a:pPr algn="l" marL="274320" indent="-274320">
              <a:lnSpc>
                <a:spcPct val="100000"/>
              </a:lnSpc>
              <a:spcAft>
                <a:spcPts val="1000"/>
              </a:spcAft>
              <a:buClr>
                <a:srgbClr val="00A9CE"/>
              </a:buClr>
              <a:buFont typeface="Arial"/>
              <a:buChar char="•"/>
            </a:pPr>
            <a:r>
              <a:rPr sz="2000" b="0" i="0">
                <a:solidFill>
                  <a:srgbClr val="23232B"/>
                </a:solidFill>
                <a:latin typeface="Calibri"/>
              </a:rPr>
              <a:t>Standard LEDs ≤ 20 mA; modern ones are visible at 2 … 5 mA</a:t>
            </a:r>
          </a:p>
          <a:p>
            <a:pPr algn="l" marL="274320" indent="-274320">
              <a:lnSpc>
                <a:spcPct val="100000"/>
              </a:lnSpc>
              <a:spcAft>
                <a:spcPts val="1000"/>
              </a:spcAft>
              <a:buClr>
                <a:srgbClr val="00A9CE"/>
              </a:buClr>
              <a:buFont typeface="Arial"/>
              <a:buChar char="•"/>
            </a:pPr>
            <a:r>
              <a:rPr sz="2000" b="0" i="0">
                <a:solidFill>
                  <a:srgbClr val="23232B"/>
                </a:solidFill>
                <a:latin typeface="Calibri"/>
              </a:rPr>
              <a:t>Reverse voltage only about 5 V: an LED is not a rectifier</a:t>
            </a:r>
          </a:p>
        </p:txBody>
      </p:sp>
      <p:pic>
        <p:nvPicPr>
          <p:cNvPr id="7"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8"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9"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LED WITH SERIES RESISTOR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Design recipe: LED series resistor</a:t>
            </a:r>
          </a:p>
        </p:txBody>
      </p:sp>
      <p:sp>
        <p:nvSpPr>
          <p:cNvPr id="4" name="Figure panel"/>
          <p:cNvSpPr/>
          <p:nvPr/>
        </p:nvSpPr>
        <p:spPr>
          <a:xfrm>
            <a:off x="6903719" y="1298448"/>
            <a:ext cx="4739335" cy="4846320"/>
          </a:xfrm>
          <a:prstGeom prst="roundRect">
            <a:avLst>
              <a:gd name="adj" fmla="val 2315"/>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dimensioning-the-series-resistor-1.png"/>
          <p:cNvPicPr>
            <a:picLocks noChangeAspect="1"/>
          </p:cNvPicPr>
          <p:nvPr/>
        </p:nvPicPr>
        <p:blipFill>
          <a:blip r:embed="rId2"/>
          <a:stretch>
            <a:fillRect/>
          </a:stretch>
        </p:blipFill>
        <p:spPr>
          <a:xfrm>
            <a:off x="7189729" y="1499616"/>
            <a:ext cx="4167315" cy="4443983"/>
          </a:xfrm>
          <a:prstGeom prst="rect">
            <a:avLst/>
          </a:prstGeom>
        </p:spPr>
      </p:pic>
      <p:sp>
        <p:nvSpPr>
          <p:cNvPr id="6" name="Step 1"/>
          <p:cNvSpPr/>
          <p:nvPr/>
        </p:nvSpPr>
        <p:spPr>
          <a:xfrm>
            <a:off x="548640" y="1344168"/>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44168"/>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1</a:t>
            </a:r>
          </a:p>
        </p:txBody>
      </p:sp>
      <p:sp>
        <p:nvSpPr>
          <p:cNvPr id="8" name="Step text 1"/>
          <p:cNvSpPr txBox="1"/>
          <p:nvPr/>
        </p:nvSpPr>
        <p:spPr>
          <a:xfrm>
            <a:off x="1280160" y="1298448"/>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Take V</a:t>
            </a:r>
            <a:r>
              <a:rPr sz="2000" b="0" i="0" baseline="-25000">
                <a:solidFill>
                  <a:srgbClr val="23232B"/>
                </a:solidFill>
                <a:latin typeface="Calibri"/>
              </a:rPr>
              <a:t>F</a:t>
            </a:r>
            <a:r>
              <a:rPr sz="2000" b="0" i="0">
                <a:solidFill>
                  <a:srgbClr val="23232B"/>
                </a:solidFill>
                <a:latin typeface="Calibri"/>
              </a:rPr>
              <a:t> from the datasheet at the desired current (red 2.0 V, blue 3.0 V)</a:t>
            </a:r>
          </a:p>
        </p:txBody>
      </p:sp>
      <p:sp>
        <p:nvSpPr>
          <p:cNvPr id="9" name="Step 2"/>
          <p:cNvSpPr/>
          <p:nvPr/>
        </p:nvSpPr>
        <p:spPr>
          <a:xfrm>
            <a:off x="548640" y="2154936"/>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54936"/>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2</a:t>
            </a:r>
          </a:p>
        </p:txBody>
      </p:sp>
      <p:sp>
        <p:nvSpPr>
          <p:cNvPr id="11" name="Step text 2"/>
          <p:cNvSpPr txBox="1"/>
          <p:nvPr/>
        </p:nvSpPr>
        <p:spPr>
          <a:xfrm>
            <a:off x="1280160" y="2109216"/>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Choose I</a:t>
            </a:r>
            <a:r>
              <a:rPr sz="2000" b="0" i="0" baseline="-25000">
                <a:solidFill>
                  <a:srgbClr val="23232B"/>
                </a:solidFill>
                <a:latin typeface="Calibri"/>
              </a:rPr>
              <a:t>F</a:t>
            </a:r>
            <a:r>
              <a:rPr sz="2000" b="0" i="0">
                <a:solidFill>
                  <a:srgbClr val="23232B"/>
                </a:solidFill>
                <a:latin typeface="Calibri"/>
              </a:rPr>
              <a:t>: 2 … 10 mA for an indicator; check the driver's maximum</a:t>
            </a:r>
          </a:p>
        </p:txBody>
      </p:sp>
      <p:sp>
        <p:nvSpPr>
          <p:cNvPr id="12" name="Step 3"/>
          <p:cNvSpPr/>
          <p:nvPr/>
        </p:nvSpPr>
        <p:spPr>
          <a:xfrm>
            <a:off x="548640" y="2965704"/>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65704"/>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3</a:t>
            </a:r>
          </a:p>
        </p:txBody>
      </p:sp>
      <p:sp>
        <p:nvSpPr>
          <p:cNvPr id="14" name="Step text 3"/>
          <p:cNvSpPr txBox="1"/>
          <p:nvPr/>
        </p:nvSpPr>
        <p:spPr>
          <a:xfrm>
            <a:off x="1280160" y="2919984"/>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R = (V</a:t>
            </a:r>
            <a:r>
              <a:rPr sz="2000" b="0" i="0" baseline="-25000">
                <a:solidFill>
                  <a:srgbClr val="23232B"/>
                </a:solidFill>
                <a:latin typeface="Calibri"/>
              </a:rPr>
              <a:t>S</a:t>
            </a:r>
            <a:r>
              <a:rPr sz="2000" b="0" i="0">
                <a:solidFill>
                  <a:srgbClr val="23232B"/>
                </a:solidFill>
                <a:latin typeface="Calibri"/>
              </a:rPr>
              <a:t> − V</a:t>
            </a:r>
            <a:r>
              <a:rPr sz="2000" b="0" i="0" baseline="-25000">
                <a:solidFill>
                  <a:srgbClr val="23232B"/>
                </a:solidFill>
                <a:latin typeface="Calibri"/>
              </a:rPr>
              <a:t>F</a:t>
            </a:r>
            <a:r>
              <a:rPr sz="2000" b="0" i="0">
                <a:solidFill>
                  <a:srgbClr val="23232B"/>
                </a:solidFill>
                <a:latin typeface="Calibri"/>
              </a:rPr>
              <a:t>)/I</a:t>
            </a:r>
            <a:r>
              <a:rPr sz="2000" b="0" i="0" baseline="-25000">
                <a:solidFill>
                  <a:srgbClr val="23232B"/>
                </a:solidFill>
                <a:latin typeface="Calibri"/>
              </a:rPr>
              <a:t>F</a:t>
            </a:r>
            <a:r>
              <a:rPr sz="2000" b="0" i="0">
                <a:solidFill>
                  <a:srgbClr val="23232B"/>
                </a:solidFill>
                <a:latin typeface="Calibri"/>
              </a:rPr>
              <a:t>, round up to the next E12/E24 value</a:t>
            </a:r>
          </a:p>
        </p:txBody>
      </p:sp>
      <p:sp>
        <p:nvSpPr>
          <p:cNvPr id="15" name="Step 4"/>
          <p:cNvSpPr/>
          <p:nvPr/>
        </p:nvSpPr>
        <p:spPr>
          <a:xfrm>
            <a:off x="548640" y="3776472"/>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776472"/>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4</a:t>
            </a:r>
          </a:p>
        </p:txBody>
      </p:sp>
      <p:sp>
        <p:nvSpPr>
          <p:cNvPr id="17" name="Step text 4"/>
          <p:cNvSpPr txBox="1"/>
          <p:nvPr/>
        </p:nvSpPr>
        <p:spPr>
          <a:xfrm>
            <a:off x="1280160" y="3861816"/>
            <a:ext cx="5166359"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Recalculate I</a:t>
            </a:r>
            <a:r>
              <a:rPr sz="2000" b="0" i="0" baseline="-25000">
                <a:solidFill>
                  <a:srgbClr val="23232B"/>
                </a:solidFill>
                <a:latin typeface="Calibri"/>
              </a:rPr>
              <a:t>F</a:t>
            </a:r>
            <a:r>
              <a:rPr sz="2000" b="0" i="0">
                <a:solidFill>
                  <a:srgbClr val="23232B"/>
                </a:solidFill>
                <a:latin typeface="Calibri"/>
              </a:rPr>
              <a:t>, check P</a:t>
            </a:r>
            <a:r>
              <a:rPr sz="2000" b="0" i="0" baseline="-25000">
                <a:solidFill>
                  <a:srgbClr val="23232B"/>
                </a:solidFill>
                <a:latin typeface="Calibri"/>
              </a:rPr>
              <a:t>R</a:t>
            </a:r>
            <a:r>
              <a:rPr sz="2000" b="0" i="0">
                <a:solidFill>
                  <a:srgbClr val="23232B"/>
                </a:solidFill>
                <a:latin typeface="Calibri"/>
              </a:rPr>
              <a:t> = I</a:t>
            </a:r>
            <a:r>
              <a:rPr sz="2000" b="0" i="0" baseline="-25000">
                <a:solidFill>
                  <a:srgbClr val="23232B"/>
                </a:solidFill>
                <a:latin typeface="Calibri"/>
              </a:rPr>
              <a:t>F</a:t>
            </a:r>
            <a:r>
              <a:rPr sz="2000" b="0" i="0" baseline="30000">
                <a:solidFill>
                  <a:srgbClr val="23232B"/>
                </a:solidFill>
                <a:latin typeface="Calibri"/>
              </a:rPr>
              <a:t>2</a:t>
            </a:r>
            <a:r>
              <a:rPr sz="2000" b="0" i="0">
                <a:solidFill>
                  <a:srgbClr val="23232B"/>
                </a:solidFill>
                <a:latin typeface="Calibri"/>
              </a:rPr>
              <a:t>·R against the rating</a:t>
            </a:r>
          </a:p>
        </p:txBody>
      </p:sp>
      <p:pic>
        <p:nvPicPr>
          <p:cNvPr id="18"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9"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20"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LED WITH SERIES RESISTOR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LED on a logic output</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driving-an-led-from-a-logic-output-2.png"/>
          <p:cNvPicPr>
            <a:picLocks noChangeAspect="1"/>
          </p:cNvPicPr>
          <p:nvPr/>
        </p:nvPicPr>
        <p:blipFill>
          <a:blip r:embed="rId2"/>
          <a:stretch>
            <a:fillRect/>
          </a:stretch>
        </p:blipFill>
        <p:spPr>
          <a:xfrm>
            <a:off x="1172474" y="1499616"/>
            <a:ext cx="5153130" cy="4443983"/>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led_resistor">
            <a:hlinkClick r:id="rId3"/>
          </p:cNvPr>
          <p:cNvSpPr/>
          <p:nvPr/>
        </p:nvSpPr>
        <p:spPr>
          <a:xfrm>
            <a:off x="7269479" y="1709928"/>
            <a:ext cx="4373575" cy="908304"/>
          </a:xfrm>
          <a:prstGeom prst="roundRect">
            <a:avLst>
              <a:gd name="adj" fmla="val 1208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96291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208178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led_resistor">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basics/led_resistor</a:t>
            </a:r>
          </a:p>
        </p:txBody>
      </p:sp>
      <p:sp>
        <p:nvSpPr>
          <p:cNvPr id="11" name="Falstad hint"/>
          <p:cNvSpPr txBox="1"/>
          <p:nvPr/>
        </p:nvSpPr>
        <p:spPr>
          <a:xfrm>
            <a:off x="7955279" y="2093976"/>
            <a:ext cx="3596335" cy="41452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Read VLED (1.78 V), move the R slider, watch the blinking pair</a:t>
            </a:r>
          </a:p>
        </p:txBody>
      </p:sp>
      <p:sp>
        <p:nvSpPr>
          <p:cNvPr id="12" name="Label"/>
          <p:cNvSpPr txBox="1"/>
          <p:nvPr/>
        </p:nvSpPr>
        <p:spPr>
          <a:xfrm>
            <a:off x="7269479" y="2983991"/>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395471"/>
            <a:ext cx="4373575" cy="274929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Source (LED to ground, on at high) or sink (LED to supply, on at low)</a:t>
            </a:r>
          </a:p>
          <a:p>
            <a:pPr algn="l" marL="274320" indent="-274320">
              <a:lnSpc>
                <a:spcPct val="100000"/>
              </a:lnSpc>
              <a:spcAft>
                <a:spcPts val="1000"/>
              </a:spcAft>
              <a:buClr>
                <a:srgbClr val="00A9CE"/>
              </a:buClr>
              <a:buFont typeface="Arial"/>
              <a:buChar char="•"/>
            </a:pPr>
            <a:r>
              <a:rPr sz="1800" b="0" i="0">
                <a:solidFill>
                  <a:srgbClr val="23232B"/>
                </a:solidFill>
                <a:latin typeface="Calibri"/>
              </a:rPr>
              <a:t>74HC at 5 V: ±4 mA with guaranteed levels, 25 mA absolute maximum</a:t>
            </a:r>
          </a:p>
          <a:p>
            <a:pPr algn="l" marL="274320" indent="-274320">
              <a:lnSpc>
                <a:spcPct val="100000"/>
              </a:lnSpc>
              <a:spcAft>
                <a:spcPts val="1000"/>
              </a:spcAft>
              <a:buClr>
                <a:srgbClr val="00A9CE"/>
              </a:buClr>
              <a:buFont typeface="Arial"/>
              <a:buChar char="•"/>
            </a:pPr>
            <a:r>
              <a:rPr sz="1800" b="0" i="0">
                <a:solidFill>
                  <a:srgbClr val="23232B"/>
                </a:solidFill>
                <a:latin typeface="Calibri"/>
              </a:rPr>
              <a:t>330 Ω at 5 V ≈ 9 mA, 1 kΩ ≈ 3 mA</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CAPACITOR AND RC CIRCUITS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Capacitor and RC time constant</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the-time-constant-1.png"/>
          <p:cNvPicPr>
            <a:picLocks noChangeAspect="1"/>
          </p:cNvPicPr>
          <p:nvPr/>
        </p:nvPicPr>
        <p:blipFill>
          <a:blip r:embed="rId2"/>
          <a:stretch>
            <a:fillRect/>
          </a:stretch>
        </p:blipFill>
        <p:spPr>
          <a:xfrm>
            <a:off x="6876288" y="2567838"/>
            <a:ext cx="4565599" cy="2307539"/>
          </a:xfrm>
          <a:prstGeom prst="rect">
            <a:avLst/>
          </a:prstGeom>
        </p:spPr>
      </p:pic>
      <p:sp>
        <p:nvSpPr>
          <p:cNvPr id="6" name="Falstad rc_charging">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rc_charging">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basics/rc_charging</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10 kΩ, 10 µF, τ = 0.1 s: read 3.16 V at 0.1 s on the scope</a:t>
            </a:r>
          </a:p>
        </p:txBody>
      </p:sp>
      <p:sp>
        <p:nvSpPr>
          <p:cNvPr id="11" name="Bullets"/>
          <p:cNvSpPr txBox="1"/>
          <p:nvPr/>
        </p:nvSpPr>
        <p:spPr>
          <a:xfrm>
            <a:off x="548640" y="1298448"/>
            <a:ext cx="5806440" cy="22555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I = C·dV/dt: the voltage cannot jump; at DC a charged C is an open circuit</a:t>
            </a:r>
          </a:p>
          <a:p>
            <a:pPr algn="l" marL="274320" indent="-274320">
              <a:lnSpc>
                <a:spcPct val="100000"/>
              </a:lnSpc>
              <a:spcAft>
                <a:spcPts val="1000"/>
              </a:spcAft>
              <a:buClr>
                <a:srgbClr val="00A9CE"/>
              </a:buClr>
              <a:buFont typeface="Arial"/>
              <a:buChar char="•"/>
            </a:pPr>
            <a:r>
              <a:rPr sz="2000" b="0" i="0">
                <a:solidFill>
                  <a:srgbClr val="23232B"/>
                </a:solidFill>
                <a:latin typeface="Calibri"/>
              </a:rPr>
              <a:t>After τ: 63 %, 3τ: 95 %, 5τ: 99.3 % (settled)</a:t>
            </a:r>
          </a:p>
          <a:p>
            <a:pPr algn="l" marL="274320" indent="-274320">
              <a:lnSpc>
                <a:spcPct val="100000"/>
              </a:lnSpc>
              <a:spcAft>
                <a:spcPts val="1000"/>
              </a:spcAft>
              <a:buClr>
                <a:srgbClr val="00A9CE"/>
              </a:buClr>
              <a:buFont typeface="Arial"/>
              <a:buChar char="•"/>
            </a:pPr>
            <a:r>
              <a:rPr sz="2000" b="0" i="0">
                <a:solidFill>
                  <a:srgbClr val="23232B"/>
                </a:solidFill>
                <a:latin typeface="Calibri"/>
              </a:rPr>
              <a:t>Settling to 1 %: 4.6τ; to ½ LSB of an n-bit ADC: τ·ln(2</a:t>
            </a:r>
            <a:r>
              <a:rPr sz="2000" b="0" i="0" baseline="30000">
                <a:solidFill>
                  <a:srgbClr val="23232B"/>
                </a:solidFill>
                <a:latin typeface="Calibri"/>
              </a:rPr>
              <a:t>n+1</a:t>
            </a:r>
            <a:r>
              <a:rPr sz="2000" b="0" i="0">
                <a:solidFill>
                  <a:srgbClr val="23232B"/>
                </a:solidFill>
                <a:latin typeface="Calibri"/>
              </a:rPr>
              <a:t>)</a:t>
            </a:r>
          </a:p>
          <a:p>
            <a:pPr algn="l" marL="274320" indent="-274320">
              <a:lnSpc>
                <a:spcPct val="100000"/>
              </a:lnSpc>
              <a:spcAft>
                <a:spcPts val="1000"/>
              </a:spcAft>
              <a:buClr>
                <a:srgbClr val="00A9CE"/>
              </a:buClr>
              <a:buFont typeface="Arial"/>
              <a:buChar char="•"/>
            </a:pPr>
            <a:r>
              <a:rPr sz="2000" b="0" i="0">
                <a:solidFill>
                  <a:srgbClr val="23232B"/>
                </a:solidFill>
                <a:latin typeface="Calibri"/>
              </a:rPr>
              <a:t>Filters and hold capacitors: C0G or film, not X7R/Y5V</a:t>
            </a:r>
          </a:p>
        </p:txBody>
      </p:sp>
      <p:sp>
        <p:nvSpPr>
          <p:cNvPr id="12" name="Key rule"/>
          <p:cNvSpPr/>
          <p:nvPr/>
        </p:nvSpPr>
        <p:spPr>
          <a:xfrm>
            <a:off x="548640" y="38740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39837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2580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C</a:t>
            </a:r>
            <a:r>
              <a:rPr sz="1700" b="1" i="0">
                <a:solidFill>
                  <a:srgbClr val="4E2A8C"/>
                </a:solidFill>
                <a:latin typeface="Calibri"/>
              </a:rPr>
              <a:t>(t) = V</a:t>
            </a:r>
            <a:r>
              <a:rPr sz="1700" b="1" i="0" baseline="-25000">
                <a:solidFill>
                  <a:srgbClr val="4E2A8C"/>
                </a:solidFill>
                <a:latin typeface="Calibri"/>
              </a:rPr>
              <a:t>0</a:t>
            </a:r>
            <a:r>
              <a:rPr sz="1700" b="1" i="0">
                <a:solidFill>
                  <a:srgbClr val="4E2A8C"/>
                </a:solidFill>
                <a:latin typeface="Calibri"/>
              </a:rPr>
              <a:t>·(1 − e</a:t>
            </a:r>
            <a:r>
              <a:rPr sz="1700" b="1" i="0" baseline="30000">
                <a:solidFill>
                  <a:srgbClr val="4E2A8C"/>
                </a:solidFill>
                <a:latin typeface="Calibri"/>
              </a:rPr>
              <a:t>−t/τ</a:t>
            </a:r>
            <a:r>
              <a:rPr sz="1700" b="1" i="0">
                <a:solidFill>
                  <a:srgbClr val="4E2A8C"/>
                </a:solidFill>
                <a:latin typeface="Calibri"/>
              </a:rPr>
              <a:t>), τ = RC</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CAPACITOR AND RC CIRCUITS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Preview: the RC low-pass</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charging-through-a-resistor-1.png"/>
          <p:cNvPicPr>
            <a:picLocks noChangeAspect="1"/>
          </p:cNvPicPr>
          <p:nvPr/>
        </p:nvPicPr>
        <p:blipFill>
          <a:blip r:embed="rId2"/>
          <a:stretch>
            <a:fillRect/>
          </a:stretch>
        </p:blipFill>
        <p:spPr>
          <a:xfrm>
            <a:off x="6876288" y="1941443"/>
            <a:ext cx="4565599" cy="3560329"/>
          </a:xfrm>
          <a:prstGeom prst="rect">
            <a:avLst/>
          </a:prstGeom>
        </p:spPr>
      </p:pic>
      <p:sp>
        <p:nvSpPr>
          <p:cNvPr id="6" name="Falstad rc_lowpass">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rc_lowpass">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basics/rc_lowpass</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1 kHz sine at f</a:t>
            </a:r>
            <a:r>
              <a:rPr sz="1300" b="0" i="0" baseline="-25000">
                <a:solidFill>
                  <a:srgbClr val="23232B"/>
                </a:solidFill>
                <a:latin typeface="Calibri"/>
              </a:rPr>
              <a:t>c</a:t>
            </a:r>
            <a:r>
              <a:rPr sz="1300" b="0" i="0">
                <a:solidFill>
                  <a:srgbClr val="23232B"/>
                </a:solidFill>
                <a:latin typeface="Calibri"/>
              </a:rPr>
              <a:t> = 995 Hz: output 0.705 V, lags ≈ ¼ period</a:t>
            </a:r>
          </a:p>
        </p:txBody>
      </p:sp>
      <p:sp>
        <p:nvSpPr>
          <p:cNvPr id="11" name="Bullets"/>
          <p:cNvSpPr txBox="1"/>
          <p:nvPr/>
        </p:nvSpPr>
        <p:spPr>
          <a:xfrm>
            <a:off x="548640" y="1298448"/>
            <a:ext cx="5806440" cy="18237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Slow signals pass, fast ones are attenuated: −20 dB per decade above f</a:t>
            </a:r>
            <a:r>
              <a:rPr sz="2000" b="0" i="0" baseline="-25000">
                <a:solidFill>
                  <a:srgbClr val="23232B"/>
                </a:solidFill>
                <a:latin typeface="Calibri"/>
              </a:rPr>
              <a:t>c</a:t>
            </a:r>
          </a:p>
          <a:p>
            <a:pPr algn="l" marL="274320" indent="-274320">
              <a:lnSpc>
                <a:spcPct val="100000"/>
              </a:lnSpc>
              <a:spcAft>
                <a:spcPts val="1000"/>
              </a:spcAft>
              <a:buClr>
                <a:srgbClr val="00A9CE"/>
              </a:buClr>
              <a:buFont typeface="Arial"/>
              <a:buChar char="•"/>
            </a:pPr>
            <a:r>
              <a:rPr sz="2000" b="0" i="0">
                <a:solidFill>
                  <a:srgbClr val="23232B"/>
                </a:solidFill>
                <a:latin typeface="Calibri"/>
              </a:rPr>
              <a:t>At f</a:t>
            </a:r>
            <a:r>
              <a:rPr sz="2000" b="0" i="0" baseline="-25000">
                <a:solidFill>
                  <a:srgbClr val="23232B"/>
                </a:solidFill>
                <a:latin typeface="Calibri"/>
              </a:rPr>
              <a:t>c</a:t>
            </a:r>
            <a:r>
              <a:rPr sz="2000" b="0" i="0">
                <a:solidFill>
                  <a:srgbClr val="23232B"/>
                </a:solidFill>
                <a:latin typeface="Calibri"/>
              </a:rPr>
              <a:t>: amplitude 0.707 (−3 dB), phase −45°</a:t>
            </a:r>
          </a:p>
          <a:p>
            <a:pPr algn="l" marL="274320" indent="-274320">
              <a:lnSpc>
                <a:spcPct val="100000"/>
              </a:lnSpc>
              <a:spcAft>
                <a:spcPts val="1000"/>
              </a:spcAft>
              <a:buClr>
                <a:srgbClr val="00A9CE"/>
              </a:buClr>
              <a:buFont typeface="Arial"/>
              <a:buChar char="•"/>
            </a:pPr>
            <a:r>
              <a:rPr sz="2000" b="0" i="0">
                <a:solidFill>
                  <a:srgbClr val="23232B"/>
                </a:solidFill>
                <a:latin typeface="Calibri"/>
              </a:rPr>
              <a:t>Capstone anti-aliasing: f</a:t>
            </a:r>
            <a:r>
              <a:rPr sz="2000" b="0" i="0" baseline="-25000">
                <a:solidFill>
                  <a:srgbClr val="23232B"/>
                </a:solidFill>
                <a:latin typeface="Calibri"/>
              </a:rPr>
              <a:t>c</a:t>
            </a:r>
            <a:r>
              <a:rPr sz="2000" b="0" i="0">
                <a:solidFill>
                  <a:srgbClr val="23232B"/>
                </a:solidFill>
                <a:latin typeface="Calibri"/>
              </a:rPr>
              <a:t> = 2.34 Hz with 6.8 kΩ and 10 µF</a:t>
            </a:r>
          </a:p>
        </p:txBody>
      </p:sp>
      <p:sp>
        <p:nvSpPr>
          <p:cNvPr id="12" name="Key rule"/>
          <p:cNvSpPr/>
          <p:nvPr/>
        </p:nvSpPr>
        <p:spPr>
          <a:xfrm>
            <a:off x="548640" y="3442208"/>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35519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38262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f</a:t>
            </a:r>
            <a:r>
              <a:rPr sz="1700" b="1" i="0" baseline="-25000">
                <a:solidFill>
                  <a:srgbClr val="4E2A8C"/>
                </a:solidFill>
                <a:latin typeface="Calibri"/>
              </a:rPr>
              <a:t>c</a:t>
            </a:r>
            <a:r>
              <a:rPr sz="1700" b="1" i="0">
                <a:solidFill>
                  <a:srgbClr val="4E2A8C"/>
                </a:solidFill>
                <a:latin typeface="Calibri"/>
              </a:rPr>
              <a:t> = 1/(2π·R·C)</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WORKING WITH FALSTAD</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Working with Falstad</a:t>
            </a:r>
          </a:p>
        </p:txBody>
      </p:sp>
      <p:sp>
        <p:nvSpPr>
          <p:cNvPr id="4" name="Compare card"/>
          <p:cNvSpPr/>
          <p:nvPr/>
        </p:nvSpPr>
        <p:spPr>
          <a:xfrm>
            <a:off x="548640" y="1298448"/>
            <a:ext cx="5364327" cy="2402840"/>
          </a:xfrm>
          <a:prstGeom prst="roundRect">
            <a:avLst>
              <a:gd name="adj" fmla="val 5327"/>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868680"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6638B6"/>
                </a:solidFill>
                <a:latin typeface="Calibri"/>
              </a:rPr>
              <a:t>Pitfalls</a:t>
            </a:r>
          </a:p>
        </p:txBody>
      </p:sp>
      <p:sp>
        <p:nvSpPr>
          <p:cNvPr id="6" name="Card bullets"/>
          <p:cNvSpPr txBox="1"/>
          <p:nvPr/>
        </p:nvSpPr>
        <p:spPr>
          <a:xfrm>
            <a:off x="868680" y="2167128"/>
            <a:ext cx="4724247" cy="13512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Wires connect only at end points</a:t>
            </a:r>
          </a:p>
          <a:p>
            <a:pPr algn="l" marL="274320" indent="-274320">
              <a:lnSpc>
                <a:spcPct val="100000"/>
              </a:lnSpc>
              <a:spcAft>
                <a:spcPts val="1000"/>
              </a:spcAft>
              <a:buClr>
                <a:srgbClr val="00A9CE"/>
              </a:buClr>
              <a:buFont typeface="Arial"/>
              <a:buChar char="•"/>
            </a:pPr>
            <a:r>
              <a:rPr sz="2000" b="0" i="0">
                <a:solidFill>
                  <a:srgbClr val="23232B"/>
                </a:solidFill>
                <a:latin typeface="Calibri"/>
              </a:rPr>
              <a:t>Every circuit needs a ground</a:t>
            </a:r>
          </a:p>
          <a:p>
            <a:pPr algn="l" marL="274320" indent="-274320">
              <a:lnSpc>
                <a:spcPct val="100000"/>
              </a:lnSpc>
              <a:spcAft>
                <a:spcPts val="1000"/>
              </a:spcAft>
              <a:buClr>
                <a:srgbClr val="00A9CE"/>
              </a:buClr>
              <a:buFont typeface="Arial"/>
              <a:buChar char="•"/>
            </a:pPr>
            <a:r>
              <a:rPr sz="2000" b="0" i="0">
                <a:solidFill>
                  <a:srgbClr val="23232B"/>
                </a:solidFill>
                <a:latin typeface="Calibri"/>
              </a:rPr>
              <a:t>Singular matrix: floating node</a:t>
            </a:r>
          </a:p>
        </p:txBody>
      </p:sp>
      <p:sp>
        <p:nvSpPr>
          <p:cNvPr id="7" name="Compare card"/>
          <p:cNvSpPr/>
          <p:nvPr/>
        </p:nvSpPr>
        <p:spPr>
          <a:xfrm>
            <a:off x="6278727" y="1298448"/>
            <a:ext cx="5364327" cy="2402840"/>
          </a:xfrm>
          <a:prstGeom prst="roundRect">
            <a:avLst>
              <a:gd name="adj" fmla="val 5327"/>
            </a:avLst>
          </a:prstGeom>
          <a:solidFill>
            <a:srgbClr val="E5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6598767"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007F9B"/>
                </a:solidFill>
                <a:latin typeface="Calibri"/>
              </a:rPr>
              <a:t>Measuring</a:t>
            </a:r>
          </a:p>
        </p:txBody>
      </p:sp>
      <p:sp>
        <p:nvSpPr>
          <p:cNvPr id="9" name="Card bullets"/>
          <p:cNvSpPr txBox="1"/>
          <p:nvPr/>
        </p:nvSpPr>
        <p:spPr>
          <a:xfrm>
            <a:off x="6598767" y="2167128"/>
            <a:ext cx="4724247" cy="13512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Hover: V, I and P bottom right</a:t>
            </a:r>
          </a:p>
          <a:p>
            <a:pPr algn="l" marL="274320" indent="-274320">
              <a:lnSpc>
                <a:spcPct val="100000"/>
              </a:lnSpc>
              <a:spcAft>
                <a:spcPts val="1000"/>
              </a:spcAft>
              <a:buClr>
                <a:srgbClr val="00A9CE"/>
              </a:buClr>
              <a:buFont typeface="Arial"/>
              <a:buChar char="•"/>
            </a:pPr>
            <a:r>
              <a:rPr sz="2000" b="0" i="0">
                <a:solidFill>
                  <a:srgbClr val="23232B"/>
                </a:solidFill>
                <a:latin typeface="Calibri"/>
              </a:rPr>
              <a:t>Right click → View in New Scope</a:t>
            </a:r>
          </a:p>
          <a:p>
            <a:pPr algn="l" marL="274320" indent="-274320">
              <a:lnSpc>
                <a:spcPct val="100000"/>
              </a:lnSpc>
              <a:spcAft>
                <a:spcPts val="1000"/>
              </a:spcAft>
              <a:buClr>
                <a:srgbClr val="00A9CE"/>
              </a:buClr>
              <a:buFont typeface="Arial"/>
              <a:buChar char="•"/>
            </a:pPr>
            <a:r>
              <a:rPr sz="2000" b="0" i="0">
                <a:solidFill>
                  <a:srgbClr val="23232B"/>
                </a:solidFill>
                <a:latin typeface="Calibri"/>
              </a:rPr>
              <a:t>Sliders for the values worth changing</a:t>
            </a:r>
          </a:p>
        </p:txBody>
      </p:sp>
      <p:pic>
        <p:nvPicPr>
          <p:cNvPr id="10"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EXERCISES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Now work it out in the script</a:t>
            </a:r>
          </a:p>
        </p:txBody>
      </p:sp>
      <p:sp>
        <p:nvSpPr>
          <p:cNvPr id="4" name="Intro"/>
          <p:cNvSpPr txBox="1"/>
          <p:nvPr/>
        </p:nvSpPr>
        <p:spPr>
          <a:xfrm>
            <a:off x="548640" y="1298448"/>
            <a:ext cx="11094415" cy="640080"/>
          </a:xfrm>
          <a:prstGeom prst="rect">
            <a:avLst/>
          </a:prstGeom>
          <a:noFill/>
        </p:spPr>
        <p:txBody>
          <a:bodyPr wrap="square" lIns="0" rIns="0" tIns="0" bIns="0" anchor="t">
            <a:noAutofit/>
          </a:bodyPr>
          <a:lstStyle/>
          <a:p>
            <a:pPr algn="l">
              <a:lnSpc>
                <a:spcPct val="100000"/>
              </a:lnSpc>
              <a:spcAft>
                <a:spcPts val="600"/>
              </a:spcAft>
              <a:buNone/>
            </a:pPr>
            <a:r>
              <a:rPr sz="1800" b="0" i="0">
                <a:solidFill>
                  <a:srgbClr val="62626E"/>
                </a:solidFill>
                <a:latin typeface="Calibri"/>
              </a:rPr>
              <a:t>Derivations, worked numbers and solutions: script, chapter 1 “Basics”. Check each result in the Falstad examples.</a:t>
            </a:r>
          </a:p>
        </p:txBody>
      </p:sp>
      <p:sp>
        <p:nvSpPr>
          <p:cNvPr id="5" name="Exercise card"/>
          <p:cNvSpPr/>
          <p:nvPr/>
        </p:nvSpPr>
        <p:spPr>
          <a:xfrm>
            <a:off x="548640"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rcise number"/>
          <p:cNvSpPr/>
          <p:nvPr/>
        </p:nvSpPr>
        <p:spPr>
          <a:xfrm>
            <a:off x="548640"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1.1</a:t>
            </a:r>
          </a:p>
        </p:txBody>
      </p:sp>
      <p:sp>
        <p:nvSpPr>
          <p:cNvPr id="8" name="Exercise title"/>
          <p:cNvSpPr txBox="1"/>
          <p:nvPr/>
        </p:nvSpPr>
        <p:spPr>
          <a:xfrm>
            <a:off x="1645919"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Power in a series-parallel network</a:t>
            </a:r>
          </a:p>
        </p:txBody>
      </p:sp>
      <p:sp>
        <p:nvSpPr>
          <p:cNvPr id="9" name="Exercise card"/>
          <p:cNvSpPr/>
          <p:nvPr/>
        </p:nvSpPr>
        <p:spPr>
          <a:xfrm>
            <a:off x="548640"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ercise number"/>
          <p:cNvSpPr/>
          <p:nvPr/>
        </p:nvSpPr>
        <p:spPr>
          <a:xfrm>
            <a:off x="548640"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1.2</a:t>
            </a:r>
          </a:p>
        </p:txBody>
      </p:sp>
      <p:sp>
        <p:nvSpPr>
          <p:cNvPr id="12" name="Exercise title"/>
          <p:cNvSpPr txBox="1"/>
          <p:nvPr/>
        </p:nvSpPr>
        <p:spPr>
          <a:xfrm>
            <a:off x="1645919"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Loaded voltage divider</a:t>
            </a:r>
          </a:p>
        </p:txBody>
      </p:sp>
      <p:sp>
        <p:nvSpPr>
          <p:cNvPr id="13" name="Exercise card"/>
          <p:cNvSpPr/>
          <p:nvPr/>
        </p:nvSpPr>
        <p:spPr>
          <a:xfrm>
            <a:off x="548640"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xercise number"/>
          <p:cNvSpPr/>
          <p:nvPr/>
        </p:nvSpPr>
        <p:spPr>
          <a:xfrm>
            <a:off x="548640"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1.3</a:t>
            </a:r>
          </a:p>
        </p:txBody>
      </p:sp>
      <p:sp>
        <p:nvSpPr>
          <p:cNvPr id="16" name="Exercise title"/>
          <p:cNvSpPr txBox="1"/>
          <p:nvPr/>
        </p:nvSpPr>
        <p:spPr>
          <a:xfrm>
            <a:off x="1645919"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Thevenin equivalent from open-circuit voltage and short-circuit current</a:t>
            </a:r>
          </a:p>
        </p:txBody>
      </p:sp>
      <p:sp>
        <p:nvSpPr>
          <p:cNvPr id="17" name="Exercise card"/>
          <p:cNvSpPr/>
          <p:nvPr/>
        </p:nvSpPr>
        <p:spPr>
          <a:xfrm>
            <a:off x="6233007"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xercise number"/>
          <p:cNvSpPr/>
          <p:nvPr/>
        </p:nvSpPr>
        <p:spPr>
          <a:xfrm>
            <a:off x="6233007"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1.4</a:t>
            </a:r>
          </a:p>
        </p:txBody>
      </p:sp>
      <p:sp>
        <p:nvSpPr>
          <p:cNvPr id="20" name="Exercise title"/>
          <p:cNvSpPr txBox="1"/>
          <p:nvPr/>
        </p:nvSpPr>
        <p:spPr>
          <a:xfrm>
            <a:off x="7330287"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Superposition</a:t>
            </a:r>
          </a:p>
        </p:txBody>
      </p:sp>
      <p:sp>
        <p:nvSpPr>
          <p:cNvPr id="21" name="Exercise card"/>
          <p:cNvSpPr/>
          <p:nvPr/>
        </p:nvSpPr>
        <p:spPr>
          <a:xfrm>
            <a:off x="6233007"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xercise number"/>
          <p:cNvSpPr/>
          <p:nvPr/>
        </p:nvSpPr>
        <p:spPr>
          <a:xfrm>
            <a:off x="6233007"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3007"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1.5</a:t>
            </a:r>
          </a:p>
        </p:txBody>
      </p:sp>
      <p:sp>
        <p:nvSpPr>
          <p:cNvPr id="24" name="Exercise title"/>
          <p:cNvSpPr txBox="1"/>
          <p:nvPr/>
        </p:nvSpPr>
        <p:spPr>
          <a:xfrm>
            <a:off x="7330287"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LED on a 5 V logic output</a:t>
            </a:r>
          </a:p>
        </p:txBody>
      </p:sp>
      <p:sp>
        <p:nvSpPr>
          <p:cNvPr id="25" name="Exercise card"/>
          <p:cNvSpPr/>
          <p:nvPr/>
        </p:nvSpPr>
        <p:spPr>
          <a:xfrm>
            <a:off x="6233007"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xercise number"/>
          <p:cNvSpPr/>
          <p:nvPr/>
        </p:nvSpPr>
        <p:spPr>
          <a:xfrm>
            <a:off x="6233007"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33007"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1.6</a:t>
            </a:r>
          </a:p>
        </p:txBody>
      </p:sp>
      <p:sp>
        <p:nvSpPr>
          <p:cNvPr id="28" name="Exercise title"/>
          <p:cNvSpPr txBox="1"/>
          <p:nvPr/>
        </p:nvSpPr>
        <p:spPr>
          <a:xfrm>
            <a:off x="7330287"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RC charging</a:t>
            </a:r>
          </a:p>
        </p:txBody>
      </p:sp>
      <p:pic>
        <p:nvPicPr>
          <p:cNvPr id="29"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3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Basics</a:t>
            </a:r>
          </a:p>
        </p:txBody>
      </p:sp>
      <p:sp>
        <p:nvSpPr>
          <p:cNvPr id="3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6638B6"/>
        </a:solidFill>
        <a:effectLst/>
      </p:bgPr>
    </p:bg>
    <p:spTree>
      <p:nvGrpSpPr>
        <p:cNvPr id="1" name=""/>
        <p:cNvGrpSpPr/>
        <p:nvPr/>
      </p:nvGrpSpPr>
      <p:grpSpPr/>
      <p:sp>
        <p:nvSpPr>
          <p:cNvPr id="2" name="Chapter number"/>
          <p:cNvSpPr txBox="1"/>
          <p:nvPr/>
        </p:nvSpPr>
        <p:spPr>
          <a:xfrm>
            <a:off x="548640" y="822960"/>
            <a:ext cx="2743200" cy="1463040"/>
          </a:xfrm>
          <a:prstGeom prst="rect">
            <a:avLst/>
          </a:prstGeom>
          <a:noFill/>
        </p:spPr>
        <p:txBody>
          <a:bodyPr wrap="square" lIns="0" rIns="0" tIns="0" bIns="0" anchor="t">
            <a:noAutofit/>
          </a:bodyPr>
          <a:lstStyle/>
          <a:p>
            <a:pPr algn="l">
              <a:lnSpc>
                <a:spcPct val="100000"/>
              </a:lnSpc>
              <a:spcAft>
                <a:spcPts val="600"/>
              </a:spcAft>
              <a:buNone/>
            </a:pPr>
            <a:r>
              <a:rPr sz="9600" b="1" i="0">
                <a:solidFill>
                  <a:srgbClr val="9B7DD4"/>
                </a:solidFill>
                <a:latin typeface="Calibri"/>
              </a:rPr>
              <a:t>02</a:t>
            </a:r>
          </a:p>
        </p:txBody>
      </p:sp>
      <p:sp>
        <p:nvSpPr>
          <p:cNvPr id="3" name="Chapter title"/>
          <p:cNvSpPr txBox="1"/>
          <p:nvPr/>
        </p:nvSpPr>
        <p:spPr>
          <a:xfrm>
            <a:off x="548640" y="2331720"/>
            <a:ext cx="11094415" cy="914400"/>
          </a:xfrm>
          <a:prstGeom prst="rect">
            <a:avLst/>
          </a:prstGeom>
          <a:noFill/>
        </p:spPr>
        <p:txBody>
          <a:bodyPr wrap="square" lIns="0" rIns="0" tIns="0" bIns="0" anchor="ctr">
            <a:noAutofit/>
          </a:bodyPr>
          <a:lstStyle/>
          <a:p>
            <a:pPr algn="l">
              <a:lnSpc>
                <a:spcPct val="100000"/>
              </a:lnSpc>
              <a:spcAft>
                <a:spcPts val="600"/>
              </a:spcAft>
              <a:buNone/>
            </a:pPr>
            <a:r>
              <a:rPr sz="4400" b="1" i="0">
                <a:solidFill>
                  <a:srgbClr val="FFFFFF"/>
                </a:solidFill>
                <a:latin typeface="Calibri"/>
              </a:rPr>
              <a:t>Op-Amp Basics</a:t>
            </a:r>
          </a:p>
        </p:txBody>
      </p:sp>
      <p:sp>
        <p:nvSpPr>
          <p:cNvPr id="4" name="Chapter subtitle"/>
          <p:cNvSpPr txBox="1"/>
          <p:nvPr/>
        </p:nvSpPr>
        <p:spPr>
          <a:xfrm>
            <a:off x="548640" y="3246120"/>
            <a:ext cx="11094415" cy="4572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CFE9F3"/>
                </a:solidFill>
                <a:latin typeface="Calibri"/>
              </a:rPr>
              <a:t>The minimum op-amp knowledge: golden rules, buffer, non-inverting amplifier</a:t>
            </a:r>
          </a:p>
        </p:txBody>
      </p:sp>
      <p:sp>
        <p:nvSpPr>
          <p:cNvPr id="5" name="Takeaway card"/>
          <p:cNvSpPr/>
          <p:nvPr/>
        </p:nvSpPr>
        <p:spPr>
          <a:xfrm>
            <a:off x="548640"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1</a:t>
            </a:r>
          </a:p>
        </p:txBody>
      </p:sp>
      <p:sp>
        <p:nvSpPr>
          <p:cNvPr id="7" name="Takeaway"/>
          <p:cNvSpPr txBox="1"/>
          <p:nvPr/>
        </p:nvSpPr>
        <p:spPr>
          <a:xfrm>
            <a:off x="822959"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Negative feedback: V</a:t>
            </a:r>
            <a:r>
              <a:rPr sz="1800" b="1" i="0" baseline="-25000">
                <a:solidFill>
                  <a:srgbClr val="FFFFFF"/>
                </a:solidFill>
                <a:latin typeface="Calibri"/>
              </a:rPr>
              <a:t>+</a:t>
            </a:r>
            <a:r>
              <a:rPr sz="1800" b="1" i="0">
                <a:solidFill>
                  <a:srgbClr val="FFFFFF"/>
                </a:solidFill>
                <a:latin typeface="Calibri"/>
              </a:rPr>
              <a:t> = V</a:t>
            </a:r>
            <a:r>
              <a:rPr sz="1800" b="1" i="0" baseline="-25000">
                <a:solidFill>
                  <a:srgbClr val="FFFFFF"/>
                </a:solidFill>
                <a:latin typeface="Calibri"/>
              </a:rPr>
              <a:t>-</a:t>
            </a:r>
            <a:r>
              <a:rPr sz="1800" b="1" i="0">
                <a:solidFill>
                  <a:srgbClr val="FFFFFF"/>
                </a:solidFill>
                <a:latin typeface="Calibri"/>
              </a:rPr>
              <a:t>, no input current</a:t>
            </a:r>
          </a:p>
        </p:txBody>
      </p:sp>
      <p:sp>
        <p:nvSpPr>
          <p:cNvPr id="8" name="Takeaway card"/>
          <p:cNvSpPr/>
          <p:nvPr/>
        </p:nvSpPr>
        <p:spPr>
          <a:xfrm>
            <a:off x="4338218"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2538"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2</a:t>
            </a:r>
          </a:p>
        </p:txBody>
      </p:sp>
      <p:sp>
        <p:nvSpPr>
          <p:cNvPr id="10" name="Takeaway"/>
          <p:cNvSpPr txBox="1"/>
          <p:nvPr/>
        </p:nvSpPr>
        <p:spPr>
          <a:xfrm>
            <a:off x="4612538"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A buffer stops one stage loading the next</a:t>
            </a:r>
          </a:p>
        </p:txBody>
      </p:sp>
      <p:sp>
        <p:nvSpPr>
          <p:cNvPr id="11" name="Takeaway card"/>
          <p:cNvSpPr/>
          <p:nvPr/>
        </p:nvSpPr>
        <p:spPr>
          <a:xfrm>
            <a:off x="8127796"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2116"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3</a:t>
            </a:r>
          </a:p>
        </p:txBody>
      </p:sp>
      <p:sp>
        <p:nvSpPr>
          <p:cNvPr id="13" name="Takeaway"/>
          <p:cNvSpPr txBox="1"/>
          <p:nvPr/>
        </p:nvSpPr>
        <p:spPr>
          <a:xfrm>
            <a:off x="8402116"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Check input and output range before any formula</a:t>
            </a:r>
          </a:p>
        </p:txBody>
      </p:sp>
      <p:sp>
        <p:nvSpPr>
          <p:cNvPr id="14" name="Footer"/>
          <p:cNvSpPr txBox="1"/>
          <p:nvPr/>
        </p:nvSpPr>
        <p:spPr>
          <a:xfrm>
            <a:off x="548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FFFFFF"/>
                </a:solidFill>
                <a:latin typeface="Calibri"/>
              </a:rPr>
              <a:t>Electronic Circuit Design  ·  Op-Amp Basics</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FFFFFF"/>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OP-AMP IN A NUTSHELL</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Op-amp and the golden rules</a:t>
            </a:r>
          </a:p>
        </p:txBody>
      </p:sp>
      <p:sp>
        <p:nvSpPr>
          <p:cNvPr id="4" name="Bullets"/>
          <p:cNvSpPr txBox="1"/>
          <p:nvPr/>
        </p:nvSpPr>
        <p:spPr>
          <a:xfrm>
            <a:off x="548640" y="1298448"/>
            <a:ext cx="11094415" cy="1645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Amplifies the difference V</a:t>
            </a:r>
            <a:r>
              <a:rPr sz="2000" b="0" i="0" baseline="-25000">
                <a:solidFill>
                  <a:srgbClr val="23232B"/>
                </a:solidFill>
                <a:latin typeface="Calibri"/>
              </a:rPr>
              <a:t>+</a:t>
            </a:r>
            <a:r>
              <a:rPr sz="2000" b="0" i="0">
                <a:solidFill>
                  <a:srgbClr val="23232B"/>
                </a:solidFill>
                <a:latin typeface="Calibri"/>
              </a:rPr>
              <a:t> − V</a:t>
            </a:r>
            <a:r>
              <a:rPr sz="2000" b="0" i="0" baseline="-25000">
                <a:solidFill>
                  <a:srgbClr val="23232B"/>
                </a:solidFill>
                <a:latin typeface="Calibri"/>
              </a:rPr>
              <a:t>-</a:t>
            </a:r>
            <a:r>
              <a:rPr sz="2000" b="0" i="0">
                <a:solidFill>
                  <a:srgbClr val="23232B"/>
                </a:solidFill>
                <a:latin typeface="Calibri"/>
              </a:rPr>
              <a:t> with a huge gain A = 10</a:t>
            </a:r>
            <a:r>
              <a:rPr sz="2000" b="0" i="0" baseline="30000">
                <a:solidFill>
                  <a:srgbClr val="23232B"/>
                </a:solidFill>
                <a:latin typeface="Calibri"/>
              </a:rPr>
              <a:t>5</a:t>
            </a:r>
            <a:r>
              <a:rPr sz="2000" b="0" i="0">
                <a:solidFill>
                  <a:srgbClr val="23232B"/>
                </a:solidFill>
                <a:latin typeface="Calibri"/>
              </a:rPr>
              <a:t> … 10</a:t>
            </a:r>
            <a:r>
              <a:rPr sz="2000" b="0" i="0" baseline="30000">
                <a:solidFill>
                  <a:srgbClr val="23232B"/>
                </a:solidFill>
                <a:latin typeface="Calibri"/>
              </a:rPr>
              <a:t>7</a:t>
            </a:r>
          </a:p>
          <a:p>
            <a:pPr algn="l" marL="274320" indent="-274320">
              <a:lnSpc>
                <a:spcPct val="100000"/>
              </a:lnSpc>
              <a:spcAft>
                <a:spcPts val="1000"/>
              </a:spcAft>
              <a:buClr>
                <a:srgbClr val="00A9CE"/>
              </a:buClr>
              <a:buFont typeface="Arial"/>
              <a:buChar char="•"/>
            </a:pPr>
            <a:r>
              <a:rPr sz="2000" b="0" i="0">
                <a:solidFill>
                  <a:srgbClr val="23232B"/>
                </a:solidFill>
                <a:latin typeface="Calibri"/>
              </a:rPr>
              <a:t>Without feedback it is a comparator (flash ADC)</a:t>
            </a:r>
          </a:p>
          <a:p>
            <a:pPr algn="l" marL="274320" indent="-274320">
              <a:lnSpc>
                <a:spcPct val="100000"/>
              </a:lnSpc>
              <a:spcAft>
                <a:spcPts val="1000"/>
              </a:spcAft>
              <a:buClr>
                <a:srgbClr val="00A9CE"/>
              </a:buClr>
              <a:buFont typeface="Arial"/>
              <a:buChar char="•"/>
            </a:pPr>
            <a:r>
              <a:rPr sz="2000" b="0" i="0">
                <a:solidFill>
                  <a:srgbClr val="23232B"/>
                </a:solidFill>
                <a:latin typeface="Calibri"/>
              </a:rPr>
              <a:t>Negative feedback: part of V</a:t>
            </a:r>
            <a:r>
              <a:rPr sz="2000" b="0" i="0" baseline="-25000">
                <a:solidFill>
                  <a:srgbClr val="23232B"/>
                </a:solidFill>
                <a:latin typeface="Calibri"/>
              </a:rPr>
              <a:t>out</a:t>
            </a:r>
            <a:r>
              <a:rPr sz="2000" b="0" i="0">
                <a:solidFill>
                  <a:srgbClr val="23232B"/>
                </a:solidFill>
                <a:latin typeface="Calibri"/>
              </a:rPr>
              <a:t> goes back to the inverting input</a:t>
            </a:r>
          </a:p>
          <a:p>
            <a:pPr algn="l" marL="274320" indent="-274320">
              <a:lnSpc>
                <a:spcPct val="100000"/>
              </a:lnSpc>
              <a:spcAft>
                <a:spcPts val="1000"/>
              </a:spcAft>
              <a:buClr>
                <a:srgbClr val="00A9CE"/>
              </a:buClr>
              <a:buFont typeface="Arial"/>
              <a:buChar char="•"/>
            </a:pPr>
            <a:r>
              <a:rPr sz="2000" b="0" i="0">
                <a:solidFill>
                  <a:srgbClr val="23232B"/>
                </a:solidFill>
                <a:latin typeface="Calibri"/>
              </a:rPr>
              <a:t>Rule 1: the output makes V</a:t>
            </a:r>
            <a:r>
              <a:rPr sz="2000" b="0" i="0" baseline="-25000">
                <a:solidFill>
                  <a:srgbClr val="23232B"/>
                </a:solidFill>
                <a:latin typeface="Calibri"/>
              </a:rPr>
              <a:t>+</a:t>
            </a:r>
            <a:r>
              <a:rPr sz="2000" b="0" i="0">
                <a:solidFill>
                  <a:srgbClr val="23232B"/>
                </a:solidFill>
                <a:latin typeface="Calibri"/>
              </a:rPr>
              <a:t> = V</a:t>
            </a:r>
            <a:r>
              <a:rPr sz="2000" b="0" i="0" baseline="-25000">
                <a:solidFill>
                  <a:srgbClr val="23232B"/>
                </a:solidFill>
                <a:latin typeface="Calibri"/>
              </a:rPr>
              <a:t>-</a:t>
            </a:r>
            <a:r>
              <a:rPr sz="2000" b="0" i="0">
                <a:solidFill>
                  <a:srgbClr val="23232B"/>
                </a:solidFill>
                <a:latin typeface="Calibri"/>
              </a:rPr>
              <a:t>; rule 2: inputs draw no current</a:t>
            </a:r>
          </a:p>
        </p:txBody>
      </p:sp>
      <p:sp>
        <p:nvSpPr>
          <p:cNvPr id="5" name="Key rule"/>
          <p:cNvSpPr/>
          <p:nvPr/>
        </p:nvSpPr>
        <p:spPr>
          <a:xfrm>
            <a:off x="548640" y="3264408"/>
            <a:ext cx="11094415"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ey rule label"/>
          <p:cNvSpPr txBox="1"/>
          <p:nvPr/>
        </p:nvSpPr>
        <p:spPr>
          <a:xfrm>
            <a:off x="777240" y="3374136"/>
            <a:ext cx="10637215"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7" name="Key rule text"/>
          <p:cNvSpPr txBox="1"/>
          <p:nvPr/>
        </p:nvSpPr>
        <p:spPr>
          <a:xfrm>
            <a:off x="777240" y="3648456"/>
            <a:ext cx="10637215"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a:t>
            </a:r>
            <a:r>
              <a:rPr sz="1700" b="1" i="0">
                <a:solidFill>
                  <a:srgbClr val="4E2A8C"/>
                </a:solidFill>
                <a:latin typeface="Calibri"/>
              </a:rPr>
              <a:t> = V</a:t>
            </a:r>
            <a:r>
              <a:rPr sz="1700" b="1" i="0" baseline="-25000">
                <a:solidFill>
                  <a:srgbClr val="4E2A8C"/>
                </a:solidFill>
                <a:latin typeface="Calibri"/>
              </a:rPr>
              <a:t>-</a:t>
            </a:r>
            <a:r>
              <a:rPr sz="1700" b="1" i="0">
                <a:solidFill>
                  <a:srgbClr val="4E2A8C"/>
                </a:solidFill>
                <a:latin typeface="Calibri"/>
              </a:rPr>
              <a:t>, I</a:t>
            </a:r>
            <a:r>
              <a:rPr sz="1700" b="1" i="0" baseline="-25000">
                <a:solidFill>
                  <a:srgbClr val="4E2A8C"/>
                </a:solidFill>
                <a:latin typeface="Calibri"/>
              </a:rPr>
              <a:t>+</a:t>
            </a:r>
            <a:r>
              <a:rPr sz="1700" b="1" i="0">
                <a:solidFill>
                  <a:srgbClr val="4E2A8C"/>
                </a:solidFill>
                <a:latin typeface="Calibri"/>
              </a:rPr>
              <a:t> = I</a:t>
            </a:r>
            <a:r>
              <a:rPr sz="1700" b="1" i="0" baseline="-25000">
                <a:solidFill>
                  <a:srgbClr val="4E2A8C"/>
                </a:solidFill>
                <a:latin typeface="Calibri"/>
              </a:rPr>
              <a:t>-</a:t>
            </a:r>
            <a:r>
              <a:rPr sz="1700" b="1" i="0">
                <a:solidFill>
                  <a:srgbClr val="4E2A8C"/>
                </a:solidFill>
                <a:latin typeface="Calibri"/>
              </a:rPr>
              <a:t> = 0 (with negative feedback)</a:t>
            </a:r>
          </a:p>
        </p:txBody>
      </p:sp>
      <p:pic>
        <p:nvPicPr>
          <p:cNvPr id="8"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9"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Op-Amp Basics</a:t>
            </a:r>
          </a:p>
        </p:txBody>
      </p:sp>
      <p:sp>
        <p:nvSpPr>
          <p:cNvPr id="10"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OP-AMP IN A NUTSHELL</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Real op-amps on a single supply</a:t>
            </a:r>
          </a:p>
        </p:txBody>
      </p:sp>
      <p:sp>
        <p:nvSpPr>
          <p:cNvPr id="4" name="Compare card"/>
          <p:cNvSpPr/>
          <p:nvPr/>
        </p:nvSpPr>
        <p:spPr>
          <a:xfrm>
            <a:off x="548640" y="1298448"/>
            <a:ext cx="5364327" cy="2402840"/>
          </a:xfrm>
          <a:prstGeom prst="roundRect">
            <a:avLst>
              <a:gd name="adj" fmla="val 5327"/>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868680"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6638B6"/>
                </a:solidFill>
                <a:latin typeface="Calibri"/>
              </a:rPr>
              <a:t>CMOS rail-to-rail</a:t>
            </a:r>
          </a:p>
        </p:txBody>
      </p:sp>
      <p:sp>
        <p:nvSpPr>
          <p:cNvPr id="6" name="Card bullets"/>
          <p:cNvSpPr txBox="1"/>
          <p:nvPr/>
        </p:nvSpPr>
        <p:spPr>
          <a:xfrm>
            <a:off x="868680" y="2167128"/>
            <a:ext cx="4724247" cy="13512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MCP6002, TLV9002 at 5 V</a:t>
            </a:r>
          </a:p>
          <a:p>
            <a:pPr algn="l" marL="274320" indent="-274320">
              <a:lnSpc>
                <a:spcPct val="100000"/>
              </a:lnSpc>
              <a:spcAft>
                <a:spcPts val="1000"/>
              </a:spcAft>
              <a:buClr>
                <a:srgbClr val="00A9CE"/>
              </a:buClr>
              <a:buFont typeface="Arial"/>
              <a:buChar char="•"/>
            </a:pPr>
            <a:r>
              <a:rPr sz="2000" b="0" i="0">
                <a:solidFill>
                  <a:srgbClr val="23232B"/>
                </a:solidFill>
                <a:latin typeface="Calibri"/>
              </a:rPr>
              <a:t>Output within ~10 mV of the rails</a:t>
            </a:r>
          </a:p>
          <a:p>
            <a:pPr algn="l" marL="274320" indent="-274320">
              <a:lnSpc>
                <a:spcPct val="100000"/>
              </a:lnSpc>
              <a:spcAft>
                <a:spcPts val="1000"/>
              </a:spcAft>
              <a:buClr>
                <a:srgbClr val="00A9CE"/>
              </a:buClr>
              <a:buFont typeface="Arial"/>
              <a:buChar char="•"/>
            </a:pPr>
            <a:r>
              <a:rPr sz="2000" b="0" i="0">
                <a:solidFill>
                  <a:srgbClr val="23232B"/>
                </a:solidFill>
                <a:latin typeface="Calibri"/>
              </a:rPr>
              <a:t>Inputs up to the supply</a:t>
            </a:r>
          </a:p>
        </p:txBody>
      </p:sp>
      <p:sp>
        <p:nvSpPr>
          <p:cNvPr id="7" name="Compare card"/>
          <p:cNvSpPr/>
          <p:nvPr/>
        </p:nvSpPr>
        <p:spPr>
          <a:xfrm>
            <a:off x="6278727" y="1298448"/>
            <a:ext cx="5364327" cy="2402840"/>
          </a:xfrm>
          <a:prstGeom prst="roundRect">
            <a:avLst>
              <a:gd name="adj" fmla="val 5327"/>
            </a:avLst>
          </a:prstGeom>
          <a:solidFill>
            <a:srgbClr val="E5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6598767"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007F9B"/>
                </a:solidFill>
                <a:latin typeface="Calibri"/>
              </a:rPr>
              <a:t>Bipolar LM358</a:t>
            </a:r>
          </a:p>
        </p:txBody>
      </p:sp>
      <p:sp>
        <p:nvSpPr>
          <p:cNvPr id="9" name="Card bullets"/>
          <p:cNvSpPr txBox="1"/>
          <p:nvPr/>
        </p:nvSpPr>
        <p:spPr>
          <a:xfrm>
            <a:off x="6598767" y="2167128"/>
            <a:ext cx="4724247" cy="13512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Up to 32 V supply</a:t>
            </a:r>
          </a:p>
          <a:p>
            <a:pPr algn="l" marL="274320" indent="-274320">
              <a:lnSpc>
                <a:spcPct val="100000"/>
              </a:lnSpc>
              <a:spcAft>
                <a:spcPts val="1000"/>
              </a:spcAft>
              <a:buClr>
                <a:srgbClr val="00A9CE"/>
              </a:buClr>
              <a:buFont typeface="Arial"/>
              <a:buChar char="•"/>
            </a:pPr>
            <a:r>
              <a:rPr sz="2000" b="0" i="0">
                <a:solidFill>
                  <a:srgbClr val="23232B"/>
                </a:solidFill>
                <a:latin typeface="Calibri"/>
              </a:rPr>
              <a:t>Output ~1.5 V below the + rail</a:t>
            </a:r>
          </a:p>
          <a:p>
            <a:pPr algn="l" marL="274320" indent="-274320">
              <a:lnSpc>
                <a:spcPct val="100000"/>
              </a:lnSpc>
              <a:spcAft>
                <a:spcPts val="1000"/>
              </a:spcAft>
              <a:buClr>
                <a:srgbClr val="00A9CE"/>
              </a:buClr>
              <a:buFont typeface="Arial"/>
              <a:buChar char="•"/>
            </a:pPr>
            <a:r>
              <a:rPr sz="2000" b="0" i="0">
                <a:solidFill>
                  <a:srgbClr val="23232B"/>
                </a:solidFill>
                <a:latin typeface="Calibri"/>
              </a:rPr>
              <a:t>Inputs only up to V</a:t>
            </a:r>
            <a:r>
              <a:rPr sz="2000" b="0" i="0" baseline="-25000">
                <a:solidFill>
                  <a:srgbClr val="23232B"/>
                </a:solidFill>
                <a:latin typeface="Calibri"/>
              </a:rPr>
              <a:t>S</a:t>
            </a:r>
            <a:r>
              <a:rPr sz="2000" b="0" i="0">
                <a:solidFill>
                  <a:srgbClr val="23232B"/>
                </a:solidFill>
                <a:latin typeface="Calibri"/>
              </a:rPr>
              <a:t> − 1.5 V</a:t>
            </a:r>
          </a:p>
        </p:txBody>
      </p:sp>
      <p:pic>
        <p:nvPicPr>
          <p:cNvPr id="10"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Op-Amp Basics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UNITY-GAIN BUFFER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Loading and the voltage follower</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every-connection-is-a-voltage-divider-1.png"/>
          <p:cNvPicPr>
            <a:picLocks noChangeAspect="1"/>
          </p:cNvPicPr>
          <p:nvPr/>
        </p:nvPicPr>
        <p:blipFill>
          <a:blip r:embed="rId2"/>
          <a:stretch>
            <a:fillRect/>
          </a:stretch>
        </p:blipFill>
        <p:spPr>
          <a:xfrm>
            <a:off x="6876288" y="2298697"/>
            <a:ext cx="4565599" cy="2845821"/>
          </a:xfrm>
          <a:prstGeom prst="rect">
            <a:avLst/>
          </a:prstGeom>
        </p:spPr>
      </p:pic>
      <p:sp>
        <p:nvSpPr>
          <p:cNvPr id="6" name="Bullets"/>
          <p:cNvSpPr txBox="1"/>
          <p:nvPr/>
        </p:nvSpPr>
        <p:spPr>
          <a:xfrm>
            <a:off x="548640" y="1298448"/>
            <a:ext cx="5806440" cy="19507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Every connection: R</a:t>
            </a:r>
            <a:r>
              <a:rPr sz="2000" b="0" i="0" baseline="-25000">
                <a:solidFill>
                  <a:srgbClr val="23232B"/>
                </a:solidFill>
                <a:latin typeface="Calibri"/>
              </a:rPr>
              <a:t>out</a:t>
            </a:r>
            <a:r>
              <a:rPr sz="2000" b="0" i="0">
                <a:solidFill>
                  <a:srgbClr val="23232B"/>
                </a:solidFill>
                <a:latin typeface="Calibri"/>
              </a:rPr>
              <a:t> of stage A and R</a:t>
            </a:r>
            <a:r>
              <a:rPr sz="2000" b="0" i="0" baseline="-25000">
                <a:solidFill>
                  <a:srgbClr val="23232B"/>
                </a:solidFill>
                <a:latin typeface="Calibri"/>
              </a:rPr>
              <a:t>in</a:t>
            </a:r>
            <a:r>
              <a:rPr sz="2000" b="0" i="0">
                <a:solidFill>
                  <a:srgbClr val="23232B"/>
                </a:solidFill>
                <a:latin typeface="Calibri"/>
              </a:rPr>
              <a:t> of stage B form a divider</a:t>
            </a:r>
          </a:p>
          <a:p>
            <a:pPr algn="l" marL="274320" indent="-274320">
              <a:lnSpc>
                <a:spcPct val="100000"/>
              </a:lnSpc>
              <a:spcAft>
                <a:spcPts val="1000"/>
              </a:spcAft>
              <a:buClr>
                <a:srgbClr val="00A9CE"/>
              </a:buClr>
              <a:buFont typeface="Arial"/>
              <a:buChar char="•"/>
            </a:pPr>
            <a:r>
              <a:rPr sz="2000" b="0" i="0">
                <a:solidFill>
                  <a:srgbClr val="23232B"/>
                </a:solidFill>
                <a:latin typeface="Calibri"/>
              </a:rPr>
              <a:t>Error ≈ R</a:t>
            </a:r>
            <a:r>
              <a:rPr sz="2000" b="0" i="0" baseline="-25000">
                <a:solidFill>
                  <a:srgbClr val="23232B"/>
                </a:solidFill>
                <a:latin typeface="Calibri"/>
              </a:rPr>
              <a:t>out</a:t>
            </a:r>
            <a:r>
              <a:rPr sz="2000" b="0" i="0">
                <a:solidFill>
                  <a:srgbClr val="23232B"/>
                </a:solidFill>
                <a:latin typeface="Calibri"/>
              </a:rPr>
              <a:t>/R</a:t>
            </a:r>
            <a:r>
              <a:rPr sz="2000" b="0" i="0" baseline="-25000">
                <a:solidFill>
                  <a:srgbClr val="23232B"/>
                </a:solidFill>
                <a:latin typeface="Calibri"/>
              </a:rPr>
              <a:t>in</a:t>
            </a:r>
            <a:r>
              <a:rPr sz="2000" b="0" i="0">
                <a:solidFill>
                  <a:srgbClr val="23232B"/>
                </a:solidFill>
                <a:latin typeface="Calibri"/>
              </a:rPr>
              <a:t>: need R</a:t>
            </a:r>
            <a:r>
              <a:rPr sz="2000" b="0" i="0" baseline="-25000">
                <a:solidFill>
                  <a:srgbClr val="23232B"/>
                </a:solidFill>
                <a:latin typeface="Calibri"/>
              </a:rPr>
              <a:t>in</a:t>
            </a:r>
            <a:r>
              <a:rPr sz="2000" b="0" i="0">
                <a:solidFill>
                  <a:srgbClr val="23232B"/>
                </a:solidFill>
                <a:latin typeface="Calibri"/>
              </a:rPr>
              <a:t> ≥ 100·R</a:t>
            </a:r>
            <a:r>
              <a:rPr sz="2000" b="0" i="0" baseline="-25000">
                <a:solidFill>
                  <a:srgbClr val="23232B"/>
                </a:solidFill>
                <a:latin typeface="Calibri"/>
              </a:rPr>
              <a:t>out</a:t>
            </a:r>
            <a:r>
              <a:rPr sz="2000" b="0" i="0">
                <a:solidFill>
                  <a:srgbClr val="23232B"/>
                </a:solidFill>
                <a:latin typeface="Calibri"/>
              </a:rPr>
              <a:t> for &lt; 1 %</a:t>
            </a:r>
          </a:p>
          <a:p>
            <a:pPr algn="l" marL="274320" indent="-274320">
              <a:lnSpc>
                <a:spcPct val="100000"/>
              </a:lnSpc>
              <a:spcAft>
                <a:spcPts val="1000"/>
              </a:spcAft>
              <a:buClr>
                <a:srgbClr val="00A9CE"/>
              </a:buClr>
              <a:buFont typeface="Arial"/>
              <a:buChar char="•"/>
            </a:pPr>
            <a:r>
              <a:rPr sz="2000" b="0" i="0">
                <a:solidFill>
                  <a:srgbClr val="23232B"/>
                </a:solidFill>
                <a:latin typeface="Calibri"/>
              </a:rPr>
              <a:t>Follower: V</a:t>
            </a:r>
            <a:r>
              <a:rPr sz="2000" b="0" i="0" baseline="-25000">
                <a:solidFill>
                  <a:srgbClr val="23232B"/>
                </a:solidFill>
                <a:latin typeface="Calibri"/>
              </a:rPr>
              <a:t>out</a:t>
            </a:r>
            <a:r>
              <a:rPr sz="2000" b="0" i="0">
                <a:solidFill>
                  <a:srgbClr val="23232B"/>
                </a:solidFill>
                <a:latin typeface="Calibri"/>
              </a:rPr>
              <a:t> = V</a:t>
            </a:r>
            <a:r>
              <a:rPr sz="2000" b="0" i="0" baseline="-25000">
                <a:solidFill>
                  <a:srgbClr val="23232B"/>
                </a:solidFill>
                <a:latin typeface="Calibri"/>
              </a:rPr>
              <a:t>in</a:t>
            </a:r>
            <a:r>
              <a:rPr sz="2000" b="0" i="0">
                <a:solidFill>
                  <a:srgbClr val="23232B"/>
                </a:solidFill>
                <a:latin typeface="Calibri"/>
              </a:rPr>
              <a:t>, R</a:t>
            </a:r>
            <a:r>
              <a:rPr sz="2000" b="0" i="0" baseline="-25000">
                <a:solidFill>
                  <a:srgbClr val="23232B"/>
                </a:solidFill>
                <a:latin typeface="Calibri"/>
              </a:rPr>
              <a:t>in</a:t>
            </a:r>
            <a:r>
              <a:rPr sz="2000" b="0" i="0">
                <a:solidFill>
                  <a:srgbClr val="23232B"/>
                </a:solidFill>
                <a:latin typeface="Calibri"/>
              </a:rPr>
              <a:t> → ∞ (GΩ … TΩ), R</a:t>
            </a:r>
            <a:r>
              <a:rPr sz="2000" b="0" i="0" baseline="-25000">
                <a:solidFill>
                  <a:srgbClr val="23232B"/>
                </a:solidFill>
                <a:latin typeface="Calibri"/>
              </a:rPr>
              <a:t>out</a:t>
            </a:r>
            <a:r>
              <a:rPr sz="2000" b="0" i="0">
                <a:solidFill>
                  <a:srgbClr val="23232B"/>
                </a:solidFill>
                <a:latin typeface="Calibri"/>
              </a:rPr>
              <a:t> → 0</a:t>
            </a:r>
          </a:p>
          <a:p>
            <a:pPr algn="l" marL="274320" indent="-274320">
              <a:lnSpc>
                <a:spcPct val="100000"/>
              </a:lnSpc>
              <a:spcAft>
                <a:spcPts val="1000"/>
              </a:spcAft>
              <a:buClr>
                <a:srgbClr val="00A9CE"/>
              </a:buClr>
              <a:buFont typeface="Arial"/>
              <a:buChar char="•"/>
            </a:pPr>
            <a:r>
              <a:rPr sz="2000" b="0" i="0">
                <a:solidFill>
                  <a:srgbClr val="23232B"/>
                </a:solidFill>
                <a:latin typeface="Calibri"/>
              </a:rPr>
              <a:t>Stage A is not loaded, stage B sees an ideal source</a:t>
            </a:r>
          </a:p>
        </p:txBody>
      </p:sp>
      <p:sp>
        <p:nvSpPr>
          <p:cNvPr id="7" name="Key rule"/>
          <p:cNvSpPr/>
          <p:nvPr/>
        </p:nvSpPr>
        <p:spPr>
          <a:xfrm>
            <a:off x="548640" y="35692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36789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39532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B</a:t>
            </a:r>
            <a:r>
              <a:rPr sz="1700" b="1" i="0">
                <a:solidFill>
                  <a:srgbClr val="4E2A8C"/>
                </a:solidFill>
                <a:latin typeface="Calibri"/>
              </a:rPr>
              <a:t> = V</a:t>
            </a:r>
            <a:r>
              <a:rPr sz="1700" b="1" i="0" baseline="-25000">
                <a:solidFill>
                  <a:srgbClr val="4E2A8C"/>
                </a:solidFill>
                <a:latin typeface="Calibri"/>
              </a:rPr>
              <a:t>A</a:t>
            </a:r>
            <a:r>
              <a:rPr sz="1700" b="1" i="0">
                <a:solidFill>
                  <a:srgbClr val="4E2A8C"/>
                </a:solidFill>
                <a:latin typeface="Calibri"/>
              </a:rPr>
              <a:t>·R</a:t>
            </a:r>
            <a:r>
              <a:rPr sz="1700" b="1" i="0" baseline="-25000">
                <a:solidFill>
                  <a:srgbClr val="4E2A8C"/>
                </a:solidFill>
                <a:latin typeface="Calibri"/>
              </a:rPr>
              <a:t>in</a:t>
            </a:r>
            <a:r>
              <a:rPr sz="1700" b="1" i="0">
                <a:solidFill>
                  <a:srgbClr val="4E2A8C"/>
                </a:solidFill>
                <a:latin typeface="Calibri"/>
              </a:rPr>
              <a:t>/(R</a:t>
            </a:r>
            <a:r>
              <a:rPr sz="1700" b="1" i="0" baseline="-25000">
                <a:solidFill>
                  <a:srgbClr val="4E2A8C"/>
                </a:solidFill>
                <a:latin typeface="Calibri"/>
              </a:rPr>
              <a:t>in</a:t>
            </a:r>
            <a:r>
              <a:rPr sz="1700" b="1" i="0">
                <a:solidFill>
                  <a:srgbClr val="4E2A8C"/>
                </a:solidFill>
                <a:latin typeface="Calibri"/>
              </a:rPr>
              <a:t>+R</a:t>
            </a:r>
            <a:r>
              <a:rPr sz="1700" b="1" i="0" baseline="-25000">
                <a:solidFill>
                  <a:srgbClr val="4E2A8C"/>
                </a:solidFill>
                <a:latin typeface="Calibri"/>
              </a:rPr>
              <a:t>out</a:t>
            </a:r>
            <a:r>
              <a:rPr sz="1700" b="1" i="0">
                <a:solidFill>
                  <a:srgbClr val="4E2A8C"/>
                </a:solidFill>
                <a:latin typeface="Calibri"/>
              </a:rPr>
              <a:t>)</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Op-Amp Basics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UNITY-GAIN BUFFER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buffering a potentiometer</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the-voltage-follower-1.png"/>
          <p:cNvPicPr>
            <a:picLocks noChangeAspect="1"/>
          </p:cNvPicPr>
          <p:nvPr/>
        </p:nvPicPr>
        <p:blipFill>
          <a:blip r:embed="rId2"/>
          <a:stretch>
            <a:fillRect/>
          </a:stretch>
        </p:blipFill>
        <p:spPr>
          <a:xfrm>
            <a:off x="1228621" y="2092313"/>
            <a:ext cx="5040837" cy="3258589"/>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buffer_pot">
            <a:hlinkClick r:id="rId3"/>
          </p:cNvPr>
          <p:cNvSpPr/>
          <p:nvPr/>
        </p:nvSpPr>
        <p:spPr>
          <a:xfrm>
            <a:off x="7269479" y="1709928"/>
            <a:ext cx="437357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buffer_pot">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opampbasics/buffer_pot</a:t>
            </a:r>
          </a:p>
        </p:txBody>
      </p:sp>
      <p:sp>
        <p:nvSpPr>
          <p:cNvPr id="11" name="Falstad hint"/>
          <p:cNvSpPr txBox="1"/>
          <p:nvPr/>
        </p:nvSpPr>
        <p:spPr>
          <a:xfrm>
            <a:off x="7955279" y="2093976"/>
            <a:ext cx="359633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Compare V_direct (0.714 V) with V_buffered (2.50 V)</a:t>
            </a:r>
          </a:p>
        </p:txBody>
      </p:sp>
      <p:sp>
        <p:nvSpPr>
          <p:cNvPr id="12" name="Label"/>
          <p:cNvSpPr txBox="1"/>
          <p:nvPr/>
        </p:nvSpPr>
        <p:spPr>
          <a:xfrm>
            <a:off x="7269479" y="2785872"/>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197352"/>
            <a:ext cx="437357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10 kΩ pot at mid position: 2.5 V behind R</a:t>
            </a:r>
            <a:r>
              <a:rPr sz="1800" b="0" i="0" baseline="-25000">
                <a:solidFill>
                  <a:srgbClr val="23232B"/>
                </a:solidFill>
                <a:latin typeface="Calibri"/>
              </a:rPr>
              <a:t>out</a:t>
            </a:r>
            <a:r>
              <a:rPr sz="1800" b="0" i="0">
                <a:solidFill>
                  <a:srgbClr val="23232B"/>
                </a:solidFill>
                <a:latin typeface="Calibri"/>
              </a:rPr>
              <a:t> = 2.5 kΩ</a:t>
            </a:r>
          </a:p>
          <a:p>
            <a:pPr algn="l" marL="274320" indent="-274320">
              <a:lnSpc>
                <a:spcPct val="100000"/>
              </a:lnSpc>
              <a:spcAft>
                <a:spcPts val="1000"/>
              </a:spcAft>
              <a:buClr>
                <a:srgbClr val="00A9CE"/>
              </a:buClr>
              <a:buFont typeface="Arial"/>
              <a:buChar char="•"/>
            </a:pPr>
            <a:r>
              <a:rPr sz="1800" b="0" i="0">
                <a:solidFill>
                  <a:srgbClr val="23232B"/>
                </a:solidFill>
                <a:latin typeface="Calibri"/>
              </a:rPr>
              <a:t>1 kΩ directly at the wiper collapses it; behind the follower: 2.50 V</a:t>
            </a:r>
          </a:p>
          <a:p>
            <a:pPr algn="l" marL="274320" indent="-274320">
              <a:lnSpc>
                <a:spcPct val="100000"/>
              </a:lnSpc>
              <a:spcAft>
                <a:spcPts val="1000"/>
              </a:spcAft>
              <a:buClr>
                <a:srgbClr val="00A9CE"/>
              </a:buClr>
              <a:buFont typeface="Arial"/>
              <a:buChar char="•"/>
            </a:pPr>
            <a:r>
              <a:rPr sz="1800" b="0" i="0">
                <a:solidFill>
                  <a:srgbClr val="23232B"/>
                </a:solidFill>
                <a:latin typeface="Calibri"/>
              </a:rPr>
              <a:t>Use the slider: how large must R</a:t>
            </a:r>
            <a:r>
              <a:rPr sz="1800" b="0" i="0" baseline="-25000">
                <a:solidFill>
                  <a:srgbClr val="23232B"/>
                </a:solidFill>
                <a:latin typeface="Calibri"/>
              </a:rPr>
              <a:t>L</a:t>
            </a:r>
            <a:r>
              <a:rPr sz="1800" b="0" i="0">
                <a:solidFill>
                  <a:srgbClr val="23232B"/>
                </a:solidFill>
                <a:latin typeface="Calibri"/>
              </a:rPr>
              <a:t> be without a buffer?</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Op-Amp Basics</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UNITY-GAIN BUFFER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two RC low-passes in cascade</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example-two-rc-low-passes-in-cascade-1.png"/>
          <p:cNvPicPr>
            <a:picLocks noChangeAspect="1"/>
          </p:cNvPicPr>
          <p:nvPr/>
        </p:nvPicPr>
        <p:blipFill>
          <a:blip r:embed="rId2"/>
          <a:stretch>
            <a:fillRect/>
          </a:stretch>
        </p:blipFill>
        <p:spPr>
          <a:xfrm>
            <a:off x="749808" y="2511008"/>
            <a:ext cx="5998464" cy="2421198"/>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buffer_rc_cascade">
            <a:hlinkClick r:id="rId3"/>
          </p:cNvPr>
          <p:cNvSpPr/>
          <p:nvPr/>
        </p:nvSpPr>
        <p:spPr>
          <a:xfrm>
            <a:off x="7269479" y="1709928"/>
            <a:ext cx="4373575" cy="908304"/>
          </a:xfrm>
          <a:prstGeom prst="roundRect">
            <a:avLst>
              <a:gd name="adj" fmla="val 1208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96291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208178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buffer_rc_cascade">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opampbasics/buffer_rc_cascade</a:t>
            </a:r>
          </a:p>
        </p:txBody>
      </p:sp>
      <p:sp>
        <p:nvSpPr>
          <p:cNvPr id="11" name="Falstad hint"/>
          <p:cNvSpPr txBox="1"/>
          <p:nvPr/>
        </p:nvSpPr>
        <p:spPr>
          <a:xfrm>
            <a:off x="7955279" y="2093976"/>
            <a:ext cx="3596335" cy="41452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Scope at f</a:t>
            </a:r>
            <a:r>
              <a:rPr sz="1300" b="0" i="0" baseline="-25000">
                <a:solidFill>
                  <a:srgbClr val="23232B"/>
                </a:solidFill>
                <a:latin typeface="Calibri"/>
              </a:rPr>
              <a:t>c</a:t>
            </a:r>
            <a:r>
              <a:rPr sz="1300" b="0" i="0">
                <a:solidFill>
                  <a:srgbClr val="23232B"/>
                </a:solidFill>
                <a:latin typeface="Calibri"/>
              </a:rPr>
              <a:t> = 159 Hz: 0.500 V buffered vs 0.333 V direct</a:t>
            </a:r>
          </a:p>
        </p:txBody>
      </p:sp>
      <p:sp>
        <p:nvSpPr>
          <p:cNvPr id="12" name="Label"/>
          <p:cNvSpPr txBox="1"/>
          <p:nvPr/>
        </p:nvSpPr>
        <p:spPr>
          <a:xfrm>
            <a:off x="7269479" y="2983991"/>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395471"/>
            <a:ext cx="4373575" cy="274929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With buffer: H = H</a:t>
            </a:r>
            <a:r>
              <a:rPr sz="1800" b="0" i="0" baseline="-25000">
                <a:solidFill>
                  <a:srgbClr val="23232B"/>
                </a:solidFill>
                <a:latin typeface="Calibri"/>
              </a:rPr>
              <a:t>1</a:t>
            </a:r>
            <a:r>
              <a:rPr sz="1800" b="0" i="0">
                <a:solidFill>
                  <a:srgbClr val="23232B"/>
                </a:solidFill>
                <a:latin typeface="Calibri"/>
              </a:rPr>
              <a:t>·H</a:t>
            </a:r>
            <a:r>
              <a:rPr sz="1800" b="0" i="0" baseline="-25000">
                <a:solidFill>
                  <a:srgbClr val="23232B"/>
                </a:solidFill>
                <a:latin typeface="Calibri"/>
              </a:rPr>
              <a:t>2</a:t>
            </a:r>
            <a:r>
              <a:rPr sz="1800" b="0" i="0">
                <a:solidFill>
                  <a:srgbClr val="23232B"/>
                </a:solidFill>
                <a:latin typeface="Calibri"/>
              </a:rPr>
              <a:t>, −6 dB at f</a:t>
            </a:r>
            <a:r>
              <a:rPr sz="1800" b="0" i="0" baseline="-25000">
                <a:solidFill>
                  <a:srgbClr val="23232B"/>
                </a:solidFill>
                <a:latin typeface="Calibri"/>
              </a:rPr>
              <a:t>c</a:t>
            </a:r>
          </a:p>
          <a:p>
            <a:pPr algn="l" marL="274320" indent="-274320">
              <a:lnSpc>
                <a:spcPct val="100000"/>
              </a:lnSpc>
              <a:spcAft>
                <a:spcPts val="1000"/>
              </a:spcAft>
              <a:buClr>
                <a:srgbClr val="00A9CE"/>
              </a:buClr>
              <a:buFont typeface="Arial"/>
              <a:buChar char="•"/>
            </a:pPr>
            <a:r>
              <a:rPr sz="1800" b="0" i="0">
                <a:solidFill>
                  <a:srgbClr val="23232B"/>
                </a:solidFill>
                <a:latin typeface="Calibri"/>
              </a:rPr>
              <a:t>Directly connected: −9.5 dB, lower corner, softer knee</a:t>
            </a:r>
          </a:p>
          <a:p>
            <a:pPr algn="l" marL="274320" indent="-274320">
              <a:lnSpc>
                <a:spcPct val="100000"/>
              </a:lnSpc>
              <a:spcAft>
                <a:spcPts val="1000"/>
              </a:spcAft>
              <a:buClr>
                <a:srgbClr val="00A9CE"/>
              </a:buClr>
              <a:buFont typeface="Arial"/>
              <a:buChar char="•"/>
            </a:pPr>
            <a:r>
              <a:rPr sz="1800" b="0" i="0">
                <a:solidFill>
                  <a:srgbClr val="23232B"/>
                </a:solidFill>
                <a:latin typeface="Calibri"/>
              </a:rPr>
              <a:t>Buffered stages can be designed one by one (active filters)</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Op-Amp Basics</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NON-INVERTING AMPLIFIER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Non-inverting amplifier and buffer limits</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non-inverting-amplifier-1.png"/>
          <p:cNvPicPr>
            <a:picLocks noChangeAspect="1"/>
          </p:cNvPicPr>
          <p:nvPr/>
        </p:nvPicPr>
        <p:blipFill>
          <a:blip r:embed="rId2"/>
          <a:stretch>
            <a:fillRect/>
          </a:stretch>
        </p:blipFill>
        <p:spPr>
          <a:xfrm>
            <a:off x="7034105" y="1499616"/>
            <a:ext cx="4249963" cy="4443983"/>
          </a:xfrm>
          <a:prstGeom prst="rect">
            <a:avLst/>
          </a:prstGeom>
        </p:spPr>
      </p:pic>
      <p:sp>
        <p:nvSpPr>
          <p:cNvPr id="6" name="Bullets"/>
          <p:cNvSpPr txBox="1"/>
          <p:nvPr/>
        </p:nvSpPr>
        <p:spPr>
          <a:xfrm>
            <a:off x="548640" y="1298448"/>
            <a:ext cx="5806440" cy="29921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R</a:t>
            </a:r>
            <a:r>
              <a:rPr sz="2000" b="0" i="0" baseline="-25000">
                <a:solidFill>
                  <a:srgbClr val="23232B"/>
                </a:solidFill>
                <a:latin typeface="Calibri"/>
              </a:rPr>
              <a:t>1</a:t>
            </a:r>
            <a:r>
              <a:rPr sz="2000" b="0" i="0">
                <a:solidFill>
                  <a:srgbClr val="23232B"/>
                </a:solidFill>
                <a:latin typeface="Calibri"/>
              </a:rPr>
              <a:t>, R</a:t>
            </a:r>
            <a:r>
              <a:rPr sz="2000" b="0" i="0" baseline="-25000">
                <a:solidFill>
                  <a:srgbClr val="23232B"/>
                </a:solidFill>
                <a:latin typeface="Calibri"/>
              </a:rPr>
              <a:t>2</a:t>
            </a:r>
            <a:r>
              <a:rPr sz="2000" b="0" i="0">
                <a:solidFill>
                  <a:srgbClr val="23232B"/>
                </a:solidFill>
                <a:latin typeface="Calibri"/>
              </a:rPr>
              <a:t> feed back part of V</a:t>
            </a:r>
            <a:r>
              <a:rPr sz="2000" b="0" i="0" baseline="-25000">
                <a:solidFill>
                  <a:srgbClr val="23232B"/>
                </a:solidFill>
                <a:latin typeface="Calibri"/>
              </a:rPr>
              <a:t>out</a:t>
            </a:r>
            <a:r>
              <a:rPr sz="2000" b="0" i="0">
                <a:solidFill>
                  <a:srgbClr val="23232B"/>
                </a:solidFill>
                <a:latin typeface="Calibri"/>
              </a:rPr>
              <a:t>; R</a:t>
            </a:r>
            <a:r>
              <a:rPr sz="2000" b="0" i="0" baseline="-25000">
                <a:solidFill>
                  <a:srgbClr val="23232B"/>
                </a:solidFill>
                <a:latin typeface="Calibri"/>
              </a:rPr>
              <a:t>2</a:t>
            </a:r>
            <a:r>
              <a:rPr sz="2000" b="0" i="0">
                <a:solidFill>
                  <a:srgbClr val="23232B"/>
                </a:solidFill>
                <a:latin typeface="Calibri"/>
              </a:rPr>
              <a:t> = 0 gives the follower</a:t>
            </a:r>
          </a:p>
          <a:p>
            <a:pPr algn="l" marL="274320" indent="-274320">
              <a:lnSpc>
                <a:spcPct val="100000"/>
              </a:lnSpc>
              <a:spcAft>
                <a:spcPts val="1000"/>
              </a:spcAft>
              <a:buClr>
                <a:srgbClr val="00A9CE"/>
              </a:buClr>
              <a:buFont typeface="Arial"/>
              <a:buChar char="•"/>
            </a:pPr>
            <a:r>
              <a:rPr sz="2000" b="0" i="0">
                <a:solidFill>
                  <a:srgbClr val="23232B"/>
                </a:solidFill>
                <a:latin typeface="Calibri"/>
              </a:rPr>
              <a:t>Gain set only by the resistor ratio: 1 % resistors → about 2 % gain error</a:t>
            </a:r>
          </a:p>
          <a:p>
            <a:pPr algn="l" marL="274320" indent="-274320">
              <a:lnSpc>
                <a:spcPct val="100000"/>
              </a:lnSpc>
              <a:spcAft>
                <a:spcPts val="1000"/>
              </a:spcAft>
              <a:buClr>
                <a:srgbClr val="00A9CE"/>
              </a:buClr>
              <a:buFont typeface="Arial"/>
              <a:buChar char="•"/>
            </a:pPr>
            <a:r>
              <a:rPr sz="2000" b="0" i="0">
                <a:solidFill>
                  <a:srgbClr val="23232B"/>
                </a:solidFill>
                <a:latin typeface="Calibri"/>
              </a:rPr>
              <a:t>Limits: output current, swing and input common-mode range</a:t>
            </a:r>
          </a:p>
          <a:p>
            <a:pPr algn="l" marL="274320" indent="-274320">
              <a:lnSpc>
                <a:spcPct val="100000"/>
              </a:lnSpc>
              <a:spcAft>
                <a:spcPts val="1000"/>
              </a:spcAft>
              <a:buClr>
                <a:srgbClr val="00A9CE"/>
              </a:buClr>
              <a:buFont typeface="Arial"/>
              <a:buChar char="•"/>
            </a:pPr>
            <a:r>
              <a:rPr sz="2000" b="0" i="0">
                <a:solidFill>
                  <a:srgbClr val="23232B"/>
                </a:solidFill>
                <a:latin typeface="Calibri"/>
              </a:rPr>
              <a:t>Capacitive load may oscillate: add 50 … 100 Ω in series with the output</a:t>
            </a:r>
          </a:p>
          <a:p>
            <a:pPr algn="l" marL="274320" indent="-274320">
              <a:lnSpc>
                <a:spcPct val="100000"/>
              </a:lnSpc>
              <a:spcAft>
                <a:spcPts val="1000"/>
              </a:spcAft>
              <a:buClr>
                <a:srgbClr val="00A9CE"/>
              </a:buClr>
              <a:buFont typeface="Arial"/>
              <a:buChar char="•"/>
            </a:pPr>
            <a:r>
              <a:rPr sz="2000" b="0" i="0">
                <a:solidFill>
                  <a:srgbClr val="23232B"/>
                </a:solidFill>
                <a:latin typeface="Calibri"/>
              </a:rPr>
              <a:t>Offset: V</a:t>
            </a:r>
            <a:r>
              <a:rPr sz="2000" b="0" i="0" baseline="-25000">
                <a:solidFill>
                  <a:srgbClr val="23232B"/>
                </a:solidFill>
                <a:latin typeface="Calibri"/>
              </a:rPr>
              <a:t>out</a:t>
            </a:r>
            <a:r>
              <a:rPr sz="2000" b="0" i="0">
                <a:solidFill>
                  <a:srgbClr val="23232B"/>
                </a:solidFill>
                <a:latin typeface="Calibri"/>
              </a:rPr>
              <a:t> = V</a:t>
            </a:r>
            <a:r>
              <a:rPr sz="2000" b="0" i="0" baseline="-25000">
                <a:solidFill>
                  <a:srgbClr val="23232B"/>
                </a:solidFill>
                <a:latin typeface="Calibri"/>
              </a:rPr>
              <a:t>in</a:t>
            </a:r>
            <a:r>
              <a:rPr sz="2000" b="0" i="0">
                <a:solidFill>
                  <a:srgbClr val="23232B"/>
                </a:solidFill>
                <a:latin typeface="Calibri"/>
              </a:rPr>
              <a:t> + V</a:t>
            </a:r>
            <a:r>
              <a:rPr sz="2000" b="0" i="0" baseline="-25000">
                <a:solidFill>
                  <a:srgbClr val="23232B"/>
                </a:solidFill>
                <a:latin typeface="Calibri"/>
              </a:rPr>
              <a:t>OS</a:t>
            </a:r>
            <a:r>
              <a:rPr sz="2000" b="0" i="0">
                <a:solidFill>
                  <a:srgbClr val="23232B"/>
                </a:solidFill>
                <a:latin typeface="Calibri"/>
              </a:rPr>
              <a:t> (µV … mV)</a:t>
            </a:r>
          </a:p>
        </p:txBody>
      </p:sp>
      <p:sp>
        <p:nvSpPr>
          <p:cNvPr id="7" name="Key rule"/>
          <p:cNvSpPr/>
          <p:nvPr/>
        </p:nvSpPr>
        <p:spPr>
          <a:xfrm>
            <a:off x="548640" y="4610608"/>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47203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49946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G = 1 + R</a:t>
            </a:r>
            <a:r>
              <a:rPr sz="1700" b="1" i="0" baseline="-25000">
                <a:solidFill>
                  <a:srgbClr val="4E2A8C"/>
                </a:solidFill>
                <a:latin typeface="Calibri"/>
              </a:rPr>
              <a:t>2</a:t>
            </a:r>
            <a:r>
              <a:rPr sz="1700" b="1" i="0">
                <a:solidFill>
                  <a:srgbClr val="4E2A8C"/>
                </a:solidFill>
                <a:latin typeface="Calibri"/>
              </a:rPr>
              <a:t>/R</a:t>
            </a:r>
            <a:r>
              <a:rPr sz="1700" b="1" i="0" baseline="-25000">
                <a:solidFill>
                  <a:srgbClr val="4E2A8C"/>
                </a:solidFill>
                <a:latin typeface="Calibri"/>
              </a:rPr>
              <a:t>1</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Op-Amp Basics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EXERCISES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Now work it out in the script</a:t>
            </a:r>
          </a:p>
        </p:txBody>
      </p:sp>
      <p:sp>
        <p:nvSpPr>
          <p:cNvPr id="4" name="Intro"/>
          <p:cNvSpPr txBox="1"/>
          <p:nvPr/>
        </p:nvSpPr>
        <p:spPr>
          <a:xfrm>
            <a:off x="548640" y="1298448"/>
            <a:ext cx="11094415" cy="640080"/>
          </a:xfrm>
          <a:prstGeom prst="rect">
            <a:avLst/>
          </a:prstGeom>
          <a:noFill/>
        </p:spPr>
        <p:txBody>
          <a:bodyPr wrap="square" lIns="0" rIns="0" tIns="0" bIns="0" anchor="t">
            <a:noAutofit/>
          </a:bodyPr>
          <a:lstStyle/>
          <a:p>
            <a:pPr algn="l">
              <a:lnSpc>
                <a:spcPct val="100000"/>
              </a:lnSpc>
              <a:spcAft>
                <a:spcPts val="600"/>
              </a:spcAft>
              <a:buNone/>
            </a:pPr>
            <a:r>
              <a:rPr sz="1800" b="0" i="0">
                <a:solidFill>
                  <a:srgbClr val="62626E"/>
                </a:solidFill>
                <a:latin typeface="Calibri"/>
              </a:rPr>
              <a:t>Derivations, worked numbers and solutions: script, chapter 2 “Op-Amp Basics”. Check each result in the Falstad examples.</a:t>
            </a:r>
          </a:p>
        </p:txBody>
      </p:sp>
      <p:sp>
        <p:nvSpPr>
          <p:cNvPr id="5" name="Exercise card"/>
          <p:cNvSpPr/>
          <p:nvPr/>
        </p:nvSpPr>
        <p:spPr>
          <a:xfrm>
            <a:off x="548640" y="2167128"/>
            <a:ext cx="11094415"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rcise number"/>
          <p:cNvSpPr/>
          <p:nvPr/>
        </p:nvSpPr>
        <p:spPr>
          <a:xfrm>
            <a:off x="548640"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2.1</a:t>
            </a:r>
          </a:p>
        </p:txBody>
      </p:sp>
      <p:sp>
        <p:nvSpPr>
          <p:cNvPr id="8" name="Exercise title"/>
          <p:cNvSpPr txBox="1"/>
          <p:nvPr/>
        </p:nvSpPr>
        <p:spPr>
          <a:xfrm>
            <a:off x="1645919" y="2167128"/>
            <a:ext cx="9859975"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Buffering a potentiometer</a:t>
            </a:r>
          </a:p>
        </p:txBody>
      </p:sp>
      <p:pic>
        <p:nvPicPr>
          <p:cNvPr id="9"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1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Op-Amp Basics</a:t>
            </a:r>
          </a:p>
        </p:txBody>
      </p:sp>
      <p:sp>
        <p:nvSpPr>
          <p:cNvPr id="1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6638B6"/>
        </a:solidFill>
        <a:effectLst/>
      </p:bgPr>
    </p:bg>
    <p:spTree>
      <p:nvGrpSpPr>
        <p:cNvPr id="1" name=""/>
        <p:cNvGrpSpPr/>
        <p:nvPr/>
      </p:nvGrpSpPr>
      <p:grpSpPr/>
      <p:sp>
        <p:nvSpPr>
          <p:cNvPr id="2" name="Chapter number"/>
          <p:cNvSpPr txBox="1"/>
          <p:nvPr/>
        </p:nvSpPr>
        <p:spPr>
          <a:xfrm>
            <a:off x="548640" y="822960"/>
            <a:ext cx="2743200" cy="1463040"/>
          </a:xfrm>
          <a:prstGeom prst="rect">
            <a:avLst/>
          </a:prstGeom>
          <a:noFill/>
        </p:spPr>
        <p:txBody>
          <a:bodyPr wrap="square" lIns="0" rIns="0" tIns="0" bIns="0" anchor="t">
            <a:noAutofit/>
          </a:bodyPr>
          <a:lstStyle/>
          <a:p>
            <a:pPr algn="l">
              <a:lnSpc>
                <a:spcPct val="100000"/>
              </a:lnSpc>
              <a:spcAft>
                <a:spcPts val="600"/>
              </a:spcAft>
              <a:buNone/>
            </a:pPr>
            <a:r>
              <a:rPr sz="9600" b="1" i="0">
                <a:solidFill>
                  <a:srgbClr val="9B7DD4"/>
                </a:solidFill>
                <a:latin typeface="Calibri"/>
              </a:rPr>
              <a:t>03</a:t>
            </a:r>
          </a:p>
        </p:txBody>
      </p:sp>
      <p:sp>
        <p:nvSpPr>
          <p:cNvPr id="3" name="Chapter title"/>
          <p:cNvSpPr txBox="1"/>
          <p:nvPr/>
        </p:nvSpPr>
        <p:spPr>
          <a:xfrm>
            <a:off x="548640" y="2331720"/>
            <a:ext cx="11094415" cy="914400"/>
          </a:xfrm>
          <a:prstGeom prst="rect">
            <a:avLst/>
          </a:prstGeom>
          <a:noFill/>
        </p:spPr>
        <p:txBody>
          <a:bodyPr wrap="square" lIns="0" rIns="0" tIns="0" bIns="0" anchor="ctr">
            <a:noAutofit/>
          </a:bodyPr>
          <a:lstStyle/>
          <a:p>
            <a:pPr algn="l">
              <a:lnSpc>
                <a:spcPct val="100000"/>
              </a:lnSpc>
              <a:spcAft>
                <a:spcPts val="600"/>
              </a:spcAft>
              <a:buNone/>
            </a:pPr>
            <a:r>
              <a:rPr sz="4400" b="1" i="0">
                <a:solidFill>
                  <a:srgbClr val="FFFFFF"/>
                </a:solidFill>
                <a:latin typeface="Calibri"/>
              </a:rPr>
              <a:t>Voltage and Current Sources</a:t>
            </a:r>
          </a:p>
        </p:txBody>
      </p:sp>
      <p:sp>
        <p:nvSpPr>
          <p:cNvPr id="4" name="Chapter subtitle"/>
          <p:cNvSpPr txBox="1"/>
          <p:nvPr/>
        </p:nvSpPr>
        <p:spPr>
          <a:xfrm>
            <a:off x="548640" y="3246120"/>
            <a:ext cx="11094415" cy="4572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CFE9F3"/>
                </a:solidFill>
                <a:latin typeface="Calibri"/>
              </a:rPr>
              <a:t>Real sources, Zener and transistor regulators, current sources for sensors</a:t>
            </a:r>
          </a:p>
        </p:txBody>
      </p:sp>
      <p:sp>
        <p:nvSpPr>
          <p:cNvPr id="5" name="Takeaway card"/>
          <p:cNvSpPr/>
          <p:nvPr/>
        </p:nvSpPr>
        <p:spPr>
          <a:xfrm>
            <a:off x="548640"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1</a:t>
            </a:r>
          </a:p>
        </p:txBody>
      </p:sp>
      <p:sp>
        <p:nvSpPr>
          <p:cNvPr id="7" name="Takeaway"/>
          <p:cNvSpPr txBox="1"/>
          <p:nvPr/>
        </p:nvSpPr>
        <p:spPr>
          <a:xfrm>
            <a:off x="822959"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Every real source has an internal resistance</a:t>
            </a:r>
          </a:p>
        </p:txBody>
      </p:sp>
      <p:sp>
        <p:nvSpPr>
          <p:cNvPr id="8" name="Takeaway card"/>
          <p:cNvSpPr/>
          <p:nvPr/>
        </p:nvSpPr>
        <p:spPr>
          <a:xfrm>
            <a:off x="4338218"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2538"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2</a:t>
            </a:r>
          </a:p>
        </p:txBody>
      </p:sp>
      <p:sp>
        <p:nvSpPr>
          <p:cNvPr id="10" name="Takeaway"/>
          <p:cNvSpPr txBox="1"/>
          <p:nvPr/>
        </p:nvSpPr>
        <p:spPr>
          <a:xfrm>
            <a:off x="4612538"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Op-amp loops make voltages and currents exact</a:t>
            </a:r>
          </a:p>
        </p:txBody>
      </p:sp>
      <p:sp>
        <p:nvSpPr>
          <p:cNvPr id="11" name="Takeaway card"/>
          <p:cNvSpPr/>
          <p:nvPr/>
        </p:nvSpPr>
        <p:spPr>
          <a:xfrm>
            <a:off x="8127796"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2116"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3</a:t>
            </a:r>
          </a:p>
        </p:txBody>
      </p:sp>
      <p:sp>
        <p:nvSpPr>
          <p:cNvPr id="13" name="Takeaway"/>
          <p:cNvSpPr txBox="1"/>
          <p:nvPr/>
        </p:nvSpPr>
        <p:spPr>
          <a:xfrm>
            <a:off x="8402116"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Excite the 1 kΩ sensor with 1 mA, not more</a:t>
            </a:r>
          </a:p>
        </p:txBody>
      </p:sp>
      <p:sp>
        <p:nvSpPr>
          <p:cNvPr id="14" name="Footer"/>
          <p:cNvSpPr txBox="1"/>
          <p:nvPr/>
        </p:nvSpPr>
        <p:spPr>
          <a:xfrm>
            <a:off x="548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FFFFFF"/>
                </a:solidFill>
                <a:latin typeface="Calibri"/>
              </a:rPr>
              <a:t>Electronic Circuit Design  ·  Voltage and Current Sources</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FFFFFF"/>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IDEAL AND REAL VOLTAGE SOURCES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Real voltage source</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load-line-and-operating-point-1.png"/>
          <p:cNvPicPr>
            <a:picLocks noChangeAspect="1"/>
          </p:cNvPicPr>
          <p:nvPr/>
        </p:nvPicPr>
        <p:blipFill>
          <a:blip r:embed="rId2"/>
          <a:stretch>
            <a:fillRect/>
          </a:stretch>
        </p:blipFill>
        <p:spPr>
          <a:xfrm>
            <a:off x="6876288" y="2529972"/>
            <a:ext cx="4565599" cy="2383270"/>
          </a:xfrm>
          <a:prstGeom prst="rect">
            <a:avLst/>
          </a:prstGeom>
        </p:spPr>
      </p:pic>
      <p:sp>
        <p:nvSpPr>
          <p:cNvPr id="6" name="Falstad real_source">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real_source">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sources/real_source</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Move the R_L slider to 1.25 Ω: load power peaks at 4.05 W</a:t>
            </a:r>
          </a:p>
        </p:txBody>
      </p:sp>
      <p:sp>
        <p:nvSpPr>
          <p:cNvPr id="11" name="Bullets"/>
          <p:cNvSpPr txBox="1"/>
          <p:nvPr/>
        </p:nvSpPr>
        <p:spPr>
          <a:xfrm>
            <a:off x="548640" y="1298448"/>
            <a:ext cx="5806440" cy="216407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900" b="0" i="0">
                <a:solidFill>
                  <a:srgbClr val="23232B"/>
                </a:solidFill>
                <a:latin typeface="Calibri"/>
              </a:rPr>
              <a:t>Terminal voltage drops with load current: V</a:t>
            </a:r>
            <a:r>
              <a:rPr sz="1900" b="0" i="0" baseline="-25000">
                <a:solidFill>
                  <a:srgbClr val="23232B"/>
                </a:solidFill>
                <a:latin typeface="Calibri"/>
              </a:rPr>
              <a:t>L</a:t>
            </a:r>
            <a:r>
              <a:rPr sz="1900" b="0" i="0">
                <a:solidFill>
                  <a:srgbClr val="23232B"/>
                </a:solidFill>
                <a:latin typeface="Calibri"/>
              </a:rPr>
              <a:t> = V</a:t>
            </a:r>
            <a:r>
              <a:rPr sz="1900" b="0" i="0" baseline="-25000">
                <a:solidFill>
                  <a:srgbClr val="23232B"/>
                </a:solidFill>
                <a:latin typeface="Calibri"/>
              </a:rPr>
              <a:t>0</a:t>
            </a:r>
            <a:r>
              <a:rPr sz="1900" b="0" i="0">
                <a:solidFill>
                  <a:srgbClr val="23232B"/>
                </a:solidFill>
                <a:latin typeface="Calibri"/>
              </a:rPr>
              <a:t> − R</a:t>
            </a:r>
            <a:r>
              <a:rPr sz="1900" b="0" i="0" baseline="-25000">
                <a:solidFill>
                  <a:srgbClr val="23232B"/>
                </a:solidFill>
                <a:latin typeface="Calibri"/>
              </a:rPr>
              <a:t>i</a:t>
            </a:r>
            <a:r>
              <a:rPr sz="1900" b="0" i="0">
                <a:solidFill>
                  <a:srgbClr val="23232B"/>
                </a:solidFill>
                <a:latin typeface="Calibri"/>
              </a:rPr>
              <a:t>·I</a:t>
            </a:r>
            <a:r>
              <a:rPr sz="1900" b="0" i="0" baseline="-25000">
                <a:solidFill>
                  <a:srgbClr val="23232B"/>
                </a:solidFill>
                <a:latin typeface="Calibri"/>
              </a:rPr>
              <a:t>L</a:t>
            </a:r>
          </a:p>
          <a:p>
            <a:pPr algn="l" marL="274320" indent="-274320">
              <a:lnSpc>
                <a:spcPct val="100000"/>
              </a:lnSpc>
              <a:spcAft>
                <a:spcPts val="1000"/>
              </a:spcAft>
              <a:buClr>
                <a:srgbClr val="00A9CE"/>
              </a:buClr>
              <a:buFont typeface="Arial"/>
              <a:buChar char="•"/>
            </a:pPr>
            <a:r>
              <a:rPr sz="1900" b="0" i="0">
                <a:solidFill>
                  <a:srgbClr val="23232B"/>
                </a:solidFill>
                <a:latin typeface="Calibri"/>
              </a:rPr>
              <a:t>Typical R</a:t>
            </a:r>
            <a:r>
              <a:rPr sz="1900" b="0" i="0" baseline="-25000">
                <a:solidFill>
                  <a:srgbClr val="23232B"/>
                </a:solidFill>
                <a:latin typeface="Calibri"/>
              </a:rPr>
              <a:t>i</a:t>
            </a:r>
            <a:r>
              <a:rPr sz="1900" b="0" i="0">
                <a:solidFill>
                  <a:srgbClr val="23232B"/>
                </a:solidFill>
                <a:latin typeface="Calibri"/>
              </a:rPr>
              <a:t>: AA cell 0.1–0.3 Ω, logic output 20–50 Ω, op-amp output </a:t>
            </a:r>
            <a:r>
              <a:rPr sz="1900" b="0" i="0">
                <a:solidFill>
                  <a:srgbClr val="23232B"/>
                </a:solidFill>
                <a:latin typeface="Cambria Math"/>
              </a:rPr>
              <a:t>≪</a:t>
            </a:r>
            <a:r>
              <a:rPr sz="1900" b="0" i="0">
                <a:solidFill>
                  <a:srgbClr val="23232B"/>
                </a:solidFill>
                <a:latin typeface="Calibri"/>
              </a:rPr>
              <a:t> 1 Ω</a:t>
            </a:r>
          </a:p>
          <a:p>
            <a:pPr algn="l" marL="274320" indent="-274320">
              <a:lnSpc>
                <a:spcPct val="100000"/>
              </a:lnSpc>
              <a:spcAft>
                <a:spcPts val="1000"/>
              </a:spcAft>
              <a:buClr>
                <a:srgbClr val="00A9CE"/>
              </a:buClr>
              <a:buFont typeface="Arial"/>
              <a:buChar char="•"/>
            </a:pPr>
            <a:r>
              <a:rPr sz="1900" b="0" i="0">
                <a:solidFill>
                  <a:srgbClr val="23232B"/>
                </a:solidFill>
                <a:latin typeface="Calibri"/>
              </a:rPr>
              <a:t>Power matching R</a:t>
            </a:r>
            <a:r>
              <a:rPr sz="1900" b="0" i="0" baseline="-25000">
                <a:solidFill>
                  <a:srgbClr val="23232B"/>
                </a:solidFill>
                <a:latin typeface="Calibri"/>
              </a:rPr>
              <a:t>L</a:t>
            </a:r>
            <a:r>
              <a:rPr sz="1900" b="0" i="0">
                <a:solidFill>
                  <a:srgbClr val="23232B"/>
                </a:solidFill>
                <a:latin typeface="Calibri"/>
              </a:rPr>
              <a:t> = R</a:t>
            </a:r>
            <a:r>
              <a:rPr sz="1900" b="0" i="0" baseline="-25000">
                <a:solidFill>
                  <a:srgbClr val="23232B"/>
                </a:solidFill>
                <a:latin typeface="Calibri"/>
              </a:rPr>
              <a:t>i</a:t>
            </a:r>
            <a:r>
              <a:rPr sz="1900" b="0" i="0">
                <a:solidFill>
                  <a:srgbClr val="23232B"/>
                </a:solidFill>
                <a:latin typeface="Calibri"/>
              </a:rPr>
              <a:t>: P</a:t>
            </a:r>
            <a:r>
              <a:rPr sz="1900" b="0" i="0" baseline="-25000">
                <a:solidFill>
                  <a:srgbClr val="23232B"/>
                </a:solidFill>
                <a:latin typeface="Calibri"/>
              </a:rPr>
              <a:t>max</a:t>
            </a:r>
            <a:r>
              <a:rPr sz="1900" b="0" i="0">
                <a:solidFill>
                  <a:srgbClr val="23232B"/>
                </a:solidFill>
                <a:latin typeface="Calibri"/>
              </a:rPr>
              <a:t> = V</a:t>
            </a:r>
            <a:r>
              <a:rPr sz="1900" b="0" i="0" baseline="-25000">
                <a:solidFill>
                  <a:srgbClr val="23232B"/>
                </a:solidFill>
                <a:latin typeface="Calibri"/>
              </a:rPr>
              <a:t>0</a:t>
            </a:r>
            <a:r>
              <a:rPr sz="1900" b="0" i="0" baseline="30000">
                <a:solidFill>
                  <a:srgbClr val="23232B"/>
                </a:solidFill>
                <a:latin typeface="Calibri"/>
              </a:rPr>
              <a:t>2</a:t>
            </a:r>
            <a:r>
              <a:rPr sz="1900" b="0" i="0">
                <a:solidFill>
                  <a:srgbClr val="23232B"/>
                </a:solidFill>
                <a:latin typeface="Calibri"/>
              </a:rPr>
              <a:t>/(4R</a:t>
            </a:r>
            <a:r>
              <a:rPr sz="1900" b="0" i="0" baseline="-25000">
                <a:solidFill>
                  <a:srgbClr val="23232B"/>
                </a:solidFill>
                <a:latin typeface="Calibri"/>
              </a:rPr>
              <a:t>i</a:t>
            </a:r>
            <a:r>
              <a:rPr sz="1900" b="0" i="0">
                <a:solidFill>
                  <a:srgbClr val="23232B"/>
                </a:solidFill>
                <a:latin typeface="Calibri"/>
              </a:rPr>
              <a:t>), but only 50 % efficiency</a:t>
            </a:r>
          </a:p>
          <a:p>
            <a:pPr algn="l" marL="274320" indent="-274320">
              <a:lnSpc>
                <a:spcPct val="100000"/>
              </a:lnSpc>
              <a:spcAft>
                <a:spcPts val="1000"/>
              </a:spcAft>
              <a:buClr>
                <a:srgbClr val="00A9CE"/>
              </a:buClr>
              <a:buFont typeface="Arial"/>
              <a:buChar char="•"/>
            </a:pPr>
            <a:r>
              <a:rPr sz="1900" b="0" i="0">
                <a:solidFill>
                  <a:srgbClr val="23232B"/>
                </a:solidFill>
                <a:latin typeface="Calibri"/>
              </a:rPr>
              <a:t>Supplies and measurement: voltage matching, R</a:t>
            </a:r>
            <a:r>
              <a:rPr sz="1900" b="0" i="0" baseline="-25000">
                <a:solidFill>
                  <a:srgbClr val="23232B"/>
                </a:solidFill>
                <a:latin typeface="Calibri"/>
              </a:rPr>
              <a:t>L</a:t>
            </a:r>
            <a:r>
              <a:rPr sz="1900" b="0" i="0">
                <a:solidFill>
                  <a:srgbClr val="23232B"/>
                </a:solidFill>
                <a:latin typeface="Calibri"/>
              </a:rPr>
              <a:t> </a:t>
            </a:r>
            <a:r>
              <a:rPr sz="1900" b="0" i="0">
                <a:solidFill>
                  <a:srgbClr val="23232B"/>
                </a:solidFill>
                <a:latin typeface="Cambria Math"/>
              </a:rPr>
              <a:t>≫</a:t>
            </a:r>
            <a:r>
              <a:rPr sz="1900" b="0" i="0">
                <a:solidFill>
                  <a:srgbClr val="23232B"/>
                </a:solidFill>
                <a:latin typeface="Calibri"/>
              </a:rPr>
              <a:t> R</a:t>
            </a:r>
            <a:r>
              <a:rPr sz="1900" b="0" i="0" baseline="-25000">
                <a:solidFill>
                  <a:srgbClr val="23232B"/>
                </a:solidFill>
                <a:latin typeface="Calibri"/>
              </a:rPr>
              <a:t>i</a:t>
            </a:r>
          </a:p>
        </p:txBody>
      </p:sp>
      <p:sp>
        <p:nvSpPr>
          <p:cNvPr id="12" name="Key rule"/>
          <p:cNvSpPr/>
          <p:nvPr/>
        </p:nvSpPr>
        <p:spPr>
          <a:xfrm>
            <a:off x="548640" y="378256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389229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16661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L</a:t>
            </a:r>
            <a:r>
              <a:rPr sz="1700" b="1" i="0">
                <a:solidFill>
                  <a:srgbClr val="4E2A8C"/>
                </a:solidFill>
                <a:latin typeface="Calibri"/>
              </a:rPr>
              <a:t> = V</a:t>
            </a:r>
            <a:r>
              <a:rPr sz="1700" b="1" i="0" baseline="-25000">
                <a:solidFill>
                  <a:srgbClr val="4E2A8C"/>
                </a:solidFill>
                <a:latin typeface="Calibri"/>
              </a:rPr>
              <a:t>0</a:t>
            </a:r>
            <a:r>
              <a:rPr sz="1700" b="1" i="0">
                <a:solidFill>
                  <a:srgbClr val="4E2A8C"/>
                </a:solidFill>
                <a:latin typeface="Calibri"/>
              </a:rPr>
              <a:t>·R</a:t>
            </a:r>
            <a:r>
              <a:rPr sz="1700" b="1" i="0" baseline="-25000">
                <a:solidFill>
                  <a:srgbClr val="4E2A8C"/>
                </a:solidFill>
                <a:latin typeface="Calibri"/>
              </a:rPr>
              <a:t>L</a:t>
            </a:r>
            <a:r>
              <a:rPr sz="1700" b="1" i="0">
                <a:solidFill>
                  <a:srgbClr val="4E2A8C"/>
                </a:solidFill>
                <a:latin typeface="Calibri"/>
              </a:rPr>
              <a:t>/(R</a:t>
            </a:r>
            <a:r>
              <a:rPr sz="1700" b="1" i="0" baseline="-25000">
                <a:solidFill>
                  <a:srgbClr val="4E2A8C"/>
                </a:solidFill>
                <a:latin typeface="Calibri"/>
              </a:rPr>
              <a:t>i</a:t>
            </a:r>
            <a:r>
              <a:rPr sz="1700" b="1" i="0">
                <a:solidFill>
                  <a:srgbClr val="4E2A8C"/>
                </a:solidFill>
                <a:latin typeface="Calibri"/>
              </a:rPr>
              <a:t>+R</a:t>
            </a:r>
            <a:r>
              <a:rPr sz="1700" b="1" i="0" baseline="-25000">
                <a:solidFill>
                  <a:srgbClr val="4E2A8C"/>
                </a:solidFill>
                <a:latin typeface="Calibri"/>
              </a:rPr>
              <a:t>L</a:t>
            </a:r>
            <a:r>
              <a:rPr sz="1700" b="1" i="0">
                <a:solidFill>
                  <a:srgbClr val="4E2A8C"/>
                </a:solidFill>
                <a:latin typeface="Calibri"/>
              </a:rPr>
              <a:t>)</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and Current Sources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CURRENT SOURCES AND SOURCE TRANSFORMATION</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Current source and source transformation</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ideal-and-real-current-source-1.png"/>
          <p:cNvPicPr>
            <a:picLocks noChangeAspect="1"/>
          </p:cNvPicPr>
          <p:nvPr/>
        </p:nvPicPr>
        <p:blipFill>
          <a:blip r:embed="rId2"/>
          <a:stretch>
            <a:fillRect/>
          </a:stretch>
        </p:blipFill>
        <p:spPr>
          <a:xfrm>
            <a:off x="6876288" y="2105290"/>
            <a:ext cx="4565599" cy="3232635"/>
          </a:xfrm>
          <a:prstGeom prst="rect">
            <a:avLst/>
          </a:prstGeom>
        </p:spPr>
      </p:pic>
      <p:sp>
        <p:nvSpPr>
          <p:cNvPr id="6" name="Falstad source_transform">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source_transform">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sources/source_transform</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10 V/10 kΩ and 1 mA ‖ 10 kΩ both give 3.20 V at 4.7 kΩ</a:t>
            </a:r>
          </a:p>
        </p:txBody>
      </p:sp>
      <p:sp>
        <p:nvSpPr>
          <p:cNvPr id="11" name="Bullets"/>
          <p:cNvSpPr txBox="1"/>
          <p:nvPr/>
        </p:nvSpPr>
        <p:spPr>
          <a:xfrm>
            <a:off x="548640" y="1298448"/>
            <a:ext cx="5806440" cy="245363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900" b="0" i="0">
                <a:solidFill>
                  <a:srgbClr val="23232B"/>
                </a:solidFill>
                <a:latin typeface="Calibri"/>
              </a:rPr>
              <a:t>Good current source: large internal resistance, R</a:t>
            </a:r>
            <a:r>
              <a:rPr sz="1900" b="0" i="0" baseline="-25000">
                <a:solidFill>
                  <a:srgbClr val="23232B"/>
                </a:solidFill>
                <a:latin typeface="Calibri"/>
              </a:rPr>
              <a:t>i</a:t>
            </a:r>
            <a:r>
              <a:rPr sz="1900" b="0" i="0">
                <a:solidFill>
                  <a:srgbClr val="23232B"/>
                </a:solidFill>
                <a:latin typeface="Calibri"/>
              </a:rPr>
              <a:t> </a:t>
            </a:r>
            <a:r>
              <a:rPr sz="1900" b="0" i="0">
                <a:solidFill>
                  <a:srgbClr val="23232B"/>
                </a:solidFill>
                <a:latin typeface="Cambria Math"/>
              </a:rPr>
              <a:t>≫</a:t>
            </a:r>
            <a:r>
              <a:rPr sz="1900" b="0" i="0">
                <a:solidFill>
                  <a:srgbClr val="23232B"/>
                </a:solidFill>
                <a:latin typeface="Calibri"/>
              </a:rPr>
              <a:t> R</a:t>
            </a:r>
            <a:r>
              <a:rPr sz="1900" b="0" i="0" baseline="-25000">
                <a:solidFill>
                  <a:srgbClr val="23232B"/>
                </a:solidFill>
                <a:latin typeface="Calibri"/>
              </a:rPr>
              <a:t>L</a:t>
            </a:r>
          </a:p>
          <a:p>
            <a:pPr algn="l" marL="274320" indent="-274320">
              <a:lnSpc>
                <a:spcPct val="100000"/>
              </a:lnSpc>
              <a:spcAft>
                <a:spcPts val="1000"/>
              </a:spcAft>
              <a:buClr>
                <a:srgbClr val="00A9CE"/>
              </a:buClr>
              <a:buFont typeface="Arial"/>
              <a:buChar char="•"/>
            </a:pPr>
            <a:r>
              <a:rPr sz="1900" b="0" i="0">
                <a:solidFill>
                  <a:srgbClr val="23232B"/>
                </a:solidFill>
                <a:latin typeface="Calibri"/>
              </a:rPr>
              <a:t>Never leave an ideal current source open; real ones have a compliance range</a:t>
            </a:r>
          </a:p>
          <a:p>
            <a:pPr algn="l" marL="274320" indent="-274320">
              <a:lnSpc>
                <a:spcPct val="100000"/>
              </a:lnSpc>
              <a:spcAft>
                <a:spcPts val="1000"/>
              </a:spcAft>
              <a:buClr>
                <a:srgbClr val="00A9CE"/>
              </a:buClr>
              <a:buFont typeface="Arial"/>
              <a:buChar char="•"/>
            </a:pPr>
            <a:r>
              <a:rPr sz="1900" b="0" i="0">
                <a:solidFill>
                  <a:srgbClr val="23232B"/>
                </a:solidFill>
                <a:latin typeface="Calibri"/>
              </a:rPr>
              <a:t>Thevenin ↔ Norton: same V</a:t>
            </a:r>
            <a:r>
              <a:rPr sz="1900" b="0" i="0" baseline="-25000">
                <a:solidFill>
                  <a:srgbClr val="23232B"/>
                </a:solidFill>
                <a:latin typeface="Calibri"/>
              </a:rPr>
              <a:t>0</a:t>
            </a:r>
            <a:r>
              <a:rPr sz="1900" b="0" i="0">
                <a:solidFill>
                  <a:srgbClr val="23232B"/>
                </a:solidFill>
                <a:latin typeface="Calibri"/>
              </a:rPr>
              <a:t> and I</a:t>
            </a:r>
            <a:r>
              <a:rPr sz="1900" b="0" i="0" baseline="-25000">
                <a:solidFill>
                  <a:srgbClr val="23232B"/>
                </a:solidFill>
                <a:latin typeface="Calibri"/>
              </a:rPr>
              <a:t>0</a:t>
            </a:r>
            <a:r>
              <a:rPr sz="1900" b="0" i="0">
                <a:solidFill>
                  <a:srgbClr val="23232B"/>
                </a:solidFill>
                <a:latin typeface="Calibri"/>
              </a:rPr>
              <a:t> = V</a:t>
            </a:r>
            <a:r>
              <a:rPr sz="1900" b="0" i="0" baseline="-25000">
                <a:solidFill>
                  <a:srgbClr val="23232B"/>
                </a:solidFill>
                <a:latin typeface="Calibri"/>
              </a:rPr>
              <a:t>0</a:t>
            </a:r>
            <a:r>
              <a:rPr sz="1900" b="0" i="0">
                <a:solidFill>
                  <a:srgbClr val="23232B"/>
                </a:solidFill>
                <a:latin typeface="Calibri"/>
              </a:rPr>
              <a:t>/R</a:t>
            </a:r>
            <a:r>
              <a:rPr sz="1900" b="0" i="0" baseline="-25000">
                <a:solidFill>
                  <a:srgbClr val="23232B"/>
                </a:solidFill>
                <a:latin typeface="Calibri"/>
              </a:rPr>
              <a:t>i</a:t>
            </a:r>
            <a:r>
              <a:rPr sz="1900" b="0" i="0">
                <a:solidFill>
                  <a:srgbClr val="23232B"/>
                </a:solidFill>
                <a:latin typeface="Calibri"/>
              </a:rPr>
              <a:t>, same for every load</a:t>
            </a:r>
          </a:p>
          <a:p>
            <a:pPr algn="l" marL="274320" indent="-274320">
              <a:lnSpc>
                <a:spcPct val="100000"/>
              </a:lnSpc>
              <a:spcAft>
                <a:spcPts val="1000"/>
              </a:spcAft>
              <a:buClr>
                <a:srgbClr val="00A9CE"/>
              </a:buClr>
              <a:buFont typeface="Arial"/>
              <a:buChar char="•"/>
            </a:pPr>
            <a:r>
              <a:rPr sz="1900" b="0" i="0">
                <a:solidFill>
                  <a:srgbClr val="23232B"/>
                </a:solidFill>
                <a:latin typeface="Calibri"/>
              </a:rPr>
              <a:t>Equivalent only at the terminals: the power lost inside differs</a:t>
            </a:r>
          </a:p>
        </p:txBody>
      </p:sp>
      <p:sp>
        <p:nvSpPr>
          <p:cNvPr id="12" name="Key rule"/>
          <p:cNvSpPr/>
          <p:nvPr/>
        </p:nvSpPr>
        <p:spPr>
          <a:xfrm>
            <a:off x="548640" y="407212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418185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45617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I</a:t>
            </a:r>
            <a:r>
              <a:rPr sz="1700" b="1" i="0" baseline="-25000">
                <a:solidFill>
                  <a:srgbClr val="4E2A8C"/>
                </a:solidFill>
                <a:latin typeface="Calibri"/>
              </a:rPr>
              <a:t>L</a:t>
            </a:r>
            <a:r>
              <a:rPr sz="1700" b="1" i="0">
                <a:solidFill>
                  <a:srgbClr val="4E2A8C"/>
                </a:solidFill>
                <a:latin typeface="Calibri"/>
              </a:rPr>
              <a:t> = I</a:t>
            </a:r>
            <a:r>
              <a:rPr sz="1700" b="1" i="0" baseline="-25000">
                <a:solidFill>
                  <a:srgbClr val="4E2A8C"/>
                </a:solidFill>
                <a:latin typeface="Calibri"/>
              </a:rPr>
              <a:t>0</a:t>
            </a:r>
            <a:r>
              <a:rPr sz="1700" b="1" i="0">
                <a:solidFill>
                  <a:srgbClr val="4E2A8C"/>
                </a:solidFill>
                <a:latin typeface="Calibri"/>
              </a:rPr>
              <a:t>·R</a:t>
            </a:r>
            <a:r>
              <a:rPr sz="1700" b="1" i="0" baseline="-25000">
                <a:solidFill>
                  <a:srgbClr val="4E2A8C"/>
                </a:solidFill>
                <a:latin typeface="Calibri"/>
              </a:rPr>
              <a:t>i</a:t>
            </a:r>
            <a:r>
              <a:rPr sz="1700" b="1" i="0">
                <a:solidFill>
                  <a:srgbClr val="4E2A8C"/>
                </a:solidFill>
                <a:latin typeface="Calibri"/>
              </a:rPr>
              <a:t>/(R</a:t>
            </a:r>
            <a:r>
              <a:rPr sz="1700" b="1" i="0" baseline="-25000">
                <a:solidFill>
                  <a:srgbClr val="4E2A8C"/>
                </a:solidFill>
                <a:latin typeface="Calibri"/>
              </a:rPr>
              <a:t>i</a:t>
            </a:r>
            <a:r>
              <a:rPr sz="1700" b="1" i="0">
                <a:solidFill>
                  <a:srgbClr val="4E2A8C"/>
                </a:solidFill>
                <a:latin typeface="Calibri"/>
              </a:rPr>
              <a:t>+R</a:t>
            </a:r>
            <a:r>
              <a:rPr sz="1700" b="1" i="0" baseline="-25000">
                <a:solidFill>
                  <a:srgbClr val="4E2A8C"/>
                </a:solidFill>
                <a:latin typeface="Calibri"/>
              </a:rPr>
              <a:t>L</a:t>
            </a:r>
            <a:r>
              <a:rPr sz="1700" b="1" i="0">
                <a:solidFill>
                  <a:srgbClr val="4E2A8C"/>
                </a:solidFill>
                <a:latin typeface="Calibri"/>
              </a:rPr>
              <a:t>)</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and Current Sources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ZENER DIODE SHUNT REGULATOR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Zener shunt regulator</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shunt-regulator-1.png"/>
          <p:cNvPicPr>
            <a:picLocks noChangeAspect="1"/>
          </p:cNvPicPr>
          <p:nvPr/>
        </p:nvPicPr>
        <p:blipFill>
          <a:blip r:embed="rId2"/>
          <a:stretch>
            <a:fillRect/>
          </a:stretch>
        </p:blipFill>
        <p:spPr>
          <a:xfrm>
            <a:off x="6876288" y="2433621"/>
            <a:ext cx="4565599" cy="2575972"/>
          </a:xfrm>
          <a:prstGeom prst="rect">
            <a:avLst/>
          </a:prstGeom>
        </p:spPr>
      </p:pic>
      <p:sp>
        <p:nvSpPr>
          <p:cNvPr id="6" name="Falstad zener_shunt">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zener_shunt">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sources/zener_shunt</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12 V, 220 Ω, 5.6 V: compare V_out open and with 270 Ω load</a:t>
            </a:r>
          </a:p>
        </p:txBody>
      </p:sp>
      <p:sp>
        <p:nvSpPr>
          <p:cNvPr id="11" name="Bullets"/>
          <p:cNvSpPr txBox="1"/>
          <p:nvPr/>
        </p:nvSpPr>
        <p:spPr>
          <a:xfrm>
            <a:off x="548640" y="1298448"/>
            <a:ext cx="5806440" cy="3861815"/>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Resistor takes the difference: I</a:t>
            </a:r>
            <a:r>
              <a:rPr sz="2000" b="0" i="0" baseline="-25000">
                <a:solidFill>
                  <a:srgbClr val="23232B"/>
                </a:solidFill>
                <a:latin typeface="Calibri"/>
              </a:rPr>
              <a:t>R</a:t>
            </a:r>
            <a:r>
              <a:rPr sz="2000" b="0" i="0">
                <a:solidFill>
                  <a:srgbClr val="23232B"/>
                </a:solidFill>
                <a:latin typeface="Calibri"/>
              </a:rPr>
              <a:t> = (V</a:t>
            </a:r>
            <a:r>
              <a:rPr sz="2000" b="0" i="0" baseline="-25000">
                <a:solidFill>
                  <a:srgbClr val="23232B"/>
                </a:solidFill>
                <a:latin typeface="Calibri"/>
              </a:rPr>
              <a:t>in</a:t>
            </a:r>
            <a:r>
              <a:rPr sz="2000" b="0" i="0">
                <a:solidFill>
                  <a:srgbClr val="23232B"/>
                </a:solidFill>
                <a:latin typeface="Calibri"/>
              </a:rPr>
              <a:t> − V</a:t>
            </a:r>
            <a:r>
              <a:rPr sz="2000" b="0" i="0" baseline="-25000">
                <a:solidFill>
                  <a:srgbClr val="23232B"/>
                </a:solidFill>
                <a:latin typeface="Calibri"/>
              </a:rPr>
              <a:t>Z</a:t>
            </a:r>
            <a:r>
              <a:rPr sz="2000" b="0" i="0">
                <a:solidFill>
                  <a:srgbClr val="23232B"/>
                </a:solidFill>
                <a:latin typeface="Calibri"/>
              </a:rPr>
              <a:t>)/R</a:t>
            </a:r>
          </a:p>
          <a:p>
            <a:pPr algn="l" marL="274320" indent="-274320">
              <a:lnSpc>
                <a:spcPct val="100000"/>
              </a:lnSpc>
              <a:spcAft>
                <a:spcPts val="1000"/>
              </a:spcAft>
              <a:buClr>
                <a:srgbClr val="00A9CE"/>
              </a:buClr>
              <a:buFont typeface="Arial"/>
              <a:buChar char="•"/>
            </a:pPr>
            <a:r>
              <a:rPr sz="2000" b="0" i="0">
                <a:solidFill>
                  <a:srgbClr val="23232B"/>
                </a:solidFill>
                <a:latin typeface="Calibri"/>
              </a:rPr>
              <a:t>Zener takes what the load does not need: I</a:t>
            </a:r>
            <a:r>
              <a:rPr sz="2000" b="0" i="0" baseline="-25000">
                <a:solidFill>
                  <a:srgbClr val="23232B"/>
                </a:solidFill>
                <a:latin typeface="Calibri"/>
              </a:rPr>
              <a:t>Z</a:t>
            </a:r>
            <a:r>
              <a:rPr sz="2000" b="0" i="0">
                <a:solidFill>
                  <a:srgbClr val="23232B"/>
                </a:solidFill>
                <a:latin typeface="Calibri"/>
              </a:rPr>
              <a:t> = I</a:t>
            </a:r>
            <a:r>
              <a:rPr sz="2000" b="0" i="0" baseline="-25000">
                <a:solidFill>
                  <a:srgbClr val="23232B"/>
                </a:solidFill>
                <a:latin typeface="Calibri"/>
              </a:rPr>
              <a:t>R</a:t>
            </a:r>
            <a:r>
              <a:rPr sz="2000" b="0" i="0">
                <a:solidFill>
                  <a:srgbClr val="23232B"/>
                </a:solidFill>
                <a:latin typeface="Calibri"/>
              </a:rPr>
              <a:t> − I</a:t>
            </a:r>
            <a:r>
              <a:rPr sz="2000" b="0" i="0" baseline="-25000">
                <a:solidFill>
                  <a:srgbClr val="23232B"/>
                </a:solidFill>
                <a:latin typeface="Calibri"/>
              </a:rPr>
              <a:t>L</a:t>
            </a:r>
          </a:p>
          <a:p>
            <a:pPr algn="l" marL="274320" indent="-274320">
              <a:lnSpc>
                <a:spcPct val="100000"/>
              </a:lnSpc>
              <a:spcAft>
                <a:spcPts val="1000"/>
              </a:spcAft>
              <a:buClr>
                <a:srgbClr val="00A9CE"/>
              </a:buClr>
              <a:buFont typeface="Arial"/>
              <a:buChar char="•"/>
            </a:pPr>
            <a:r>
              <a:rPr sz="2000" b="0" i="0">
                <a:solidFill>
                  <a:srgbClr val="23232B"/>
                </a:solidFill>
                <a:latin typeface="Calibri"/>
              </a:rPr>
              <a:t>Keep I</a:t>
            </a:r>
            <a:r>
              <a:rPr sz="2000" b="0" i="0" baseline="-25000">
                <a:solidFill>
                  <a:srgbClr val="23232B"/>
                </a:solidFill>
                <a:latin typeface="Calibri"/>
              </a:rPr>
              <a:t>Z</a:t>
            </a:r>
            <a:r>
              <a:rPr sz="2000" b="0" i="0">
                <a:solidFill>
                  <a:srgbClr val="23232B"/>
                </a:solidFill>
                <a:latin typeface="Calibri"/>
              </a:rPr>
              <a:t> ≥ I</a:t>
            </a:r>
            <a:r>
              <a:rPr sz="2000" b="0" i="0" baseline="-25000">
                <a:solidFill>
                  <a:srgbClr val="23232B"/>
                </a:solidFill>
                <a:latin typeface="Calibri"/>
              </a:rPr>
              <a:t>Z,min</a:t>
            </a:r>
            <a:r>
              <a:rPr sz="2000" b="0" i="0">
                <a:solidFill>
                  <a:srgbClr val="23232B"/>
                </a:solidFill>
                <a:latin typeface="Calibri"/>
              </a:rPr>
              <a:t> (about 5 mA) in every case</a:t>
            </a:r>
          </a:p>
          <a:p>
            <a:pPr algn="l" marL="274320" indent="-274320">
              <a:lnSpc>
                <a:spcPct val="100000"/>
              </a:lnSpc>
              <a:spcAft>
                <a:spcPts val="1000"/>
              </a:spcAft>
              <a:buClr>
                <a:srgbClr val="00A9CE"/>
              </a:buClr>
              <a:buFont typeface="Arial"/>
              <a:buChar char="•"/>
            </a:pPr>
            <a:r>
              <a:rPr sz="2000" b="0" i="0">
                <a:solidFill>
                  <a:srgbClr val="23232B"/>
                </a:solidFill>
                <a:latin typeface="Calibri"/>
              </a:rPr>
              <a:t>Line regulation ≈ r</a:t>
            </a:r>
            <a:r>
              <a:rPr sz="2000" b="0" i="0" baseline="-25000">
                <a:solidFill>
                  <a:srgbClr val="23232B"/>
                </a:solidFill>
                <a:latin typeface="Calibri"/>
              </a:rPr>
              <a:t>Z</a:t>
            </a:r>
            <a:r>
              <a:rPr sz="2000" b="0" i="0">
                <a:solidFill>
                  <a:srgbClr val="23232B"/>
                </a:solidFill>
                <a:latin typeface="Calibri"/>
              </a:rPr>
              <a:t>/R, output resistance ≈ r</a:t>
            </a:r>
            <a:r>
              <a:rPr sz="2000" b="0" i="0" baseline="-25000">
                <a:solidFill>
                  <a:srgbClr val="23232B"/>
                </a:solidFill>
                <a:latin typeface="Calibri"/>
              </a:rPr>
              <a:t>Z</a:t>
            </a:r>
            <a:r>
              <a:rPr sz="2000" b="0" i="0">
                <a:solidFill>
                  <a:srgbClr val="23232B"/>
                </a:solidFill>
                <a:latin typeface="Calibri"/>
              </a:rPr>
              <a:t>; poor efficiency</a:t>
            </a:r>
          </a:p>
        </p:txBody>
      </p:sp>
      <p:pic>
        <p:nvPicPr>
          <p:cNvPr id="12"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and Current Sources</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ZENER DIODE SHUNT REGULATOR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Design recipe: Zener shunt regulator</a:t>
            </a:r>
          </a:p>
        </p:txBody>
      </p:sp>
      <p:sp>
        <p:nvSpPr>
          <p:cNvPr id="4" name="Step 1"/>
          <p:cNvSpPr/>
          <p:nvPr/>
        </p:nvSpPr>
        <p:spPr>
          <a:xfrm>
            <a:off x="548640" y="1344168"/>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44168"/>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1</a:t>
            </a:r>
          </a:p>
        </p:txBody>
      </p:sp>
      <p:sp>
        <p:nvSpPr>
          <p:cNvPr id="6" name="Step text 1"/>
          <p:cNvSpPr txBox="1"/>
          <p:nvPr/>
        </p:nvSpPr>
        <p:spPr>
          <a:xfrm>
            <a:off x="1280160" y="1429512"/>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Lowest V</a:t>
            </a:r>
            <a:r>
              <a:rPr sz="2000" b="0" i="0" baseline="-25000">
                <a:solidFill>
                  <a:srgbClr val="23232B"/>
                </a:solidFill>
                <a:latin typeface="Calibri"/>
              </a:rPr>
              <a:t>in</a:t>
            </a:r>
            <a:r>
              <a:rPr sz="2000" b="0" i="0">
                <a:solidFill>
                  <a:srgbClr val="23232B"/>
                </a:solidFill>
                <a:latin typeface="Calibri"/>
              </a:rPr>
              <a:t>, full load: R ≤ (V</a:t>
            </a:r>
            <a:r>
              <a:rPr sz="2000" b="0" i="0" baseline="-25000">
                <a:solidFill>
                  <a:srgbClr val="23232B"/>
                </a:solidFill>
                <a:latin typeface="Calibri"/>
              </a:rPr>
              <a:t>in,min</a:t>
            </a:r>
            <a:r>
              <a:rPr sz="2000" b="0" i="0">
                <a:solidFill>
                  <a:srgbClr val="23232B"/>
                </a:solidFill>
                <a:latin typeface="Calibri"/>
              </a:rPr>
              <a:t> − V</a:t>
            </a:r>
            <a:r>
              <a:rPr sz="2000" b="0" i="0" baseline="-25000">
                <a:solidFill>
                  <a:srgbClr val="23232B"/>
                </a:solidFill>
                <a:latin typeface="Calibri"/>
              </a:rPr>
              <a:t>Z</a:t>
            </a:r>
            <a:r>
              <a:rPr sz="2000" b="0" i="0">
                <a:solidFill>
                  <a:srgbClr val="23232B"/>
                </a:solidFill>
                <a:latin typeface="Calibri"/>
              </a:rPr>
              <a:t>)/(I</a:t>
            </a:r>
            <a:r>
              <a:rPr sz="2000" b="0" i="0" baseline="-25000">
                <a:solidFill>
                  <a:srgbClr val="23232B"/>
                </a:solidFill>
                <a:latin typeface="Calibri"/>
              </a:rPr>
              <a:t>L,max</a:t>
            </a:r>
            <a:r>
              <a:rPr sz="2000" b="0" i="0">
                <a:solidFill>
                  <a:srgbClr val="23232B"/>
                </a:solidFill>
                <a:latin typeface="Calibri"/>
              </a:rPr>
              <a:t> + I</a:t>
            </a:r>
            <a:r>
              <a:rPr sz="2000" b="0" i="0" baseline="-25000">
                <a:solidFill>
                  <a:srgbClr val="23232B"/>
                </a:solidFill>
                <a:latin typeface="Calibri"/>
              </a:rPr>
              <a:t>Z,min</a:t>
            </a:r>
            <a:r>
              <a:rPr sz="2000" b="0" i="0">
                <a:solidFill>
                  <a:srgbClr val="23232B"/>
                </a:solidFill>
                <a:latin typeface="Calibri"/>
              </a:rPr>
              <a:t>)</a:t>
            </a:r>
          </a:p>
        </p:txBody>
      </p:sp>
      <p:sp>
        <p:nvSpPr>
          <p:cNvPr id="7" name="Step 2"/>
          <p:cNvSpPr/>
          <p:nvPr/>
        </p:nvSpPr>
        <p:spPr>
          <a:xfrm>
            <a:off x="548640" y="2112263"/>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12263"/>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2</a:t>
            </a:r>
          </a:p>
        </p:txBody>
      </p:sp>
      <p:sp>
        <p:nvSpPr>
          <p:cNvPr id="9" name="Step text 2"/>
          <p:cNvSpPr txBox="1"/>
          <p:nvPr/>
        </p:nvSpPr>
        <p:spPr>
          <a:xfrm>
            <a:off x="1280160" y="2197608"/>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Pick the next smaller E-value (12 V, 5.6 V, 20 mA → 220 Ω)</a:t>
            </a:r>
          </a:p>
        </p:txBody>
      </p:sp>
      <p:sp>
        <p:nvSpPr>
          <p:cNvPr id="10" name="Step 3"/>
          <p:cNvSpPr/>
          <p:nvPr/>
        </p:nvSpPr>
        <p:spPr>
          <a:xfrm>
            <a:off x="548640" y="2880359"/>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880359"/>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3</a:t>
            </a:r>
          </a:p>
        </p:txBody>
      </p:sp>
      <p:sp>
        <p:nvSpPr>
          <p:cNvPr id="12" name="Step text 3"/>
          <p:cNvSpPr txBox="1"/>
          <p:nvPr/>
        </p:nvSpPr>
        <p:spPr>
          <a:xfrm>
            <a:off x="1280160" y="2965704"/>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Highest V</a:t>
            </a:r>
            <a:r>
              <a:rPr sz="2000" b="0" i="0" baseline="-25000">
                <a:solidFill>
                  <a:srgbClr val="23232B"/>
                </a:solidFill>
                <a:latin typeface="Calibri"/>
              </a:rPr>
              <a:t>in</a:t>
            </a:r>
            <a:r>
              <a:rPr sz="2000" b="0" i="0">
                <a:solidFill>
                  <a:srgbClr val="23232B"/>
                </a:solidFill>
                <a:latin typeface="Calibri"/>
              </a:rPr>
              <a:t>, no load: I</a:t>
            </a:r>
            <a:r>
              <a:rPr sz="2000" b="0" i="0" baseline="-25000">
                <a:solidFill>
                  <a:srgbClr val="23232B"/>
                </a:solidFill>
                <a:latin typeface="Calibri"/>
              </a:rPr>
              <a:t>Z,max</a:t>
            </a:r>
            <a:r>
              <a:rPr sz="2000" b="0" i="0">
                <a:solidFill>
                  <a:srgbClr val="23232B"/>
                </a:solidFill>
                <a:latin typeface="Calibri"/>
              </a:rPr>
              <a:t> = (V</a:t>
            </a:r>
            <a:r>
              <a:rPr sz="2000" b="0" i="0" baseline="-25000">
                <a:solidFill>
                  <a:srgbClr val="23232B"/>
                </a:solidFill>
                <a:latin typeface="Calibri"/>
              </a:rPr>
              <a:t>in,max</a:t>
            </a:r>
            <a:r>
              <a:rPr sz="2000" b="0" i="0">
                <a:solidFill>
                  <a:srgbClr val="23232B"/>
                </a:solidFill>
                <a:latin typeface="Calibri"/>
              </a:rPr>
              <a:t> − V</a:t>
            </a:r>
            <a:r>
              <a:rPr sz="2000" b="0" i="0" baseline="-25000">
                <a:solidFill>
                  <a:srgbClr val="23232B"/>
                </a:solidFill>
                <a:latin typeface="Calibri"/>
              </a:rPr>
              <a:t>Z</a:t>
            </a:r>
            <a:r>
              <a:rPr sz="2000" b="0" i="0">
                <a:solidFill>
                  <a:srgbClr val="23232B"/>
                </a:solidFill>
                <a:latin typeface="Calibri"/>
              </a:rPr>
              <a:t>)/R, P</a:t>
            </a:r>
            <a:r>
              <a:rPr sz="2000" b="0" i="0" baseline="-25000">
                <a:solidFill>
                  <a:srgbClr val="23232B"/>
                </a:solidFill>
                <a:latin typeface="Calibri"/>
              </a:rPr>
              <a:t>Z</a:t>
            </a:r>
            <a:r>
              <a:rPr sz="2000" b="0" i="0">
                <a:solidFill>
                  <a:srgbClr val="23232B"/>
                </a:solidFill>
                <a:latin typeface="Calibri"/>
              </a:rPr>
              <a:t> = V</a:t>
            </a:r>
            <a:r>
              <a:rPr sz="2000" b="0" i="0" baseline="-25000">
                <a:solidFill>
                  <a:srgbClr val="23232B"/>
                </a:solidFill>
                <a:latin typeface="Calibri"/>
              </a:rPr>
              <a:t>Z</a:t>
            </a:r>
            <a:r>
              <a:rPr sz="2000" b="0" i="0">
                <a:solidFill>
                  <a:srgbClr val="23232B"/>
                </a:solidFill>
                <a:latin typeface="Calibri"/>
              </a:rPr>
              <a:t>·I</a:t>
            </a:r>
            <a:r>
              <a:rPr sz="2000" b="0" i="0" baseline="-25000">
                <a:solidFill>
                  <a:srgbClr val="23232B"/>
                </a:solidFill>
                <a:latin typeface="Calibri"/>
              </a:rPr>
              <a:t>Z,max</a:t>
            </a:r>
          </a:p>
        </p:txBody>
      </p:sp>
      <p:sp>
        <p:nvSpPr>
          <p:cNvPr id="13" name="Step 4"/>
          <p:cNvSpPr/>
          <p:nvPr/>
        </p:nvSpPr>
        <p:spPr>
          <a:xfrm>
            <a:off x="548640" y="3648455"/>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48455"/>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4</a:t>
            </a:r>
          </a:p>
        </p:txBody>
      </p:sp>
      <p:sp>
        <p:nvSpPr>
          <p:cNvPr id="15" name="Step text 4"/>
          <p:cNvSpPr txBox="1"/>
          <p:nvPr/>
        </p:nvSpPr>
        <p:spPr>
          <a:xfrm>
            <a:off x="1280160" y="3733799"/>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Resistor power: P</a:t>
            </a:r>
            <a:r>
              <a:rPr sz="2000" b="0" i="0" baseline="-25000">
                <a:solidFill>
                  <a:srgbClr val="23232B"/>
                </a:solidFill>
                <a:latin typeface="Calibri"/>
              </a:rPr>
              <a:t>R</a:t>
            </a:r>
            <a:r>
              <a:rPr sz="2000" b="0" i="0">
                <a:solidFill>
                  <a:srgbClr val="23232B"/>
                </a:solidFill>
                <a:latin typeface="Calibri"/>
              </a:rPr>
              <a:t> = (V</a:t>
            </a:r>
            <a:r>
              <a:rPr sz="2000" b="0" i="0" baseline="-25000">
                <a:solidFill>
                  <a:srgbClr val="23232B"/>
                </a:solidFill>
                <a:latin typeface="Calibri"/>
              </a:rPr>
              <a:t>in,max</a:t>
            </a:r>
            <a:r>
              <a:rPr sz="2000" b="0" i="0">
                <a:solidFill>
                  <a:srgbClr val="23232B"/>
                </a:solidFill>
                <a:latin typeface="Calibri"/>
              </a:rPr>
              <a:t> − V</a:t>
            </a:r>
            <a:r>
              <a:rPr sz="2000" b="0" i="0" baseline="-25000">
                <a:solidFill>
                  <a:srgbClr val="23232B"/>
                </a:solidFill>
                <a:latin typeface="Calibri"/>
              </a:rPr>
              <a:t>Z</a:t>
            </a:r>
            <a:r>
              <a:rPr sz="2000" b="0" i="0">
                <a:solidFill>
                  <a:srgbClr val="23232B"/>
                </a:solidFill>
                <a:latin typeface="Calibri"/>
              </a:rPr>
              <a:t>)</a:t>
            </a:r>
            <a:r>
              <a:rPr sz="2000" b="0" i="0" baseline="30000">
                <a:solidFill>
                  <a:srgbClr val="23232B"/>
                </a:solidFill>
                <a:latin typeface="Calibri"/>
              </a:rPr>
              <a:t>2</a:t>
            </a:r>
            <a:r>
              <a:rPr sz="2000" b="0" i="0">
                <a:solidFill>
                  <a:srgbClr val="23232B"/>
                </a:solidFill>
                <a:latin typeface="Calibri"/>
              </a:rPr>
              <a:t>/R, choose the rating</a:t>
            </a:r>
          </a:p>
        </p:txBody>
      </p:sp>
      <p:pic>
        <p:nvPicPr>
          <p:cNvPr id="16"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17"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and Current Sources</a:t>
            </a:r>
          </a:p>
        </p:txBody>
      </p:sp>
      <p:sp>
        <p:nvSpPr>
          <p:cNvPr id="18"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SERIES REGULATORS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emitter follower regulator</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emitter-follower-with-zener-diode-1.png"/>
          <p:cNvPicPr>
            <a:picLocks noChangeAspect="1"/>
          </p:cNvPicPr>
          <p:nvPr/>
        </p:nvPicPr>
        <p:blipFill>
          <a:blip r:embed="rId2"/>
          <a:stretch>
            <a:fillRect/>
          </a:stretch>
        </p:blipFill>
        <p:spPr>
          <a:xfrm>
            <a:off x="749808" y="1936072"/>
            <a:ext cx="5998464" cy="3571070"/>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series_regulator">
            <a:hlinkClick r:id="rId3"/>
          </p:cNvPr>
          <p:cNvSpPr/>
          <p:nvPr/>
        </p:nvSpPr>
        <p:spPr>
          <a:xfrm>
            <a:off x="7269479" y="1709928"/>
            <a:ext cx="4373575" cy="908304"/>
          </a:xfrm>
          <a:prstGeom prst="roundRect">
            <a:avLst>
              <a:gd name="adj" fmla="val 1208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96291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208178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series_regulator">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sources/series_regulator</a:t>
            </a:r>
          </a:p>
        </p:txBody>
      </p:sp>
      <p:sp>
        <p:nvSpPr>
          <p:cNvPr id="11" name="Falstad hint"/>
          <p:cNvSpPr txBox="1"/>
          <p:nvPr/>
        </p:nvSpPr>
        <p:spPr>
          <a:xfrm>
            <a:off x="7955279" y="2093976"/>
            <a:ext cx="3596335" cy="41452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Switch R_L between 47 Ω and 470 Ω, watch V_Z hardly move</a:t>
            </a:r>
          </a:p>
        </p:txBody>
      </p:sp>
      <p:sp>
        <p:nvSpPr>
          <p:cNvPr id="12" name="Label"/>
          <p:cNvSpPr txBox="1"/>
          <p:nvPr/>
        </p:nvSpPr>
        <p:spPr>
          <a:xfrm>
            <a:off x="7269479" y="2983991"/>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395471"/>
            <a:ext cx="4373575" cy="274929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V</a:t>
            </a:r>
            <a:r>
              <a:rPr sz="1800" b="0" i="0" baseline="-25000">
                <a:solidFill>
                  <a:srgbClr val="23232B"/>
                </a:solidFill>
                <a:latin typeface="Calibri"/>
              </a:rPr>
              <a:t>out</a:t>
            </a:r>
            <a:r>
              <a:rPr sz="1800" b="0" i="0">
                <a:solidFill>
                  <a:srgbClr val="23232B"/>
                </a:solidFill>
                <a:latin typeface="Calibri"/>
              </a:rPr>
              <a:t> = V</a:t>
            </a:r>
            <a:r>
              <a:rPr sz="1800" b="0" i="0" baseline="-25000">
                <a:solidFill>
                  <a:srgbClr val="23232B"/>
                </a:solidFill>
                <a:latin typeface="Calibri"/>
              </a:rPr>
              <a:t>Z</a:t>
            </a:r>
            <a:r>
              <a:rPr sz="1800" b="0" i="0">
                <a:solidFill>
                  <a:srgbClr val="23232B"/>
                </a:solidFill>
                <a:latin typeface="Calibri"/>
              </a:rPr>
              <a:t> − V</a:t>
            </a:r>
            <a:r>
              <a:rPr sz="1800" b="0" i="0" baseline="-25000">
                <a:solidFill>
                  <a:srgbClr val="23232B"/>
                </a:solidFill>
                <a:latin typeface="Calibri"/>
              </a:rPr>
              <a:t>BE</a:t>
            </a:r>
            <a:r>
              <a:rPr sz="1800" b="0" i="0">
                <a:solidFill>
                  <a:srgbClr val="23232B"/>
                </a:solidFill>
                <a:latin typeface="Calibri"/>
              </a:rPr>
              <a:t> ≈ 4.9 V; the Zener only supplies I</a:t>
            </a:r>
            <a:r>
              <a:rPr sz="1800" b="0" i="0" baseline="-25000">
                <a:solidFill>
                  <a:srgbClr val="23232B"/>
                </a:solidFill>
                <a:latin typeface="Calibri"/>
              </a:rPr>
              <a:t>B</a:t>
            </a:r>
            <a:r>
              <a:rPr sz="1800" b="0" i="0">
                <a:solidFill>
                  <a:srgbClr val="23232B"/>
                </a:solidFill>
                <a:latin typeface="Calibri"/>
              </a:rPr>
              <a:t> = I</a:t>
            </a:r>
            <a:r>
              <a:rPr sz="1800" b="0" i="0" baseline="-25000">
                <a:solidFill>
                  <a:srgbClr val="23232B"/>
                </a:solidFill>
                <a:latin typeface="Calibri"/>
              </a:rPr>
              <a:t>L</a:t>
            </a:r>
            <a:r>
              <a:rPr sz="1800" b="0" i="0">
                <a:solidFill>
                  <a:srgbClr val="23232B"/>
                </a:solidFill>
                <a:latin typeface="Calibri"/>
              </a:rPr>
              <a:t>/(β+1)</a:t>
            </a:r>
          </a:p>
          <a:p>
            <a:pPr algn="l" marL="274320" indent="-274320">
              <a:lnSpc>
                <a:spcPct val="100000"/>
              </a:lnSpc>
              <a:spcAft>
                <a:spcPts val="1000"/>
              </a:spcAft>
              <a:buClr>
                <a:srgbClr val="00A9CE"/>
              </a:buClr>
              <a:buFont typeface="Arial"/>
              <a:buChar char="•"/>
            </a:pPr>
            <a:r>
              <a:rPr sz="1800" b="0" i="0">
                <a:solidFill>
                  <a:srgbClr val="23232B"/>
                </a:solidFill>
                <a:latin typeface="Calibri"/>
              </a:rPr>
              <a:t>Idle current 6.4 mA instead of 114 mA for an equivalent shunt regulator</a:t>
            </a:r>
          </a:p>
          <a:p>
            <a:pPr algn="l" marL="274320" indent="-274320">
              <a:lnSpc>
                <a:spcPct val="100000"/>
              </a:lnSpc>
              <a:spcAft>
                <a:spcPts val="1000"/>
              </a:spcAft>
              <a:buClr>
                <a:srgbClr val="00A9CE"/>
              </a:buClr>
              <a:buFont typeface="Arial"/>
              <a:buChar char="•"/>
            </a:pPr>
            <a:r>
              <a:rPr sz="1800" b="0" i="0">
                <a:solidFill>
                  <a:srgbClr val="23232B"/>
                </a:solidFill>
                <a:latin typeface="Calibri"/>
              </a:rPr>
              <a:t>Transistor power (V</a:t>
            </a:r>
            <a:r>
              <a:rPr sz="1800" b="0" i="0" baseline="-25000">
                <a:solidFill>
                  <a:srgbClr val="23232B"/>
                </a:solidFill>
                <a:latin typeface="Calibri"/>
              </a:rPr>
              <a:t>in</a:t>
            </a:r>
            <a:r>
              <a:rPr sz="1800" b="0" i="0">
                <a:solidFill>
                  <a:srgbClr val="23232B"/>
                </a:solidFill>
                <a:latin typeface="Calibri"/>
              </a:rPr>
              <a:t> − V</a:t>
            </a:r>
            <a:r>
              <a:rPr sz="1800" b="0" i="0" baseline="-25000">
                <a:solidFill>
                  <a:srgbClr val="23232B"/>
                </a:solidFill>
                <a:latin typeface="Calibri"/>
              </a:rPr>
              <a:t>out</a:t>
            </a:r>
            <a:r>
              <a:rPr sz="1800" b="0" i="0">
                <a:solidFill>
                  <a:srgbClr val="23232B"/>
                </a:solidFill>
                <a:latin typeface="Calibri"/>
              </a:rPr>
              <a:t>)·I</a:t>
            </a:r>
            <a:r>
              <a:rPr sz="1800" b="0" i="0" baseline="-25000">
                <a:solidFill>
                  <a:srgbClr val="23232B"/>
                </a:solidFill>
                <a:latin typeface="Calibri"/>
              </a:rPr>
              <a:t>L</a:t>
            </a:r>
            <a:r>
              <a:rPr sz="1800" b="0" i="0">
                <a:solidFill>
                  <a:srgbClr val="23232B"/>
                </a:solidFill>
                <a:latin typeface="Calibri"/>
              </a:rPr>
              <a:t> ≈ 0.74 W: heat sink, no short protection</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and Current Sources</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SERIES REGULATORS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Integrated regulators: 78xx vs LM317</a:t>
            </a:r>
          </a:p>
        </p:txBody>
      </p:sp>
      <p:sp>
        <p:nvSpPr>
          <p:cNvPr id="4" name="Figure panel"/>
          <p:cNvSpPr/>
          <p:nvPr/>
        </p:nvSpPr>
        <p:spPr>
          <a:xfrm>
            <a:off x="6903719" y="1298448"/>
            <a:ext cx="4739335" cy="4846320"/>
          </a:xfrm>
          <a:prstGeom prst="roundRect">
            <a:avLst>
              <a:gd name="adj" fmla="val 2315"/>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adjustable-regulator-lm317-1.png"/>
          <p:cNvPicPr>
            <a:picLocks noChangeAspect="1"/>
          </p:cNvPicPr>
          <p:nvPr/>
        </p:nvPicPr>
        <p:blipFill>
          <a:blip r:embed="rId2"/>
          <a:stretch>
            <a:fillRect/>
          </a:stretch>
        </p:blipFill>
        <p:spPr>
          <a:xfrm>
            <a:off x="7104888" y="2851972"/>
            <a:ext cx="4336999" cy="1739270"/>
          </a:xfrm>
          <a:prstGeom prst="rect">
            <a:avLst/>
          </a:prstGeom>
        </p:spPr>
      </p:pic>
      <p:sp>
        <p:nvSpPr>
          <p:cNvPr id="6" name="Compare card"/>
          <p:cNvSpPr/>
          <p:nvPr/>
        </p:nvSpPr>
        <p:spPr>
          <a:xfrm>
            <a:off x="548640" y="1298448"/>
            <a:ext cx="6035040" cy="2286000"/>
          </a:xfrm>
          <a:prstGeom prst="roundRect">
            <a:avLst>
              <a:gd name="adj" fmla="val 5600"/>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 head"/>
          <p:cNvSpPr txBox="1"/>
          <p:nvPr/>
        </p:nvSpPr>
        <p:spPr>
          <a:xfrm>
            <a:off x="868680" y="1572768"/>
            <a:ext cx="5394959"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6638B6"/>
                </a:solidFill>
                <a:latin typeface="Calibri"/>
              </a:rPr>
              <a:t>78xx fixed</a:t>
            </a:r>
          </a:p>
        </p:txBody>
      </p:sp>
      <p:sp>
        <p:nvSpPr>
          <p:cNvPr id="8" name="Card bullets"/>
          <p:cNvSpPr txBox="1"/>
          <p:nvPr/>
        </p:nvSpPr>
        <p:spPr>
          <a:xfrm>
            <a:off x="868680" y="2167128"/>
            <a:ext cx="5394959" cy="123444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5, 12 V…; 1 A (TO-220), 0.1 A (78L05)</a:t>
            </a:r>
          </a:p>
          <a:p>
            <a:pPr algn="l" marL="274320" indent="-274320">
              <a:lnSpc>
                <a:spcPct val="100000"/>
              </a:lnSpc>
              <a:spcAft>
                <a:spcPts val="1000"/>
              </a:spcAft>
              <a:buClr>
                <a:srgbClr val="00A9CE"/>
              </a:buClr>
              <a:buFont typeface="Arial"/>
              <a:buChar char="•"/>
            </a:pPr>
            <a:r>
              <a:rPr sz="2000" b="0" i="0">
                <a:solidFill>
                  <a:srgbClr val="23232B"/>
                </a:solidFill>
                <a:latin typeface="Calibri"/>
              </a:rPr>
              <a:t>Dropout ≈ 2 V, LDO types 0.1–0.5 V</a:t>
            </a:r>
          </a:p>
          <a:p>
            <a:pPr algn="l" marL="274320" indent="-274320">
              <a:lnSpc>
                <a:spcPct val="100000"/>
              </a:lnSpc>
              <a:spcAft>
                <a:spcPts val="1000"/>
              </a:spcAft>
              <a:buClr>
                <a:srgbClr val="00A9CE"/>
              </a:buClr>
              <a:buFont typeface="Arial"/>
              <a:buChar char="•"/>
            </a:pPr>
            <a:r>
              <a:rPr sz="2000" b="0" i="0">
                <a:solidFill>
                  <a:srgbClr val="23232B"/>
                </a:solidFill>
                <a:latin typeface="Calibri"/>
              </a:rPr>
              <a:t>Current limit, thermal shutdown</a:t>
            </a:r>
          </a:p>
        </p:txBody>
      </p:sp>
      <p:sp>
        <p:nvSpPr>
          <p:cNvPr id="9" name="Compare card"/>
          <p:cNvSpPr/>
          <p:nvPr/>
        </p:nvSpPr>
        <p:spPr>
          <a:xfrm>
            <a:off x="548640" y="3858768"/>
            <a:ext cx="6035040" cy="2286000"/>
          </a:xfrm>
          <a:prstGeom prst="roundRect">
            <a:avLst>
              <a:gd name="adj" fmla="val 5600"/>
            </a:avLst>
          </a:prstGeom>
          <a:solidFill>
            <a:srgbClr val="E5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head"/>
          <p:cNvSpPr txBox="1"/>
          <p:nvPr/>
        </p:nvSpPr>
        <p:spPr>
          <a:xfrm>
            <a:off x="868680" y="4133087"/>
            <a:ext cx="5394959"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007F9B"/>
                </a:solidFill>
                <a:latin typeface="Calibri"/>
              </a:rPr>
              <a:t>LM317 adjustable</a:t>
            </a:r>
          </a:p>
        </p:txBody>
      </p:sp>
      <p:sp>
        <p:nvSpPr>
          <p:cNvPr id="11" name="Card bullets"/>
          <p:cNvSpPr txBox="1"/>
          <p:nvPr/>
        </p:nvSpPr>
        <p:spPr>
          <a:xfrm>
            <a:off x="868680" y="4727448"/>
            <a:ext cx="5394959" cy="123444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V</a:t>
            </a:r>
            <a:r>
              <a:rPr sz="2000" b="0" i="0" baseline="-25000">
                <a:solidFill>
                  <a:srgbClr val="23232B"/>
                </a:solidFill>
                <a:latin typeface="Calibri"/>
              </a:rPr>
              <a:t>out</a:t>
            </a:r>
            <a:r>
              <a:rPr sz="2000" b="0" i="0">
                <a:solidFill>
                  <a:srgbClr val="23232B"/>
                </a:solidFill>
                <a:latin typeface="Calibri"/>
              </a:rPr>
              <a:t> = 1.25 V·(1 + R</a:t>
            </a:r>
            <a:r>
              <a:rPr sz="2000" b="0" i="0" baseline="-25000">
                <a:solidFill>
                  <a:srgbClr val="23232B"/>
                </a:solidFill>
                <a:latin typeface="Calibri"/>
              </a:rPr>
              <a:t>2</a:t>
            </a:r>
            <a:r>
              <a:rPr sz="2000" b="0" i="0">
                <a:solidFill>
                  <a:srgbClr val="23232B"/>
                </a:solidFill>
                <a:latin typeface="Calibri"/>
              </a:rPr>
              <a:t>/R</a:t>
            </a:r>
            <a:r>
              <a:rPr sz="2000" b="0" i="0" baseline="-25000">
                <a:solidFill>
                  <a:srgbClr val="23232B"/>
                </a:solidFill>
                <a:latin typeface="Calibri"/>
              </a:rPr>
              <a:t>1</a:t>
            </a:r>
            <a:r>
              <a:rPr sz="2000" b="0" i="0">
                <a:solidFill>
                  <a:srgbClr val="23232B"/>
                </a:solidFill>
                <a:latin typeface="Calibri"/>
              </a:rPr>
              <a:t>)</a:t>
            </a:r>
          </a:p>
          <a:p>
            <a:pPr algn="l" marL="274320" indent="-274320">
              <a:lnSpc>
                <a:spcPct val="100000"/>
              </a:lnSpc>
              <a:spcAft>
                <a:spcPts val="1000"/>
              </a:spcAft>
              <a:buClr>
                <a:srgbClr val="00A9CE"/>
              </a:buClr>
              <a:buFont typeface="Arial"/>
              <a:buChar char="•"/>
            </a:pPr>
            <a:r>
              <a:rPr sz="2000" b="0" i="0">
                <a:solidFill>
                  <a:srgbClr val="23232B"/>
                </a:solidFill>
                <a:latin typeface="Calibri"/>
              </a:rPr>
              <a:t>R</a:t>
            </a:r>
            <a:r>
              <a:rPr sz="2000" b="0" i="0" baseline="-25000">
                <a:solidFill>
                  <a:srgbClr val="23232B"/>
                </a:solidFill>
                <a:latin typeface="Calibri"/>
              </a:rPr>
              <a:t>1</a:t>
            </a:r>
            <a:r>
              <a:rPr sz="2000" b="0" i="0">
                <a:solidFill>
                  <a:srgbClr val="23232B"/>
                </a:solidFill>
                <a:latin typeface="Calibri"/>
              </a:rPr>
              <a:t> = 240 Ω sets the minimum load</a:t>
            </a:r>
          </a:p>
          <a:p>
            <a:pPr algn="l" marL="274320" indent="-274320">
              <a:lnSpc>
                <a:spcPct val="100000"/>
              </a:lnSpc>
              <a:spcAft>
                <a:spcPts val="1000"/>
              </a:spcAft>
              <a:buClr>
                <a:srgbClr val="00A9CE"/>
              </a:buClr>
              <a:buFont typeface="Arial"/>
              <a:buChar char="•"/>
            </a:pPr>
            <a:r>
              <a:rPr sz="2000" b="0" i="0">
                <a:solidFill>
                  <a:srgbClr val="23232B"/>
                </a:solidFill>
                <a:latin typeface="Calibri"/>
              </a:rPr>
              <a:t>1.25 V/R</a:t>
            </a:r>
            <a:r>
              <a:rPr sz="2000" b="0" i="0" baseline="-25000">
                <a:solidFill>
                  <a:srgbClr val="23232B"/>
                </a:solidFill>
                <a:latin typeface="Calibri"/>
              </a:rPr>
              <a:t>1</a:t>
            </a:r>
            <a:r>
              <a:rPr sz="2000" b="0" i="0">
                <a:solidFill>
                  <a:srgbClr val="23232B"/>
                </a:solidFill>
                <a:latin typeface="Calibri"/>
              </a:rPr>
              <a:t> alone: a current source</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and Current Sources</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OP-AMP VOLTAGE SOURCES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Op-amp voltage source with booster</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more-current-transistor-inside-the-loop-1.png"/>
          <p:cNvPicPr>
            <a:picLocks noChangeAspect="1"/>
          </p:cNvPicPr>
          <p:nvPr/>
        </p:nvPicPr>
        <p:blipFill>
          <a:blip r:embed="rId2"/>
          <a:stretch>
            <a:fillRect/>
          </a:stretch>
        </p:blipFill>
        <p:spPr>
          <a:xfrm>
            <a:off x="6876288" y="2171376"/>
            <a:ext cx="4565599" cy="3100463"/>
          </a:xfrm>
          <a:prstGeom prst="rect">
            <a:avLst/>
          </a:prstGeom>
        </p:spPr>
      </p:pic>
      <p:sp>
        <p:nvSpPr>
          <p:cNvPr id="6" name="Falstad opamp_voltage_source">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opamp_voltage_source">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sources/opamp_voltage_source</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Slide R_L from 1 kΩ to 20 Ω: V_out stays at 5.000 V</a:t>
            </a:r>
          </a:p>
        </p:txBody>
      </p:sp>
      <p:sp>
        <p:nvSpPr>
          <p:cNvPr id="11" name="Bullets"/>
          <p:cNvSpPr txBox="1"/>
          <p:nvPr/>
        </p:nvSpPr>
        <p:spPr>
          <a:xfrm>
            <a:off x="548640" y="1298448"/>
            <a:ext cx="5806440" cy="25603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Reference + non-inverting amplifier: as accurate as V</a:t>
            </a:r>
            <a:r>
              <a:rPr sz="2000" b="0" i="0" baseline="-25000">
                <a:solidFill>
                  <a:srgbClr val="23232B"/>
                </a:solidFill>
                <a:latin typeface="Calibri"/>
              </a:rPr>
              <a:t>ref</a:t>
            </a:r>
            <a:r>
              <a:rPr sz="2000" b="0" i="0">
                <a:solidFill>
                  <a:srgbClr val="23232B"/>
                </a:solidFill>
                <a:latin typeface="Calibri"/>
              </a:rPr>
              <a:t> and R</a:t>
            </a:r>
            <a:r>
              <a:rPr sz="2000" b="0" i="0" baseline="-25000">
                <a:solidFill>
                  <a:srgbClr val="23232B"/>
                </a:solidFill>
                <a:latin typeface="Calibri"/>
              </a:rPr>
              <a:t>2</a:t>
            </a:r>
            <a:r>
              <a:rPr sz="2000" b="0" i="0">
                <a:solidFill>
                  <a:srgbClr val="23232B"/>
                </a:solidFill>
                <a:latin typeface="Calibri"/>
              </a:rPr>
              <a:t>/R</a:t>
            </a:r>
            <a:r>
              <a:rPr sz="2000" b="0" i="0" baseline="-25000">
                <a:solidFill>
                  <a:srgbClr val="23232B"/>
                </a:solidFill>
                <a:latin typeface="Calibri"/>
              </a:rPr>
              <a:t>1</a:t>
            </a:r>
          </a:p>
          <a:p>
            <a:pPr algn="l" marL="274320" indent="-274320">
              <a:lnSpc>
                <a:spcPct val="100000"/>
              </a:lnSpc>
              <a:spcAft>
                <a:spcPts val="1000"/>
              </a:spcAft>
              <a:buClr>
                <a:srgbClr val="00A9CE"/>
              </a:buClr>
              <a:buFont typeface="Arial"/>
              <a:buChar char="•"/>
            </a:pPr>
            <a:r>
              <a:rPr sz="2000" b="0" i="0">
                <a:solidFill>
                  <a:srgbClr val="23232B"/>
                </a:solidFill>
                <a:latin typeface="Calibri"/>
              </a:rPr>
              <a:t>Loop gain makes R</a:t>
            </a:r>
            <a:r>
              <a:rPr sz="2000" b="0" i="0" baseline="-25000">
                <a:solidFill>
                  <a:srgbClr val="23232B"/>
                </a:solidFill>
                <a:latin typeface="Calibri"/>
              </a:rPr>
              <a:t>out</a:t>
            </a:r>
            <a:r>
              <a:rPr sz="2000" b="0" i="0">
                <a:solidFill>
                  <a:srgbClr val="23232B"/>
                </a:solidFill>
                <a:latin typeface="Calibri"/>
              </a:rPr>
              <a:t> tiny: mΩ instead of the op-amp's 50 Ω</a:t>
            </a:r>
          </a:p>
          <a:p>
            <a:pPr algn="l" marL="274320" indent="-274320">
              <a:lnSpc>
                <a:spcPct val="100000"/>
              </a:lnSpc>
              <a:spcAft>
                <a:spcPts val="1000"/>
              </a:spcAft>
              <a:buClr>
                <a:srgbClr val="00A9CE"/>
              </a:buClr>
              <a:buFont typeface="Arial"/>
              <a:buChar char="•"/>
            </a:pPr>
            <a:r>
              <a:rPr sz="2000" b="0" i="0">
                <a:solidFill>
                  <a:srgbClr val="23232B"/>
                </a:solidFill>
                <a:latin typeface="Calibri"/>
              </a:rPr>
              <a:t>npn booster inside the loop: op-amp delivers only I</a:t>
            </a:r>
            <a:r>
              <a:rPr sz="2000" b="0" i="0" baseline="-25000">
                <a:solidFill>
                  <a:srgbClr val="23232B"/>
                </a:solidFill>
                <a:latin typeface="Calibri"/>
              </a:rPr>
              <a:t>L</a:t>
            </a:r>
            <a:r>
              <a:rPr sz="2000" b="0" i="0">
                <a:solidFill>
                  <a:srgbClr val="23232B"/>
                </a:solidFill>
                <a:latin typeface="Calibri"/>
              </a:rPr>
              <a:t>/(β+1)</a:t>
            </a:r>
          </a:p>
          <a:p>
            <a:pPr algn="l" marL="274320" indent="-274320">
              <a:lnSpc>
                <a:spcPct val="100000"/>
              </a:lnSpc>
              <a:spcAft>
                <a:spcPts val="1000"/>
              </a:spcAft>
              <a:buClr>
                <a:srgbClr val="00A9CE"/>
              </a:buClr>
              <a:buFont typeface="Arial"/>
              <a:buChar char="•"/>
            </a:pPr>
            <a:r>
              <a:rPr sz="2000" b="0" i="0">
                <a:solidFill>
                  <a:srgbClr val="23232B"/>
                </a:solidFill>
                <a:latin typeface="Calibri"/>
              </a:rPr>
              <a:t>V</a:t>
            </a:r>
            <a:r>
              <a:rPr sz="2000" b="0" i="0" baseline="-25000">
                <a:solidFill>
                  <a:srgbClr val="23232B"/>
                </a:solidFill>
                <a:latin typeface="Calibri"/>
              </a:rPr>
              <a:t>BE</a:t>
            </a:r>
            <a:r>
              <a:rPr sz="2000" b="0" i="0">
                <a:solidFill>
                  <a:srgbClr val="23232B"/>
                </a:solidFill>
                <a:latin typeface="Calibri"/>
              </a:rPr>
              <a:t> drops out; op-amp output must reach V</a:t>
            </a:r>
            <a:r>
              <a:rPr sz="2000" b="0" i="0" baseline="-25000">
                <a:solidFill>
                  <a:srgbClr val="23232B"/>
                </a:solidFill>
                <a:latin typeface="Calibri"/>
              </a:rPr>
              <a:t>out</a:t>
            </a:r>
            <a:r>
              <a:rPr sz="2000" b="0" i="0">
                <a:solidFill>
                  <a:srgbClr val="23232B"/>
                </a:solidFill>
                <a:latin typeface="Calibri"/>
              </a:rPr>
              <a:t> + V</a:t>
            </a:r>
            <a:r>
              <a:rPr sz="2000" b="0" i="0" baseline="-25000">
                <a:solidFill>
                  <a:srgbClr val="23232B"/>
                </a:solidFill>
                <a:latin typeface="Calibri"/>
              </a:rPr>
              <a:t>BE</a:t>
            </a:r>
          </a:p>
        </p:txBody>
      </p:sp>
      <p:sp>
        <p:nvSpPr>
          <p:cNvPr id="12" name="Key rule"/>
          <p:cNvSpPr/>
          <p:nvPr/>
        </p:nvSpPr>
        <p:spPr>
          <a:xfrm>
            <a:off x="548640" y="41788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42885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5628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out</a:t>
            </a:r>
            <a:r>
              <a:rPr sz="1700" b="1" i="0">
                <a:solidFill>
                  <a:srgbClr val="4E2A8C"/>
                </a:solidFill>
                <a:latin typeface="Calibri"/>
              </a:rPr>
              <a:t> = V</a:t>
            </a:r>
            <a:r>
              <a:rPr sz="1700" b="1" i="0" baseline="-25000">
                <a:solidFill>
                  <a:srgbClr val="4E2A8C"/>
                </a:solidFill>
                <a:latin typeface="Calibri"/>
              </a:rPr>
              <a:t>ref</a:t>
            </a:r>
            <a:r>
              <a:rPr sz="1700" b="1" i="0">
                <a:solidFill>
                  <a:srgbClr val="4E2A8C"/>
                </a:solidFill>
                <a:latin typeface="Calibri"/>
              </a:rPr>
              <a:t>·(1 + R</a:t>
            </a:r>
            <a:r>
              <a:rPr sz="1700" b="1" i="0" baseline="-25000">
                <a:solidFill>
                  <a:srgbClr val="4E2A8C"/>
                </a:solidFill>
                <a:latin typeface="Calibri"/>
              </a:rPr>
              <a:t>2</a:t>
            </a:r>
            <a:r>
              <a:rPr sz="1700" b="1" i="0">
                <a:solidFill>
                  <a:srgbClr val="4E2A8C"/>
                </a:solidFill>
                <a:latin typeface="Calibri"/>
              </a:rPr>
              <a:t>/R</a:t>
            </a:r>
            <a:r>
              <a:rPr sz="1700" b="1" i="0" baseline="-25000">
                <a:solidFill>
                  <a:srgbClr val="4E2A8C"/>
                </a:solidFill>
                <a:latin typeface="Calibri"/>
              </a:rPr>
              <a:t>1</a:t>
            </a:r>
            <a:r>
              <a:rPr sz="1700" b="1" i="0">
                <a:solidFill>
                  <a:srgbClr val="4E2A8C"/>
                </a:solidFill>
                <a:latin typeface="Calibri"/>
              </a:rPr>
              <a:t>),  R</a:t>
            </a:r>
            <a:r>
              <a:rPr sz="1700" b="1" i="0" baseline="-25000">
                <a:solidFill>
                  <a:srgbClr val="4E2A8C"/>
                </a:solidFill>
                <a:latin typeface="Calibri"/>
              </a:rPr>
              <a:t>out</a:t>
            </a:r>
            <a:r>
              <a:rPr sz="1700" b="1" i="0">
                <a:solidFill>
                  <a:srgbClr val="4E2A8C"/>
                </a:solidFill>
                <a:latin typeface="Calibri"/>
              </a:rPr>
              <a:t> ≈ r</a:t>
            </a:r>
            <a:r>
              <a:rPr sz="1700" b="1" i="0" baseline="-25000">
                <a:solidFill>
                  <a:srgbClr val="4E2A8C"/>
                </a:solidFill>
                <a:latin typeface="Calibri"/>
              </a:rPr>
              <a:t>o</a:t>
            </a:r>
            <a:r>
              <a:rPr sz="1700" b="1" i="0">
                <a:solidFill>
                  <a:srgbClr val="4E2A8C"/>
                </a:solidFill>
                <a:latin typeface="Calibri"/>
              </a:rPr>
              <a:t>/(1 + Aβ)</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and Current Sources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TRANSISTOR CURRENT SOURCES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BJT current source</a:t>
            </a:r>
          </a:p>
        </p:txBody>
      </p:sp>
      <p:sp>
        <p:nvSpPr>
          <p:cNvPr id="4" name="Falstad bjt_current_source">
            <a:hlinkClick r:id="rId2"/>
          </p:cNvPr>
          <p:cNvSpPr/>
          <p:nvPr/>
        </p:nvSpPr>
        <p:spPr>
          <a:xfrm>
            <a:off x="548640" y="5434584"/>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lstad link bjt_current_source">
            <a:hlinkClick r:id="rId2"/>
          </p:cNvPr>
          <p:cNvSpPr txBox="1"/>
          <p:nvPr/>
        </p:nvSpPr>
        <p:spPr>
          <a:xfrm>
            <a:off x="1234440" y="5544312"/>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sources/bjt_current_source</a:t>
            </a:r>
          </a:p>
        </p:txBody>
      </p:sp>
      <p:sp>
        <p:nvSpPr>
          <p:cNvPr id="8" name="Falstad hint"/>
          <p:cNvSpPr txBox="1"/>
          <p:nvPr/>
        </p:nvSpPr>
        <p:spPr>
          <a:xfrm>
            <a:off x="1234440" y="5818632"/>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1 kΩ and 4.7 kΩ: same 1.02 mA; 15 kΩ saturates (0.71 mA)</a:t>
            </a:r>
          </a:p>
        </p:txBody>
      </p:sp>
      <p:sp>
        <p:nvSpPr>
          <p:cNvPr id="9" name="Bullets"/>
          <p:cNvSpPr txBox="1"/>
          <p:nvPr/>
        </p:nvSpPr>
        <p:spPr>
          <a:xfrm>
            <a:off x="548640" y="1298448"/>
            <a:ext cx="11094415" cy="1645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Emitter follows the base: fixed V</a:t>
            </a:r>
            <a:r>
              <a:rPr sz="2000" b="0" i="0" baseline="-25000">
                <a:solidFill>
                  <a:srgbClr val="23232B"/>
                </a:solidFill>
                <a:latin typeface="Calibri"/>
              </a:rPr>
              <a:t>E</a:t>
            </a:r>
            <a:r>
              <a:rPr sz="2000" b="0" i="0">
                <a:solidFill>
                  <a:srgbClr val="23232B"/>
                </a:solidFill>
                <a:latin typeface="Calibri"/>
              </a:rPr>
              <a:t> → fixed emitter current</a:t>
            </a:r>
          </a:p>
          <a:p>
            <a:pPr algn="l" marL="274320" indent="-274320">
              <a:lnSpc>
                <a:spcPct val="100000"/>
              </a:lnSpc>
              <a:spcAft>
                <a:spcPts val="1000"/>
              </a:spcAft>
              <a:buClr>
                <a:srgbClr val="00A9CE"/>
              </a:buClr>
              <a:buFont typeface="Arial"/>
              <a:buChar char="•"/>
            </a:pPr>
            <a:r>
              <a:rPr sz="2000" b="0" i="0">
                <a:solidFill>
                  <a:srgbClr val="23232B"/>
                </a:solidFill>
                <a:latin typeface="Calibri"/>
              </a:rPr>
              <a:t>Load sits in the collector; keep V</a:t>
            </a:r>
            <a:r>
              <a:rPr sz="2000" b="0" i="0" baseline="-25000">
                <a:solidFill>
                  <a:srgbClr val="23232B"/>
                </a:solidFill>
                <a:latin typeface="Calibri"/>
              </a:rPr>
              <a:t>CE</a:t>
            </a:r>
            <a:r>
              <a:rPr sz="2000" b="0" i="0">
                <a:solidFill>
                  <a:srgbClr val="23232B"/>
                </a:solidFill>
                <a:latin typeface="Calibri"/>
              </a:rPr>
              <a:t> ≥ 0.3 V (compliance)</a:t>
            </a:r>
          </a:p>
          <a:p>
            <a:pPr algn="l" marL="274320" indent="-274320">
              <a:lnSpc>
                <a:spcPct val="100000"/>
              </a:lnSpc>
              <a:spcAft>
                <a:spcPts val="1000"/>
              </a:spcAft>
              <a:buClr>
                <a:srgbClr val="00A9CE"/>
              </a:buClr>
              <a:buFont typeface="Arial"/>
              <a:buChar char="•"/>
            </a:pPr>
            <a:r>
              <a:rPr sz="2000" b="0" i="0">
                <a:solidFill>
                  <a:srgbClr val="23232B"/>
                </a:solidFill>
                <a:latin typeface="Calibri"/>
              </a:rPr>
              <a:t>Stiff base: divider current ≥ 10·I</a:t>
            </a:r>
            <a:r>
              <a:rPr sz="2000" b="0" i="0" baseline="-25000">
                <a:solidFill>
                  <a:srgbClr val="23232B"/>
                </a:solidFill>
                <a:latin typeface="Calibri"/>
              </a:rPr>
              <a:t>B</a:t>
            </a:r>
            <a:r>
              <a:rPr sz="2000" b="0" i="0">
                <a:solidFill>
                  <a:srgbClr val="23232B"/>
                </a:solidFill>
                <a:latin typeface="Calibri"/>
              </a:rPr>
              <a:t>, or a Zener or 2 LEDs</a:t>
            </a:r>
          </a:p>
          <a:p>
            <a:pPr algn="l" marL="274320" indent="-274320">
              <a:lnSpc>
                <a:spcPct val="100000"/>
              </a:lnSpc>
              <a:spcAft>
                <a:spcPts val="1000"/>
              </a:spcAft>
              <a:buClr>
                <a:srgbClr val="00A9CE"/>
              </a:buClr>
              <a:buFont typeface="Arial"/>
              <a:buChar char="•"/>
            </a:pPr>
            <a:r>
              <a:rPr sz="2000" b="0" i="0">
                <a:solidFill>
                  <a:srgbClr val="23232B"/>
                </a:solidFill>
                <a:latin typeface="Calibri"/>
              </a:rPr>
              <a:t>Large V</a:t>
            </a:r>
            <a:r>
              <a:rPr sz="2000" b="0" i="0" baseline="-25000">
                <a:solidFill>
                  <a:srgbClr val="23232B"/>
                </a:solidFill>
                <a:latin typeface="Calibri"/>
              </a:rPr>
              <a:t>E</a:t>
            </a:r>
            <a:r>
              <a:rPr sz="2000" b="0" i="0">
                <a:solidFill>
                  <a:srgbClr val="23232B"/>
                </a:solidFill>
                <a:latin typeface="Calibri"/>
              </a:rPr>
              <a:t> (≥ 1 V) reduces the −2 mV/K drift of V</a:t>
            </a:r>
            <a:r>
              <a:rPr sz="2000" b="0" i="0" baseline="-25000">
                <a:solidFill>
                  <a:srgbClr val="23232B"/>
                </a:solidFill>
                <a:latin typeface="Calibri"/>
              </a:rPr>
              <a:t>BE</a:t>
            </a:r>
          </a:p>
        </p:txBody>
      </p:sp>
      <p:sp>
        <p:nvSpPr>
          <p:cNvPr id="10" name="Key rule"/>
          <p:cNvSpPr/>
          <p:nvPr/>
        </p:nvSpPr>
        <p:spPr>
          <a:xfrm>
            <a:off x="548640" y="3264408"/>
            <a:ext cx="11094415"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Key rule label"/>
          <p:cNvSpPr txBox="1"/>
          <p:nvPr/>
        </p:nvSpPr>
        <p:spPr>
          <a:xfrm>
            <a:off x="777240" y="3374136"/>
            <a:ext cx="10637215"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2" name="Key rule text"/>
          <p:cNvSpPr txBox="1"/>
          <p:nvPr/>
        </p:nvSpPr>
        <p:spPr>
          <a:xfrm>
            <a:off x="777240" y="3648456"/>
            <a:ext cx="10637215"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I</a:t>
            </a:r>
            <a:r>
              <a:rPr sz="1700" b="1" i="0" baseline="-25000">
                <a:solidFill>
                  <a:srgbClr val="4E2A8C"/>
                </a:solidFill>
                <a:latin typeface="Calibri"/>
              </a:rPr>
              <a:t>C</a:t>
            </a:r>
            <a:r>
              <a:rPr sz="1700" b="1" i="0">
                <a:solidFill>
                  <a:srgbClr val="4E2A8C"/>
                </a:solidFill>
                <a:latin typeface="Calibri"/>
              </a:rPr>
              <a:t> ≈ (V</a:t>
            </a:r>
            <a:r>
              <a:rPr sz="1700" b="1" i="0" baseline="-25000">
                <a:solidFill>
                  <a:srgbClr val="4E2A8C"/>
                </a:solidFill>
                <a:latin typeface="Calibri"/>
              </a:rPr>
              <a:t>B</a:t>
            </a:r>
            <a:r>
              <a:rPr sz="1700" b="1" i="0">
                <a:solidFill>
                  <a:srgbClr val="4E2A8C"/>
                </a:solidFill>
                <a:latin typeface="Calibri"/>
              </a:rPr>
              <a:t> − 0.65 V)/R</a:t>
            </a:r>
            <a:r>
              <a:rPr sz="1700" b="1" i="0" baseline="-25000">
                <a:solidFill>
                  <a:srgbClr val="4E2A8C"/>
                </a:solidFill>
                <a:latin typeface="Calibri"/>
              </a:rPr>
              <a:t>E</a:t>
            </a:r>
            <a:r>
              <a:rPr sz="1700" b="1" i="0">
                <a:solidFill>
                  <a:srgbClr val="4E2A8C"/>
                </a:solidFill>
                <a:latin typeface="Calibri"/>
              </a:rPr>
              <a:t>,  R</a:t>
            </a:r>
            <a:r>
              <a:rPr sz="1700" b="1" i="0" baseline="-25000">
                <a:solidFill>
                  <a:srgbClr val="4E2A8C"/>
                </a:solidFill>
                <a:latin typeface="Calibri"/>
              </a:rPr>
              <a:t>L,max</a:t>
            </a:r>
            <a:r>
              <a:rPr sz="1700" b="1" i="0">
                <a:solidFill>
                  <a:srgbClr val="4E2A8C"/>
                </a:solidFill>
                <a:latin typeface="Calibri"/>
              </a:rPr>
              <a:t> = (V</a:t>
            </a:r>
            <a:r>
              <a:rPr sz="1700" b="1" i="0" baseline="-25000">
                <a:solidFill>
                  <a:srgbClr val="4E2A8C"/>
                </a:solidFill>
                <a:latin typeface="Calibri"/>
              </a:rPr>
              <a:t>CC</a:t>
            </a:r>
            <a:r>
              <a:rPr sz="1700" b="1" i="0">
                <a:solidFill>
                  <a:srgbClr val="4E2A8C"/>
                </a:solidFill>
                <a:latin typeface="Calibri"/>
              </a:rPr>
              <a:t> − V</a:t>
            </a:r>
            <a:r>
              <a:rPr sz="1700" b="1" i="0" baseline="-25000">
                <a:solidFill>
                  <a:srgbClr val="4E2A8C"/>
                </a:solidFill>
                <a:latin typeface="Calibri"/>
              </a:rPr>
              <a:t>E</a:t>
            </a:r>
            <a:r>
              <a:rPr sz="1700" b="1" i="0">
                <a:solidFill>
                  <a:srgbClr val="4E2A8C"/>
                </a:solidFill>
                <a:latin typeface="Calibri"/>
              </a:rPr>
              <a:t> − 0.3 V)/I</a:t>
            </a:r>
            <a:r>
              <a:rPr sz="1700" b="1" i="0" baseline="-25000">
                <a:solidFill>
                  <a:srgbClr val="4E2A8C"/>
                </a:solidFill>
                <a:latin typeface="Calibri"/>
              </a:rPr>
              <a:t>C</a:t>
            </a:r>
          </a:p>
        </p:txBody>
      </p:sp>
      <p:pic>
        <p:nvPicPr>
          <p:cNvPr id="13"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4"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and Current Sources</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TRANSISTOR CURRENT SOURCES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current mirror</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current-mirror-1.png"/>
          <p:cNvPicPr>
            <a:picLocks noChangeAspect="1"/>
          </p:cNvPicPr>
          <p:nvPr/>
        </p:nvPicPr>
        <p:blipFill>
          <a:blip r:embed="rId2"/>
          <a:stretch>
            <a:fillRect/>
          </a:stretch>
        </p:blipFill>
        <p:spPr>
          <a:xfrm>
            <a:off x="1587428" y="1499616"/>
            <a:ext cx="4323223" cy="4443983"/>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current_mirror">
            <a:hlinkClick r:id="rId3"/>
          </p:cNvPr>
          <p:cNvSpPr/>
          <p:nvPr/>
        </p:nvSpPr>
        <p:spPr>
          <a:xfrm>
            <a:off x="7269479" y="1709928"/>
            <a:ext cx="437357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current_mirror">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sources/current_mirror</a:t>
            </a:r>
          </a:p>
        </p:txBody>
      </p:sp>
      <p:sp>
        <p:nvSpPr>
          <p:cNvPr id="11" name="Falstad hint"/>
          <p:cNvSpPr txBox="1"/>
          <p:nvPr/>
        </p:nvSpPr>
        <p:spPr>
          <a:xfrm>
            <a:off x="7955279" y="2093976"/>
            <a:ext cx="359633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Change R_L: I_out stays near I_ref = 1.04 mA</a:t>
            </a:r>
          </a:p>
        </p:txBody>
      </p:sp>
      <p:sp>
        <p:nvSpPr>
          <p:cNvPr id="12" name="Label"/>
          <p:cNvSpPr txBox="1"/>
          <p:nvPr/>
        </p:nvSpPr>
        <p:spPr>
          <a:xfrm>
            <a:off x="7269479" y="2785872"/>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197352"/>
            <a:ext cx="437357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Q1 as a diode sets V</a:t>
            </a:r>
            <a:r>
              <a:rPr sz="1800" b="0" i="0" baseline="-25000">
                <a:solidFill>
                  <a:srgbClr val="23232B"/>
                </a:solidFill>
                <a:latin typeface="Calibri"/>
              </a:rPr>
              <a:t>BE</a:t>
            </a:r>
            <a:r>
              <a:rPr sz="1800" b="0" i="0">
                <a:solidFill>
                  <a:srgbClr val="23232B"/>
                </a:solidFill>
                <a:latin typeface="Calibri"/>
              </a:rPr>
              <a:t>; Q2 with the same V</a:t>
            </a:r>
            <a:r>
              <a:rPr sz="1800" b="0" i="0" baseline="-25000">
                <a:solidFill>
                  <a:srgbClr val="23232B"/>
                </a:solidFill>
                <a:latin typeface="Calibri"/>
              </a:rPr>
              <a:t>BE</a:t>
            </a:r>
            <a:r>
              <a:rPr sz="1800" b="0" i="0">
                <a:solidFill>
                  <a:srgbClr val="23232B"/>
                </a:solidFill>
                <a:latin typeface="Calibri"/>
              </a:rPr>
              <a:t> copies the current</a:t>
            </a:r>
          </a:p>
          <a:p>
            <a:pPr algn="l" marL="274320" indent="-274320">
              <a:lnSpc>
                <a:spcPct val="100000"/>
              </a:lnSpc>
              <a:spcAft>
                <a:spcPts val="1000"/>
              </a:spcAft>
              <a:buClr>
                <a:srgbClr val="00A9CE"/>
              </a:buClr>
              <a:buFont typeface="Arial"/>
              <a:buChar char="•"/>
            </a:pPr>
            <a:r>
              <a:rPr sz="1800" b="0" i="0">
                <a:solidFill>
                  <a:srgbClr val="23232B"/>
                </a:solidFill>
                <a:latin typeface="Calibri"/>
              </a:rPr>
              <a:t>I</a:t>
            </a:r>
            <a:r>
              <a:rPr sz="1800" b="0" i="0" baseline="-25000">
                <a:solidFill>
                  <a:srgbClr val="23232B"/>
                </a:solidFill>
                <a:latin typeface="Calibri"/>
              </a:rPr>
              <a:t>out</a:t>
            </a:r>
            <a:r>
              <a:rPr sz="1800" b="0" i="0">
                <a:solidFill>
                  <a:srgbClr val="23232B"/>
                </a:solidFill>
                <a:latin typeface="Calibri"/>
              </a:rPr>
              <a:t> = I</a:t>
            </a:r>
            <a:r>
              <a:rPr sz="1800" b="0" i="0" baseline="-25000">
                <a:solidFill>
                  <a:srgbClr val="23232B"/>
                </a:solidFill>
                <a:latin typeface="Calibri"/>
              </a:rPr>
              <a:t>ref</a:t>
            </a:r>
            <a:r>
              <a:rPr sz="1800" b="0" i="0">
                <a:solidFill>
                  <a:srgbClr val="23232B"/>
                </a:solidFill>
                <a:latin typeface="Calibri"/>
              </a:rPr>
              <a:t>·β/(β+2): 1.04 mA → 1.02 mA</a:t>
            </a:r>
          </a:p>
          <a:p>
            <a:pPr algn="l" marL="274320" indent="-274320">
              <a:lnSpc>
                <a:spcPct val="100000"/>
              </a:lnSpc>
              <a:spcAft>
                <a:spcPts val="1000"/>
              </a:spcAft>
              <a:buClr>
                <a:srgbClr val="00A9CE"/>
              </a:buClr>
              <a:buFont typeface="Arial"/>
              <a:buChar char="•"/>
            </a:pPr>
            <a:r>
              <a:rPr sz="1800" b="0" i="0">
                <a:solidFill>
                  <a:srgbClr val="23232B"/>
                </a:solidFill>
                <a:latin typeface="Calibri"/>
              </a:rPr>
              <a:t>Both transistors must match and share the same temperature</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and Current Sources</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OP-AMP CURRENT SOURCES AND SENSOR EXCITATION</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Op-amp current sources</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op-amp-and-transistor-1.png"/>
          <p:cNvPicPr>
            <a:picLocks noChangeAspect="1"/>
          </p:cNvPicPr>
          <p:nvPr/>
        </p:nvPicPr>
        <p:blipFill>
          <a:blip r:embed="rId2"/>
          <a:stretch>
            <a:fillRect/>
          </a:stretch>
        </p:blipFill>
        <p:spPr>
          <a:xfrm>
            <a:off x="6876288" y="1601865"/>
            <a:ext cx="4565599" cy="4239484"/>
          </a:xfrm>
          <a:prstGeom prst="rect">
            <a:avLst/>
          </a:prstGeom>
        </p:spPr>
      </p:pic>
      <p:sp>
        <p:nvSpPr>
          <p:cNvPr id="6" name="Falstad opamp_current_source">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opamp_current_source">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sources/opamp_current_source</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Compare 0.990 mA (transistor) with 1.000 mA (floating)</a:t>
            </a:r>
          </a:p>
        </p:txBody>
      </p:sp>
      <p:sp>
        <p:nvSpPr>
          <p:cNvPr id="11" name="Bullets"/>
          <p:cNvSpPr txBox="1"/>
          <p:nvPr/>
        </p:nvSpPr>
        <p:spPr>
          <a:xfrm>
            <a:off x="548640" y="1298448"/>
            <a:ext cx="5806440" cy="245363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900" b="0" i="0">
                <a:solidFill>
                  <a:srgbClr val="23232B"/>
                </a:solidFill>
                <a:latin typeface="Calibri"/>
              </a:rPr>
              <a:t>Op-amp forces V</a:t>
            </a:r>
            <a:r>
              <a:rPr sz="1900" b="0" i="0" baseline="-25000">
                <a:solidFill>
                  <a:srgbClr val="23232B"/>
                </a:solidFill>
                <a:latin typeface="Calibri"/>
              </a:rPr>
              <a:t>RS</a:t>
            </a:r>
            <a:r>
              <a:rPr sz="1900" b="0" i="0">
                <a:solidFill>
                  <a:srgbClr val="23232B"/>
                </a:solidFill>
                <a:latin typeface="Calibri"/>
              </a:rPr>
              <a:t> = V</a:t>
            </a:r>
            <a:r>
              <a:rPr sz="1900" b="0" i="0" baseline="-25000">
                <a:solidFill>
                  <a:srgbClr val="23232B"/>
                </a:solidFill>
                <a:latin typeface="Calibri"/>
              </a:rPr>
              <a:t>set</a:t>
            </a:r>
            <a:r>
              <a:rPr sz="1900" b="0" i="0">
                <a:solidFill>
                  <a:srgbClr val="23232B"/>
                </a:solidFill>
                <a:latin typeface="Calibri"/>
              </a:rPr>
              <a:t>: I = V</a:t>
            </a:r>
            <a:r>
              <a:rPr sz="1900" b="0" i="0" baseline="-25000">
                <a:solidFill>
                  <a:srgbClr val="23232B"/>
                </a:solidFill>
                <a:latin typeface="Calibri"/>
              </a:rPr>
              <a:t>set</a:t>
            </a:r>
            <a:r>
              <a:rPr sz="1900" b="0" i="0">
                <a:solidFill>
                  <a:srgbClr val="23232B"/>
                </a:solidFill>
                <a:latin typeface="Calibri"/>
              </a:rPr>
              <a:t>/R</a:t>
            </a:r>
            <a:r>
              <a:rPr sz="1900" b="0" i="0" baseline="-25000">
                <a:solidFill>
                  <a:srgbClr val="23232B"/>
                </a:solidFill>
                <a:latin typeface="Calibri"/>
              </a:rPr>
              <a:t>S</a:t>
            </a:r>
            <a:r>
              <a:rPr sz="1900" b="0" i="0">
                <a:solidFill>
                  <a:srgbClr val="23232B"/>
                </a:solidFill>
                <a:latin typeface="Calibri"/>
              </a:rPr>
              <a:t>, V</a:t>
            </a:r>
            <a:r>
              <a:rPr sz="1900" b="0" i="0" baseline="-25000">
                <a:solidFill>
                  <a:srgbClr val="23232B"/>
                </a:solidFill>
                <a:latin typeface="Calibri"/>
              </a:rPr>
              <a:t>BE</a:t>
            </a:r>
            <a:r>
              <a:rPr sz="1900" b="0" i="0">
                <a:solidFill>
                  <a:srgbClr val="23232B"/>
                </a:solidFill>
                <a:latin typeface="Calibri"/>
              </a:rPr>
              <a:t> drift drops out</a:t>
            </a:r>
          </a:p>
          <a:p>
            <a:pPr algn="l" marL="274320" indent="-274320">
              <a:lnSpc>
                <a:spcPct val="100000"/>
              </a:lnSpc>
              <a:spcAft>
                <a:spcPts val="1000"/>
              </a:spcAft>
              <a:buClr>
                <a:srgbClr val="00A9CE"/>
              </a:buClr>
              <a:buFont typeface="Arial"/>
              <a:buChar char="•"/>
            </a:pPr>
            <a:r>
              <a:rPr sz="1900" b="0" i="0">
                <a:solidFill>
                  <a:srgbClr val="23232B"/>
                </a:solidFill>
                <a:latin typeface="Calibri"/>
              </a:rPr>
              <a:t>With transistor: base current lost (1 % at β = 100), MOSFET avoids it</a:t>
            </a:r>
          </a:p>
          <a:p>
            <a:pPr algn="l" marL="274320" indent="-274320">
              <a:lnSpc>
                <a:spcPct val="100000"/>
              </a:lnSpc>
              <a:spcAft>
                <a:spcPts val="1000"/>
              </a:spcAft>
              <a:buClr>
                <a:srgbClr val="00A9CE"/>
              </a:buClr>
              <a:buFont typeface="Arial"/>
              <a:buChar char="•"/>
            </a:pPr>
            <a:r>
              <a:rPr sz="1900" b="0" i="0">
                <a:solidFill>
                  <a:srgbClr val="23232B"/>
                </a:solidFill>
                <a:latin typeface="Calibri"/>
              </a:rPr>
              <a:t>Floating sensor in the feedback path: exact current, no terminal at ground</a:t>
            </a:r>
          </a:p>
          <a:p>
            <a:pPr algn="l" marL="274320" indent="-274320">
              <a:lnSpc>
                <a:spcPct val="100000"/>
              </a:lnSpc>
              <a:spcAft>
                <a:spcPts val="1000"/>
              </a:spcAft>
              <a:buClr>
                <a:srgbClr val="00A9CE"/>
              </a:buClr>
              <a:buFont typeface="Arial"/>
              <a:buChar char="•"/>
            </a:pPr>
            <a:r>
              <a:rPr sz="1900" b="0" i="0">
                <a:solidFill>
                  <a:srgbClr val="23232B"/>
                </a:solidFill>
                <a:latin typeface="Calibri"/>
              </a:rPr>
              <a:t>Howland pump for grounded loads: needs well matched resistors</a:t>
            </a:r>
          </a:p>
        </p:txBody>
      </p:sp>
      <p:sp>
        <p:nvSpPr>
          <p:cNvPr id="12" name="Key rule"/>
          <p:cNvSpPr/>
          <p:nvPr/>
        </p:nvSpPr>
        <p:spPr>
          <a:xfrm>
            <a:off x="548640" y="407212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418185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45617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I = V</a:t>
            </a:r>
            <a:r>
              <a:rPr sz="1700" b="1" i="0" baseline="-25000">
                <a:solidFill>
                  <a:srgbClr val="4E2A8C"/>
                </a:solidFill>
                <a:latin typeface="Calibri"/>
              </a:rPr>
              <a:t>set</a:t>
            </a:r>
            <a:r>
              <a:rPr sz="1700" b="1" i="0">
                <a:solidFill>
                  <a:srgbClr val="4E2A8C"/>
                </a:solidFill>
                <a:latin typeface="Calibri"/>
              </a:rPr>
              <a:t>/R</a:t>
            </a:r>
            <a:r>
              <a:rPr sz="1700" b="1" i="0" baseline="-25000">
                <a:solidFill>
                  <a:srgbClr val="4E2A8C"/>
                </a:solidFill>
                <a:latin typeface="Calibri"/>
              </a:rPr>
              <a:t>S</a:t>
            </a:r>
            <a:r>
              <a:rPr sz="1700" b="1" i="0">
                <a:solidFill>
                  <a:srgbClr val="4E2A8C"/>
                </a:solidFill>
                <a:latin typeface="Calibri"/>
              </a:rPr>
              <a:t>: as accurate as V</a:t>
            </a:r>
            <a:r>
              <a:rPr sz="1700" b="1" i="0" baseline="-25000">
                <a:solidFill>
                  <a:srgbClr val="4E2A8C"/>
                </a:solidFill>
                <a:latin typeface="Calibri"/>
              </a:rPr>
              <a:t>set</a:t>
            </a:r>
            <a:r>
              <a:rPr sz="1700" b="1" i="0">
                <a:solidFill>
                  <a:srgbClr val="4E2A8C"/>
                </a:solidFill>
                <a:latin typeface="Calibri"/>
              </a:rPr>
              <a:t> and R</a:t>
            </a:r>
            <a:r>
              <a:rPr sz="1700" b="1" i="0" baseline="-25000">
                <a:solidFill>
                  <a:srgbClr val="4E2A8C"/>
                </a:solidFill>
                <a:latin typeface="Calibri"/>
              </a:rPr>
              <a:t>S</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and Current Sources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OP-AMP CURRENT SOURCES AND SENSOR EXCITATION</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Sensor excitation: why 1 mA?</a:t>
            </a:r>
          </a:p>
        </p:txBody>
      </p:sp>
      <p:sp>
        <p:nvSpPr>
          <p:cNvPr id="4" name="Bullets"/>
          <p:cNvSpPr txBox="1"/>
          <p:nvPr/>
        </p:nvSpPr>
        <p:spPr>
          <a:xfrm>
            <a:off x="548640" y="1298448"/>
            <a:ext cx="11094415" cy="1645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Pt1000-like sensor: 1000 Ω at 0 °C, 1385 Ω at 100 °C</a:t>
            </a:r>
          </a:p>
          <a:p>
            <a:pPr algn="l" marL="274320" indent="-274320">
              <a:lnSpc>
                <a:spcPct val="100000"/>
              </a:lnSpc>
              <a:spcAft>
                <a:spcPts val="1000"/>
              </a:spcAft>
              <a:buClr>
                <a:srgbClr val="00A9CE"/>
              </a:buClr>
              <a:buFont typeface="Arial"/>
              <a:buChar char="•"/>
            </a:pPr>
            <a:r>
              <a:rPr sz="2000" b="0" i="0">
                <a:solidFill>
                  <a:srgbClr val="23232B"/>
                </a:solidFill>
                <a:latin typeface="Calibri"/>
              </a:rPr>
              <a:t>Constant current makes V</a:t>
            </a:r>
            <a:r>
              <a:rPr sz="2000" b="0" i="0" baseline="-25000">
                <a:solidFill>
                  <a:srgbClr val="23232B"/>
                </a:solidFill>
                <a:latin typeface="Calibri"/>
              </a:rPr>
              <a:t>sensor</a:t>
            </a:r>
            <a:r>
              <a:rPr sz="2000" b="0" i="0">
                <a:solidFill>
                  <a:srgbClr val="23232B"/>
                </a:solidFill>
                <a:latin typeface="Calibri"/>
              </a:rPr>
              <a:t> linear in T: 3.85 mV/K at 1 mA</a:t>
            </a:r>
          </a:p>
          <a:p>
            <a:pPr algn="l" marL="274320" indent="-274320">
              <a:lnSpc>
                <a:spcPct val="100000"/>
              </a:lnSpc>
              <a:spcAft>
                <a:spcPts val="1000"/>
              </a:spcAft>
              <a:buClr>
                <a:srgbClr val="00A9CE"/>
              </a:buClr>
              <a:buFont typeface="Arial"/>
              <a:buChar char="•"/>
            </a:pPr>
            <a:r>
              <a:rPr sz="2000" b="0" i="0">
                <a:solidFill>
                  <a:srgbClr val="23232B"/>
                </a:solidFill>
                <a:latin typeface="Calibri"/>
              </a:rPr>
              <a:t>Self-heating: 1.39 mW → about 0.55 K error at 0.4 K/mW</a:t>
            </a:r>
          </a:p>
          <a:p>
            <a:pPr algn="l" marL="274320" indent="-274320">
              <a:lnSpc>
                <a:spcPct val="100000"/>
              </a:lnSpc>
              <a:spcAft>
                <a:spcPts val="1000"/>
              </a:spcAft>
              <a:buClr>
                <a:srgbClr val="00A9CE"/>
              </a:buClr>
              <a:buFont typeface="Arial"/>
              <a:buChar char="•"/>
            </a:pPr>
            <a:r>
              <a:rPr sz="2000" b="0" i="0">
                <a:solidFill>
                  <a:srgbClr val="23232B"/>
                </a:solidFill>
                <a:latin typeface="Calibri"/>
              </a:rPr>
              <a:t>The 1 V offset at 0 °C is removed by a bridge (next chapters)</a:t>
            </a:r>
          </a:p>
        </p:txBody>
      </p:sp>
      <p:sp>
        <p:nvSpPr>
          <p:cNvPr id="5" name="Key rule"/>
          <p:cNvSpPr/>
          <p:nvPr/>
        </p:nvSpPr>
        <p:spPr>
          <a:xfrm>
            <a:off x="548640" y="3264408"/>
            <a:ext cx="11094415"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ey rule label"/>
          <p:cNvSpPr txBox="1"/>
          <p:nvPr/>
        </p:nvSpPr>
        <p:spPr>
          <a:xfrm>
            <a:off x="777240" y="3374136"/>
            <a:ext cx="10637215"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7" name="Key rule text"/>
          <p:cNvSpPr txBox="1"/>
          <p:nvPr/>
        </p:nvSpPr>
        <p:spPr>
          <a:xfrm>
            <a:off x="777240" y="3648456"/>
            <a:ext cx="10637215"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P = I</a:t>
            </a:r>
            <a:r>
              <a:rPr sz="1700" b="1" i="0" baseline="30000">
                <a:solidFill>
                  <a:srgbClr val="4E2A8C"/>
                </a:solidFill>
                <a:latin typeface="Calibri"/>
              </a:rPr>
              <a:t>2</a:t>
            </a:r>
            <a:r>
              <a:rPr sz="1700" b="1" i="0">
                <a:solidFill>
                  <a:srgbClr val="4E2A8C"/>
                </a:solidFill>
                <a:latin typeface="Calibri"/>
              </a:rPr>
              <a:t>·R: half the current, a quarter of the self-heating</a:t>
            </a:r>
          </a:p>
        </p:txBody>
      </p:sp>
      <p:pic>
        <p:nvPicPr>
          <p:cNvPr id="8"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9"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and Current Sources</a:t>
            </a:r>
          </a:p>
        </p:txBody>
      </p:sp>
      <p:sp>
        <p:nvSpPr>
          <p:cNvPr id="10"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EXERCISES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Now work it out in the script</a:t>
            </a:r>
          </a:p>
        </p:txBody>
      </p:sp>
      <p:sp>
        <p:nvSpPr>
          <p:cNvPr id="4" name="Intro"/>
          <p:cNvSpPr txBox="1"/>
          <p:nvPr/>
        </p:nvSpPr>
        <p:spPr>
          <a:xfrm>
            <a:off x="548640" y="1298448"/>
            <a:ext cx="11094415" cy="640080"/>
          </a:xfrm>
          <a:prstGeom prst="rect">
            <a:avLst/>
          </a:prstGeom>
          <a:noFill/>
        </p:spPr>
        <p:txBody>
          <a:bodyPr wrap="square" lIns="0" rIns="0" tIns="0" bIns="0" anchor="t">
            <a:noAutofit/>
          </a:bodyPr>
          <a:lstStyle/>
          <a:p>
            <a:pPr algn="l">
              <a:lnSpc>
                <a:spcPct val="100000"/>
              </a:lnSpc>
              <a:spcAft>
                <a:spcPts val="600"/>
              </a:spcAft>
              <a:buNone/>
            </a:pPr>
            <a:r>
              <a:rPr sz="1800" b="0" i="0">
                <a:solidFill>
                  <a:srgbClr val="62626E"/>
                </a:solidFill>
                <a:latin typeface="Calibri"/>
              </a:rPr>
              <a:t>Derivations, worked numbers and solutions: script, chapter 3 “Voltage and Current Sources”. Check each result in the Falstad examples.</a:t>
            </a:r>
          </a:p>
        </p:txBody>
      </p:sp>
      <p:sp>
        <p:nvSpPr>
          <p:cNvPr id="5" name="Exercise card"/>
          <p:cNvSpPr/>
          <p:nvPr/>
        </p:nvSpPr>
        <p:spPr>
          <a:xfrm>
            <a:off x="548640"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rcise number"/>
          <p:cNvSpPr/>
          <p:nvPr/>
        </p:nvSpPr>
        <p:spPr>
          <a:xfrm>
            <a:off x="548640"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3.1</a:t>
            </a:r>
          </a:p>
        </p:txBody>
      </p:sp>
      <p:sp>
        <p:nvSpPr>
          <p:cNvPr id="8" name="Exercise title"/>
          <p:cNvSpPr txBox="1"/>
          <p:nvPr/>
        </p:nvSpPr>
        <p:spPr>
          <a:xfrm>
            <a:off x="1645919"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Measuring a real voltage source</a:t>
            </a:r>
          </a:p>
        </p:txBody>
      </p:sp>
      <p:sp>
        <p:nvSpPr>
          <p:cNvPr id="9" name="Exercise card"/>
          <p:cNvSpPr/>
          <p:nvPr/>
        </p:nvSpPr>
        <p:spPr>
          <a:xfrm>
            <a:off x="548640"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ercise number"/>
          <p:cNvSpPr/>
          <p:nvPr/>
        </p:nvSpPr>
        <p:spPr>
          <a:xfrm>
            <a:off x="548640"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3.2</a:t>
            </a:r>
          </a:p>
        </p:txBody>
      </p:sp>
      <p:sp>
        <p:nvSpPr>
          <p:cNvPr id="12" name="Exercise title"/>
          <p:cNvSpPr txBox="1"/>
          <p:nvPr/>
        </p:nvSpPr>
        <p:spPr>
          <a:xfrm>
            <a:off x="1645919"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Source transformation</a:t>
            </a:r>
          </a:p>
        </p:txBody>
      </p:sp>
      <p:sp>
        <p:nvSpPr>
          <p:cNvPr id="13" name="Exercise card"/>
          <p:cNvSpPr/>
          <p:nvPr/>
        </p:nvSpPr>
        <p:spPr>
          <a:xfrm>
            <a:off x="548640"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xercise number"/>
          <p:cNvSpPr/>
          <p:nvPr/>
        </p:nvSpPr>
        <p:spPr>
          <a:xfrm>
            <a:off x="548640"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3.3</a:t>
            </a:r>
          </a:p>
        </p:txBody>
      </p:sp>
      <p:sp>
        <p:nvSpPr>
          <p:cNvPr id="16" name="Exercise title"/>
          <p:cNvSpPr txBox="1"/>
          <p:nvPr/>
        </p:nvSpPr>
        <p:spPr>
          <a:xfrm>
            <a:off x="1645919"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Design of a Zener shunt regulator</a:t>
            </a:r>
          </a:p>
        </p:txBody>
      </p:sp>
      <p:sp>
        <p:nvSpPr>
          <p:cNvPr id="17" name="Exercise card"/>
          <p:cNvSpPr/>
          <p:nvPr/>
        </p:nvSpPr>
        <p:spPr>
          <a:xfrm>
            <a:off x="548640" y="4855464"/>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xercise number"/>
          <p:cNvSpPr/>
          <p:nvPr/>
        </p:nvSpPr>
        <p:spPr>
          <a:xfrm>
            <a:off x="548640" y="4855464"/>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855464"/>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3.4</a:t>
            </a:r>
          </a:p>
        </p:txBody>
      </p:sp>
      <p:sp>
        <p:nvSpPr>
          <p:cNvPr id="20" name="Exercise title"/>
          <p:cNvSpPr txBox="1"/>
          <p:nvPr/>
        </p:nvSpPr>
        <p:spPr>
          <a:xfrm>
            <a:off x="1645919" y="4855464"/>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Emitter follower regulator</a:t>
            </a:r>
          </a:p>
        </p:txBody>
      </p:sp>
      <p:sp>
        <p:nvSpPr>
          <p:cNvPr id="21" name="Exercise card"/>
          <p:cNvSpPr/>
          <p:nvPr/>
        </p:nvSpPr>
        <p:spPr>
          <a:xfrm>
            <a:off x="6233007"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xercise number"/>
          <p:cNvSpPr/>
          <p:nvPr/>
        </p:nvSpPr>
        <p:spPr>
          <a:xfrm>
            <a:off x="6233007"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3007"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3.5</a:t>
            </a:r>
          </a:p>
        </p:txBody>
      </p:sp>
      <p:sp>
        <p:nvSpPr>
          <p:cNvPr id="24" name="Exercise title"/>
          <p:cNvSpPr txBox="1"/>
          <p:nvPr/>
        </p:nvSpPr>
        <p:spPr>
          <a:xfrm>
            <a:off x="7330287"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Adjustable regulator LM317</a:t>
            </a:r>
          </a:p>
        </p:txBody>
      </p:sp>
      <p:sp>
        <p:nvSpPr>
          <p:cNvPr id="25" name="Exercise card"/>
          <p:cNvSpPr/>
          <p:nvPr/>
        </p:nvSpPr>
        <p:spPr>
          <a:xfrm>
            <a:off x="6233007"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xercise number"/>
          <p:cNvSpPr/>
          <p:nvPr/>
        </p:nvSpPr>
        <p:spPr>
          <a:xfrm>
            <a:off x="6233007"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33007"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3.6</a:t>
            </a:r>
          </a:p>
        </p:txBody>
      </p:sp>
      <p:sp>
        <p:nvSpPr>
          <p:cNvPr id="28" name="Exercise title"/>
          <p:cNvSpPr txBox="1"/>
          <p:nvPr/>
        </p:nvSpPr>
        <p:spPr>
          <a:xfrm>
            <a:off x="7330287"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Op-amp voltage source for 3.3 V</a:t>
            </a:r>
          </a:p>
        </p:txBody>
      </p:sp>
      <p:sp>
        <p:nvSpPr>
          <p:cNvPr id="29" name="Exercise card"/>
          <p:cNvSpPr/>
          <p:nvPr/>
        </p:nvSpPr>
        <p:spPr>
          <a:xfrm>
            <a:off x="6233007"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xercise number"/>
          <p:cNvSpPr/>
          <p:nvPr/>
        </p:nvSpPr>
        <p:spPr>
          <a:xfrm>
            <a:off x="6233007"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33007"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3.7</a:t>
            </a:r>
          </a:p>
        </p:txBody>
      </p:sp>
      <p:sp>
        <p:nvSpPr>
          <p:cNvPr id="32" name="Exercise title"/>
          <p:cNvSpPr txBox="1"/>
          <p:nvPr/>
        </p:nvSpPr>
        <p:spPr>
          <a:xfrm>
            <a:off x="7330287"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BJT current source for a resistive sensor</a:t>
            </a:r>
          </a:p>
        </p:txBody>
      </p:sp>
      <p:pic>
        <p:nvPicPr>
          <p:cNvPr id="33"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34"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and Current Sources</a:t>
            </a:r>
          </a:p>
        </p:txBody>
      </p:sp>
      <p:sp>
        <p:nvSpPr>
          <p:cNvPr id="3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6638B6"/>
        </a:solidFill>
        <a:effectLst/>
      </p:bgPr>
    </p:bg>
    <p:spTree>
      <p:nvGrpSpPr>
        <p:cNvPr id="1" name=""/>
        <p:cNvGrpSpPr/>
        <p:nvPr/>
      </p:nvGrpSpPr>
      <p:grpSpPr/>
      <p:sp>
        <p:nvSpPr>
          <p:cNvPr id="2" name="Chapter number"/>
          <p:cNvSpPr txBox="1"/>
          <p:nvPr/>
        </p:nvSpPr>
        <p:spPr>
          <a:xfrm>
            <a:off x="548640" y="822960"/>
            <a:ext cx="2743200" cy="1463040"/>
          </a:xfrm>
          <a:prstGeom prst="rect">
            <a:avLst/>
          </a:prstGeom>
          <a:noFill/>
        </p:spPr>
        <p:txBody>
          <a:bodyPr wrap="square" lIns="0" rIns="0" tIns="0" bIns="0" anchor="t">
            <a:noAutofit/>
          </a:bodyPr>
          <a:lstStyle/>
          <a:p>
            <a:pPr algn="l">
              <a:lnSpc>
                <a:spcPct val="100000"/>
              </a:lnSpc>
              <a:spcAft>
                <a:spcPts val="600"/>
              </a:spcAft>
              <a:buNone/>
            </a:pPr>
            <a:r>
              <a:rPr sz="9600" b="1" i="0">
                <a:solidFill>
                  <a:srgbClr val="9B7DD4"/>
                </a:solidFill>
                <a:latin typeface="Calibri"/>
              </a:rPr>
              <a:t>04</a:t>
            </a:r>
          </a:p>
        </p:txBody>
      </p:sp>
      <p:sp>
        <p:nvSpPr>
          <p:cNvPr id="3" name="Chapter title"/>
          <p:cNvSpPr txBox="1"/>
          <p:nvPr/>
        </p:nvSpPr>
        <p:spPr>
          <a:xfrm>
            <a:off x="548640" y="2331720"/>
            <a:ext cx="11094415" cy="914400"/>
          </a:xfrm>
          <a:prstGeom prst="rect">
            <a:avLst/>
          </a:prstGeom>
          <a:noFill/>
        </p:spPr>
        <p:txBody>
          <a:bodyPr wrap="square" lIns="0" rIns="0" tIns="0" bIns="0" anchor="ctr">
            <a:noAutofit/>
          </a:bodyPr>
          <a:lstStyle/>
          <a:p>
            <a:pPr algn="l">
              <a:lnSpc>
                <a:spcPct val="100000"/>
              </a:lnSpc>
              <a:spcAft>
                <a:spcPts val="600"/>
              </a:spcAft>
              <a:buNone/>
            </a:pPr>
            <a:r>
              <a:rPr sz="4400" b="1" i="0">
                <a:solidFill>
                  <a:srgbClr val="FFFFFF"/>
                </a:solidFill>
                <a:latin typeface="Calibri"/>
              </a:rPr>
              <a:t>Voltage References</a:t>
            </a:r>
          </a:p>
        </p:txBody>
      </p:sp>
      <p:sp>
        <p:nvSpPr>
          <p:cNvPr id="4" name="Chapter subtitle"/>
          <p:cNvSpPr txBox="1"/>
          <p:nvPr/>
        </p:nvSpPr>
        <p:spPr>
          <a:xfrm>
            <a:off x="548640" y="3246120"/>
            <a:ext cx="11094415" cy="4572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CFE9F3"/>
                </a:solidFill>
                <a:latin typeface="Calibri"/>
              </a:rPr>
              <a:t>Zener and bandgap references, scaling to 4.00 V, ratiometric measurement</a:t>
            </a:r>
          </a:p>
        </p:txBody>
      </p:sp>
      <p:sp>
        <p:nvSpPr>
          <p:cNvPr id="5" name="Takeaway card"/>
          <p:cNvSpPr/>
          <p:nvPr/>
        </p:nvSpPr>
        <p:spPr>
          <a:xfrm>
            <a:off x="548640"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1</a:t>
            </a:r>
          </a:p>
        </p:txBody>
      </p:sp>
      <p:sp>
        <p:nvSpPr>
          <p:cNvPr id="7" name="Takeaway"/>
          <p:cNvSpPr txBox="1"/>
          <p:nvPr/>
        </p:nvSpPr>
        <p:spPr>
          <a:xfrm>
            <a:off x="822959"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A reference error is a gain error of the chain</a:t>
            </a:r>
          </a:p>
        </p:txBody>
      </p:sp>
      <p:sp>
        <p:nvSpPr>
          <p:cNvPr id="8" name="Takeaway card"/>
          <p:cNvSpPr/>
          <p:nvPr/>
        </p:nvSpPr>
        <p:spPr>
          <a:xfrm>
            <a:off x="4338218"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2538"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2</a:t>
            </a:r>
          </a:p>
        </p:txBody>
      </p:sp>
      <p:sp>
        <p:nvSpPr>
          <p:cNvPr id="10" name="Takeaway"/>
          <p:cNvSpPr txBox="1"/>
          <p:nvPr/>
        </p:nvSpPr>
        <p:spPr>
          <a:xfrm>
            <a:off x="4612538"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Never load a reference: buffer and scale it</a:t>
            </a:r>
          </a:p>
        </p:txBody>
      </p:sp>
      <p:sp>
        <p:nvSpPr>
          <p:cNvPr id="11" name="Takeaway card"/>
          <p:cNvSpPr/>
          <p:nvPr/>
        </p:nvSpPr>
        <p:spPr>
          <a:xfrm>
            <a:off x="8127796"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2116"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3</a:t>
            </a:r>
          </a:p>
        </p:txBody>
      </p:sp>
      <p:sp>
        <p:nvSpPr>
          <p:cNvPr id="13" name="Takeaway"/>
          <p:cNvSpPr txBox="1"/>
          <p:nvPr/>
        </p:nvSpPr>
        <p:spPr>
          <a:xfrm>
            <a:off x="8402116"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Ratiometric measurement cancels the reference</a:t>
            </a:r>
          </a:p>
        </p:txBody>
      </p:sp>
      <p:sp>
        <p:nvSpPr>
          <p:cNvPr id="14" name="Footer"/>
          <p:cNvSpPr txBox="1"/>
          <p:nvPr/>
        </p:nvSpPr>
        <p:spPr>
          <a:xfrm>
            <a:off x="548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FFFFFF"/>
                </a:solidFill>
                <a:latin typeface="Calibri"/>
              </a:rPr>
              <a:t>Electronic Circuit Design  ·  Voltage References</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FFFFFF"/>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WHY VOLTAGE REFERENCES?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Regulator or reference?</a:t>
            </a:r>
          </a:p>
        </p:txBody>
      </p:sp>
      <p:sp>
        <p:nvSpPr>
          <p:cNvPr id="4" name="Compare card"/>
          <p:cNvSpPr/>
          <p:nvPr/>
        </p:nvSpPr>
        <p:spPr>
          <a:xfrm>
            <a:off x="548640" y="1298448"/>
            <a:ext cx="5364327" cy="2402840"/>
          </a:xfrm>
          <a:prstGeom prst="roundRect">
            <a:avLst>
              <a:gd name="adj" fmla="val 5327"/>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868680"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6638B6"/>
                </a:solidFill>
                <a:latin typeface="Calibri"/>
              </a:rPr>
              <a:t>Voltage regulator</a:t>
            </a:r>
          </a:p>
        </p:txBody>
      </p:sp>
      <p:sp>
        <p:nvSpPr>
          <p:cNvPr id="6" name="Card bullets"/>
          <p:cNvSpPr txBox="1"/>
          <p:nvPr/>
        </p:nvSpPr>
        <p:spPr>
          <a:xfrm>
            <a:off x="868680" y="2167128"/>
            <a:ext cx="4724247" cy="13512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Supplies power: mA … A</a:t>
            </a:r>
          </a:p>
          <a:p>
            <a:pPr algn="l" marL="274320" indent="-274320">
              <a:lnSpc>
                <a:spcPct val="100000"/>
              </a:lnSpc>
              <a:spcAft>
                <a:spcPts val="1000"/>
              </a:spcAft>
              <a:buClr>
                <a:srgbClr val="00A9CE"/>
              </a:buClr>
              <a:buFont typeface="Arial"/>
              <a:buChar char="•"/>
            </a:pPr>
            <a:r>
              <a:rPr sz="2000" b="0" i="0">
                <a:solidFill>
                  <a:srgbClr val="23232B"/>
                </a:solidFill>
                <a:latin typeface="Calibri"/>
              </a:rPr>
              <a:t>Accuracy 1–5 %, 100–300 ppm/K</a:t>
            </a:r>
          </a:p>
          <a:p>
            <a:pPr algn="l" marL="274320" indent="-274320">
              <a:lnSpc>
                <a:spcPct val="100000"/>
              </a:lnSpc>
              <a:spcAft>
                <a:spcPts val="1000"/>
              </a:spcAft>
              <a:buClr>
                <a:srgbClr val="00A9CE"/>
              </a:buClr>
              <a:buFont typeface="Arial"/>
              <a:buChar char="•"/>
            </a:pPr>
            <a:r>
              <a:rPr sz="2000" b="0" i="0">
                <a:solidFill>
                  <a:srgbClr val="23232B"/>
                </a:solidFill>
                <a:latin typeface="Calibri"/>
              </a:rPr>
              <a:t>Noise high, rarely specified</a:t>
            </a:r>
          </a:p>
        </p:txBody>
      </p:sp>
      <p:sp>
        <p:nvSpPr>
          <p:cNvPr id="7" name="Compare card"/>
          <p:cNvSpPr/>
          <p:nvPr/>
        </p:nvSpPr>
        <p:spPr>
          <a:xfrm>
            <a:off x="6278727" y="1298448"/>
            <a:ext cx="5364327" cy="2402840"/>
          </a:xfrm>
          <a:prstGeom prst="roundRect">
            <a:avLst>
              <a:gd name="adj" fmla="val 5327"/>
            </a:avLst>
          </a:prstGeom>
          <a:solidFill>
            <a:srgbClr val="E5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6598767"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007F9B"/>
                </a:solidFill>
                <a:latin typeface="Calibri"/>
              </a:rPr>
              <a:t>Voltage reference</a:t>
            </a:r>
          </a:p>
        </p:txBody>
      </p:sp>
      <p:sp>
        <p:nvSpPr>
          <p:cNvPr id="9" name="Card bullets"/>
          <p:cNvSpPr txBox="1"/>
          <p:nvPr/>
        </p:nvSpPr>
        <p:spPr>
          <a:xfrm>
            <a:off x="6598767" y="2167128"/>
            <a:ext cx="4724247" cy="13512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Defines a voltage: µA … 10 mA</a:t>
            </a:r>
          </a:p>
          <a:p>
            <a:pPr algn="l" marL="274320" indent="-274320">
              <a:lnSpc>
                <a:spcPct val="100000"/>
              </a:lnSpc>
              <a:spcAft>
                <a:spcPts val="1000"/>
              </a:spcAft>
              <a:buClr>
                <a:srgbClr val="00A9CE"/>
              </a:buClr>
              <a:buFont typeface="Arial"/>
              <a:buChar char="•"/>
            </a:pPr>
            <a:r>
              <a:rPr sz="2000" b="0" i="0">
                <a:solidFill>
                  <a:srgbClr val="23232B"/>
                </a:solidFill>
                <a:latin typeface="Calibri"/>
              </a:rPr>
              <a:t>Accuracy 0.02–1 %, 1–50 ppm/K</a:t>
            </a:r>
          </a:p>
          <a:p>
            <a:pPr algn="l" marL="274320" indent="-274320">
              <a:lnSpc>
                <a:spcPct val="100000"/>
              </a:lnSpc>
              <a:spcAft>
                <a:spcPts val="1000"/>
              </a:spcAft>
              <a:buClr>
                <a:srgbClr val="00A9CE"/>
              </a:buClr>
              <a:buFont typeface="Arial"/>
              <a:buChar char="•"/>
            </a:pPr>
            <a:r>
              <a:rPr sz="2000" b="0" i="0">
                <a:solidFill>
                  <a:srgbClr val="23232B"/>
                </a:solidFill>
                <a:latin typeface="Calibri"/>
              </a:rPr>
              <a:t>Low, specified noise</a:t>
            </a:r>
          </a:p>
        </p:txBody>
      </p:sp>
      <p:pic>
        <p:nvPicPr>
          <p:cNvPr id="10"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SPECIFICATIONS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Data sheet parameters</a:t>
            </a:r>
          </a:p>
        </p:txBody>
      </p:sp>
      <p:sp>
        <p:nvSpPr>
          <p:cNvPr id="4" name="Figure panel"/>
          <p:cNvSpPr/>
          <p:nvPr/>
        </p:nvSpPr>
        <p:spPr>
          <a:xfrm>
            <a:off x="548640" y="4041648"/>
            <a:ext cx="11094415" cy="2103120"/>
          </a:xfrm>
          <a:prstGeom prst="roundRect">
            <a:avLst>
              <a:gd name="adj" fmla="val 5217"/>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temperature-coefficient-the-box-method-1.png"/>
          <p:cNvPicPr>
            <a:picLocks noChangeAspect="1"/>
          </p:cNvPicPr>
          <p:nvPr/>
        </p:nvPicPr>
        <p:blipFill>
          <a:blip r:embed="rId2"/>
          <a:stretch>
            <a:fillRect/>
          </a:stretch>
        </p:blipFill>
        <p:spPr>
          <a:xfrm>
            <a:off x="3471988" y="4242816"/>
            <a:ext cx="5247718" cy="1700784"/>
          </a:xfrm>
          <a:prstGeom prst="rect">
            <a:avLst/>
          </a:prstGeom>
        </p:spPr>
      </p:pic>
      <p:sp>
        <p:nvSpPr>
          <p:cNvPr id="6" name="Bullets"/>
          <p:cNvSpPr txBox="1"/>
          <p:nvPr/>
        </p:nvSpPr>
        <p:spPr>
          <a:xfrm>
            <a:off x="548640" y="1298448"/>
            <a:ext cx="11094415" cy="12141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Initial accuracy at 25 °C (e.g. ±0.1 %) and TC (e.g. 20 ppm/K)</a:t>
            </a:r>
          </a:p>
          <a:p>
            <a:pPr algn="l" marL="274320" indent="-274320">
              <a:lnSpc>
                <a:spcPct val="100000"/>
              </a:lnSpc>
              <a:spcAft>
                <a:spcPts val="1000"/>
              </a:spcAft>
              <a:buClr>
                <a:srgbClr val="00A9CE"/>
              </a:buClr>
              <a:buFont typeface="Arial"/>
              <a:buChar char="•"/>
            </a:pPr>
            <a:r>
              <a:rPr sz="2000" b="0" i="0">
                <a:solidFill>
                  <a:srgbClr val="23232B"/>
                </a:solidFill>
                <a:latin typeface="Calibri"/>
              </a:rPr>
              <a:t>Line and load regulation (e.g. 50 µV/V, 100 ppm/mA)</a:t>
            </a:r>
          </a:p>
          <a:p>
            <a:pPr algn="l" marL="274320" indent="-274320">
              <a:lnSpc>
                <a:spcPct val="100000"/>
              </a:lnSpc>
              <a:spcAft>
                <a:spcPts val="1000"/>
              </a:spcAft>
              <a:buClr>
                <a:srgbClr val="00A9CE"/>
              </a:buClr>
              <a:buFont typeface="Arial"/>
              <a:buChar char="•"/>
            </a:pPr>
            <a:r>
              <a:rPr sz="2000" b="0" i="0">
                <a:solidFill>
                  <a:srgbClr val="23232B"/>
                </a:solidFill>
                <a:latin typeface="Calibri"/>
              </a:rPr>
              <a:t>Noise 0.1–10 Hz peak-to-peak, long-term drift, thermal hysteresis</a:t>
            </a:r>
          </a:p>
        </p:txBody>
      </p:sp>
      <p:sp>
        <p:nvSpPr>
          <p:cNvPr id="7" name="Key rule"/>
          <p:cNvSpPr/>
          <p:nvPr/>
        </p:nvSpPr>
        <p:spPr>
          <a:xfrm>
            <a:off x="548640" y="2832607"/>
            <a:ext cx="11094415"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2942336"/>
            <a:ext cx="10637215"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3216655"/>
            <a:ext cx="10637215"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Box method: TC = (V</a:t>
            </a:r>
            <a:r>
              <a:rPr sz="1700" b="1" i="0" baseline="-25000">
                <a:solidFill>
                  <a:srgbClr val="4E2A8C"/>
                </a:solidFill>
                <a:latin typeface="Calibri"/>
              </a:rPr>
              <a:t>max</a:t>
            </a:r>
            <a:r>
              <a:rPr sz="1700" b="1" i="0">
                <a:solidFill>
                  <a:srgbClr val="4E2A8C"/>
                </a:solidFill>
                <a:latin typeface="Calibri"/>
              </a:rPr>
              <a:t> − V</a:t>
            </a:r>
            <a:r>
              <a:rPr sz="1700" b="1" i="0" baseline="-25000">
                <a:solidFill>
                  <a:srgbClr val="4E2A8C"/>
                </a:solidFill>
                <a:latin typeface="Calibri"/>
              </a:rPr>
              <a:t>min</a:t>
            </a:r>
            <a:r>
              <a:rPr sz="1700" b="1" i="0">
                <a:solidFill>
                  <a:srgbClr val="4E2A8C"/>
                </a:solidFill>
                <a:latin typeface="Calibri"/>
              </a:rPr>
              <a:t>)/(V</a:t>
            </a:r>
            <a:r>
              <a:rPr sz="1700" b="1" i="0" baseline="-25000">
                <a:solidFill>
                  <a:srgbClr val="4E2A8C"/>
                </a:solidFill>
                <a:latin typeface="Calibri"/>
              </a:rPr>
              <a:t>nom</a:t>
            </a:r>
            <a:r>
              <a:rPr sz="1700" b="1" i="0">
                <a:solidFill>
                  <a:srgbClr val="4E2A8C"/>
                </a:solidFill>
                <a:latin typeface="Calibri"/>
              </a:rPr>
              <a:t>·(T</a:t>
            </a:r>
            <a:r>
              <a:rPr sz="1700" b="1" i="0" baseline="-25000">
                <a:solidFill>
                  <a:srgbClr val="4E2A8C"/>
                </a:solidFill>
                <a:latin typeface="Calibri"/>
              </a:rPr>
              <a:t>max</a:t>
            </a:r>
            <a:r>
              <a:rPr sz="1700" b="1" i="0">
                <a:solidFill>
                  <a:srgbClr val="4E2A8C"/>
                </a:solidFill>
                <a:latin typeface="Calibri"/>
              </a:rPr>
              <a:t> − T</a:t>
            </a:r>
            <a:r>
              <a:rPr sz="1700" b="1" i="0" baseline="-25000">
                <a:solidFill>
                  <a:srgbClr val="4E2A8C"/>
                </a:solidFill>
                <a:latin typeface="Calibri"/>
              </a:rPr>
              <a:t>min</a:t>
            </a:r>
            <a:r>
              <a:rPr sz="1700" b="1" i="0">
                <a:solidFill>
                  <a:srgbClr val="4E2A8C"/>
                </a:solidFill>
                <a:latin typeface="Calibri"/>
              </a:rPr>
              <a:t>))·10</a:t>
            </a:r>
            <a:r>
              <a:rPr sz="1700" b="1" i="0" baseline="30000">
                <a:solidFill>
                  <a:srgbClr val="4E2A8C"/>
                </a:solidFill>
                <a:latin typeface="Calibri"/>
              </a:rPr>
              <a:t>6</a:t>
            </a:r>
            <a:r>
              <a:rPr sz="1700" b="1" i="0">
                <a:solidFill>
                  <a:srgbClr val="4E2A8C"/>
                </a:solidFill>
                <a:latin typeface="Calibri"/>
              </a:rPr>
              <a:t> ppm</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ZENER REFERENCE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The Zener reference</a:t>
            </a:r>
          </a:p>
        </p:txBody>
      </p:sp>
      <p:sp>
        <p:nvSpPr>
          <p:cNvPr id="4" name="Figure panel"/>
          <p:cNvSpPr/>
          <p:nvPr/>
        </p:nvSpPr>
        <p:spPr>
          <a:xfrm>
            <a:off x="548640" y="4041648"/>
            <a:ext cx="11094415" cy="2103120"/>
          </a:xfrm>
          <a:prstGeom prst="roundRect">
            <a:avLst>
              <a:gd name="adj" fmla="val 5217"/>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temperature-coefficient-of-zener-diodes-1.png"/>
          <p:cNvPicPr>
            <a:picLocks noChangeAspect="1"/>
          </p:cNvPicPr>
          <p:nvPr/>
        </p:nvPicPr>
        <p:blipFill>
          <a:blip r:embed="rId2"/>
          <a:stretch>
            <a:fillRect/>
          </a:stretch>
        </p:blipFill>
        <p:spPr>
          <a:xfrm>
            <a:off x="3576402" y="4242816"/>
            <a:ext cx="5038889" cy="1700784"/>
          </a:xfrm>
          <a:prstGeom prst="rect">
            <a:avLst/>
          </a:prstGeom>
        </p:spPr>
      </p:pic>
      <p:sp>
        <p:nvSpPr>
          <p:cNvPr id="6" name="Bullets"/>
          <p:cNvSpPr txBox="1"/>
          <p:nvPr/>
        </p:nvSpPr>
        <p:spPr>
          <a:xfrm>
            <a:off x="548640" y="1298448"/>
            <a:ext cx="11094415" cy="24688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Smallest |TC| near 5–6 V: use 5.6 V or 6.2 V Zeners</a:t>
            </a:r>
          </a:p>
          <a:p>
            <a:pPr algn="l" marL="274320" indent="-274320">
              <a:lnSpc>
                <a:spcPct val="100000"/>
              </a:lnSpc>
              <a:spcAft>
                <a:spcPts val="1000"/>
              </a:spcAft>
              <a:buClr>
                <a:srgbClr val="00A9CE"/>
              </a:buClr>
              <a:buFont typeface="Arial"/>
              <a:buChar char="•"/>
            </a:pPr>
            <a:r>
              <a:rPr sz="2000" b="0" i="0">
                <a:solidFill>
                  <a:srgbClr val="23232B"/>
                </a:solidFill>
                <a:latin typeface="Calibri"/>
              </a:rPr>
              <a:t>6.2 V Zener + forward diode: compensated reference diode (1N821)</a:t>
            </a:r>
          </a:p>
          <a:p>
            <a:pPr algn="l" marL="274320" indent="-274320">
              <a:lnSpc>
                <a:spcPct val="100000"/>
              </a:lnSpc>
              <a:spcAft>
                <a:spcPts val="1000"/>
              </a:spcAft>
              <a:buClr>
                <a:srgbClr val="00A9CE"/>
              </a:buClr>
              <a:buFont typeface="Arial"/>
              <a:buChar char="•"/>
            </a:pPr>
            <a:r>
              <a:rPr sz="2000" b="0" i="0">
                <a:solidFill>
                  <a:srgbClr val="23232B"/>
                </a:solidFill>
                <a:latin typeface="Calibri"/>
              </a:rPr>
              <a:t>Fed by a resistor: line regulation ≈ r</a:t>
            </a:r>
            <a:r>
              <a:rPr sz="2000" b="0" i="0" baseline="-25000">
                <a:solidFill>
                  <a:srgbClr val="23232B"/>
                </a:solidFill>
                <a:latin typeface="Calibri"/>
              </a:rPr>
              <a:t>Z</a:t>
            </a:r>
            <a:r>
              <a:rPr sz="2000" b="0" i="0">
                <a:solidFill>
                  <a:srgbClr val="23232B"/>
                </a:solidFill>
                <a:latin typeface="Calibri"/>
              </a:rPr>
              <a:t>/(R</a:t>
            </a:r>
            <a:r>
              <a:rPr sz="2000" b="0" i="0" baseline="-25000">
                <a:solidFill>
                  <a:srgbClr val="23232B"/>
                </a:solidFill>
                <a:latin typeface="Calibri"/>
              </a:rPr>
              <a:t>V</a:t>
            </a:r>
            <a:r>
              <a:rPr sz="2000" b="0" i="0">
                <a:solidFill>
                  <a:srgbClr val="23232B"/>
                </a:solidFill>
                <a:latin typeface="Calibri"/>
              </a:rPr>
              <a:t> + r</a:t>
            </a:r>
            <a:r>
              <a:rPr sz="2000" b="0" i="0" baseline="-25000">
                <a:solidFill>
                  <a:srgbClr val="23232B"/>
                </a:solidFill>
                <a:latin typeface="Calibri"/>
              </a:rPr>
              <a:t>Z</a:t>
            </a:r>
            <a:r>
              <a:rPr sz="2000" b="0" i="0">
                <a:solidFill>
                  <a:srgbClr val="23232B"/>
                </a:solidFill>
                <a:latin typeface="Calibri"/>
              </a:rPr>
              <a:t>), r</a:t>
            </a:r>
            <a:r>
              <a:rPr sz="2000" b="0" i="0" baseline="-25000">
                <a:solidFill>
                  <a:srgbClr val="23232B"/>
                </a:solidFill>
                <a:latin typeface="Calibri"/>
              </a:rPr>
              <a:t>Z</a:t>
            </a:r>
            <a:r>
              <a:rPr sz="2000" b="0" i="0">
                <a:solidFill>
                  <a:srgbClr val="23232B"/>
                </a:solidFill>
                <a:latin typeface="Calibri"/>
              </a:rPr>
              <a:t> = 5–50 Ω</a:t>
            </a:r>
          </a:p>
          <a:p>
            <a:pPr algn="l" marL="274320" indent="-274320">
              <a:lnSpc>
                <a:spcPct val="100000"/>
              </a:lnSpc>
              <a:spcAft>
                <a:spcPts val="1000"/>
              </a:spcAft>
              <a:buClr>
                <a:srgbClr val="00A9CE"/>
              </a:buClr>
              <a:buFont typeface="Arial"/>
              <a:buChar char="•"/>
            </a:pPr>
            <a:r>
              <a:rPr sz="2000" b="0" i="0">
                <a:solidFill>
                  <a:srgbClr val="23232B"/>
                </a:solidFill>
                <a:latin typeface="Calibri"/>
              </a:rPr>
              <a:t>Fed by a current source: ≈ r</a:t>
            </a:r>
            <a:r>
              <a:rPr sz="2000" b="0" i="0" baseline="-25000">
                <a:solidFill>
                  <a:srgbClr val="23232B"/>
                </a:solidFill>
                <a:latin typeface="Calibri"/>
              </a:rPr>
              <a:t>Z</a:t>
            </a:r>
            <a:r>
              <a:rPr sz="2000" b="0" i="0">
                <a:solidFill>
                  <a:srgbClr val="23232B"/>
                </a:solidFill>
                <a:latin typeface="Calibri"/>
              </a:rPr>
              <a:t>/r</a:t>
            </a:r>
            <a:r>
              <a:rPr sz="2000" b="0" i="0" baseline="-25000">
                <a:solidFill>
                  <a:srgbClr val="23232B"/>
                </a:solidFill>
                <a:latin typeface="Calibri"/>
              </a:rPr>
              <a:t>o</a:t>
            </a:r>
            <a:r>
              <a:rPr sz="2000" b="0" i="0">
                <a:solidFill>
                  <a:srgbClr val="23232B"/>
                </a:solidFill>
                <a:latin typeface="Calibri"/>
              </a:rPr>
              <a:t>, far better</a:t>
            </a:r>
          </a:p>
        </p:txBody>
      </p:sp>
      <p:pic>
        <p:nvPicPr>
          <p:cNvPr id="7"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8"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9"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ZENER REFERENCE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resistor vs current-source feed</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feeding-a-zener-from-a-current-source-1.png"/>
          <p:cNvPicPr>
            <a:picLocks noChangeAspect="1"/>
          </p:cNvPicPr>
          <p:nvPr/>
        </p:nvPicPr>
        <p:blipFill>
          <a:blip r:embed="rId2"/>
          <a:stretch>
            <a:fillRect/>
          </a:stretch>
        </p:blipFill>
        <p:spPr>
          <a:xfrm>
            <a:off x="749808" y="1910750"/>
            <a:ext cx="5998464" cy="3621714"/>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zener_resistor">
            <a:hlinkClick r:id="rId3"/>
          </p:cNvPr>
          <p:cNvSpPr/>
          <p:nvPr/>
        </p:nvSpPr>
        <p:spPr>
          <a:xfrm>
            <a:off x="7269479" y="1709928"/>
            <a:ext cx="437357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zener_resistor">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references/zener_resistor</a:t>
            </a:r>
          </a:p>
        </p:txBody>
      </p:sp>
      <p:sp>
        <p:nvSpPr>
          <p:cNvPr id="11" name="Falstad hint"/>
          <p:cNvSpPr txBox="1"/>
          <p:nvPr/>
        </p:nvSpPr>
        <p:spPr>
          <a:xfrm>
            <a:off x="7955279" y="2093976"/>
            <a:ext cx="359633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Supply 12 → 14 V: +7 mV; add 2.2 kΩ load: −17 mV</a:t>
            </a:r>
          </a:p>
        </p:txBody>
      </p:sp>
      <p:sp>
        <p:nvSpPr>
          <p:cNvPr id="12" name="Falstad zener_current_source">
            <a:hlinkClick r:id="rId4"/>
          </p:cNvPr>
          <p:cNvSpPr/>
          <p:nvPr/>
        </p:nvSpPr>
        <p:spPr>
          <a:xfrm>
            <a:off x="7269479" y="2548128"/>
            <a:ext cx="437357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lay icon"/>
          <p:cNvSpPr/>
          <p:nvPr/>
        </p:nvSpPr>
        <p:spPr>
          <a:xfrm>
            <a:off x="7415783" y="27020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lay icon"/>
          <p:cNvSpPr/>
          <p:nvPr/>
        </p:nvSpPr>
        <p:spPr>
          <a:xfrm rot="5400000">
            <a:off x="7552944" y="28209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lstad link zener_current_source">
            <a:hlinkClick r:id="rId4"/>
          </p:cNvPr>
          <p:cNvSpPr txBox="1"/>
          <p:nvPr/>
        </p:nvSpPr>
        <p:spPr>
          <a:xfrm>
            <a:off x="7955279" y="2657856"/>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4">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4">
                  <a:extLst>
                    <a:ext uri="{A12FA001-AC4F-418D-AE19-62706E023703}">
                      <ahyp:hlinkClr xmlns:ahyp="http://schemas.microsoft.com/office/drawing/2018/hyperlinkcolor" val="tx"/>
                    </a:ext>
                  </a:extLst>
                </a:hlinkClick>
              </a:rPr>
              <a:t>references/zener_current_source</a:t>
            </a:r>
          </a:p>
        </p:txBody>
      </p:sp>
      <p:sp>
        <p:nvSpPr>
          <p:cNvPr id="16" name="Falstad hint"/>
          <p:cNvSpPr txBox="1"/>
          <p:nvPr/>
        </p:nvSpPr>
        <p:spPr>
          <a:xfrm>
            <a:off x="7955279" y="2932176"/>
            <a:ext cx="359633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Move the slider to 14 V: VzI changes by only 0.1 mV</a:t>
            </a:r>
          </a:p>
        </p:txBody>
      </p:sp>
      <p:sp>
        <p:nvSpPr>
          <p:cNvPr id="17" name="Label"/>
          <p:cNvSpPr txBox="1"/>
          <p:nvPr/>
        </p:nvSpPr>
        <p:spPr>
          <a:xfrm>
            <a:off x="7269479" y="3624072"/>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8" name="Observe"/>
          <p:cNvSpPr txBox="1"/>
          <p:nvPr/>
        </p:nvSpPr>
        <p:spPr>
          <a:xfrm>
            <a:off x="7269479" y="4035552"/>
            <a:ext cx="4373575" cy="2109215"/>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Series resistor 1.2 kΩ: 3.5 mV/V line regulation</a:t>
            </a:r>
          </a:p>
          <a:p>
            <a:pPr algn="l" marL="274320" indent="-274320">
              <a:lnSpc>
                <a:spcPct val="100000"/>
              </a:lnSpc>
              <a:spcAft>
                <a:spcPts val="1000"/>
              </a:spcAft>
              <a:buClr>
                <a:srgbClr val="00A9CE"/>
              </a:buClr>
              <a:buFont typeface="Arial"/>
              <a:buChar char="•"/>
            </a:pPr>
            <a:r>
              <a:rPr sz="1800" b="0" i="0">
                <a:solidFill>
                  <a:srgbClr val="23232B"/>
                </a:solidFill>
                <a:latin typeface="Calibri"/>
              </a:rPr>
              <a:t>Current source with r</a:t>
            </a:r>
            <a:r>
              <a:rPr sz="1800" b="0" i="0" baseline="-25000">
                <a:solidFill>
                  <a:srgbClr val="23232B"/>
                </a:solidFill>
                <a:latin typeface="Calibri"/>
              </a:rPr>
              <a:t>o</a:t>
            </a:r>
            <a:r>
              <a:rPr sz="1800" b="0" i="0">
                <a:solidFill>
                  <a:srgbClr val="23232B"/>
                </a:solidFill>
                <a:latin typeface="Calibri"/>
              </a:rPr>
              <a:t> = 100 kΩ: 70 times better</a:t>
            </a:r>
          </a:p>
          <a:p>
            <a:pPr algn="l" marL="274320" indent="-274320">
              <a:lnSpc>
                <a:spcPct val="100000"/>
              </a:lnSpc>
              <a:spcAft>
                <a:spcPts val="1000"/>
              </a:spcAft>
              <a:buClr>
                <a:srgbClr val="00A9CE"/>
              </a:buClr>
              <a:buFont typeface="Arial"/>
              <a:buChar char="•"/>
            </a:pPr>
            <a:r>
              <a:rPr sz="1800" b="0" i="0">
                <a:solidFill>
                  <a:srgbClr val="23232B"/>
                </a:solidFill>
                <a:latin typeface="Calibri"/>
              </a:rPr>
              <a:t>The load current is taken from the Zener: keep I</a:t>
            </a:r>
            <a:r>
              <a:rPr sz="1800" b="0" i="0" baseline="-25000">
                <a:solidFill>
                  <a:srgbClr val="23232B"/>
                </a:solidFill>
                <a:latin typeface="Calibri"/>
              </a:rPr>
              <a:t>Z</a:t>
            </a:r>
            <a:r>
              <a:rPr sz="1800" b="0" i="0">
                <a:solidFill>
                  <a:srgbClr val="23232B"/>
                </a:solidFill>
                <a:latin typeface="Calibri"/>
              </a:rPr>
              <a:t> ≥ I</a:t>
            </a:r>
            <a:r>
              <a:rPr sz="1800" b="0" i="0" baseline="-25000">
                <a:solidFill>
                  <a:srgbClr val="23232B"/>
                </a:solidFill>
                <a:latin typeface="Calibri"/>
              </a:rPr>
              <a:t>Z,min</a:t>
            </a:r>
          </a:p>
        </p:txBody>
      </p:sp>
      <p:pic>
        <p:nvPicPr>
          <p:cNvPr id="19" name="RWU logo" descr="rwu_logo.png"/>
          <p:cNvPicPr>
            <a:picLocks noChangeAspect="1"/>
          </p:cNvPicPr>
          <p:nvPr/>
        </p:nvPicPr>
        <p:blipFill>
          <a:blip r:embed="rId5"/>
          <a:stretch>
            <a:fillRect/>
          </a:stretch>
        </p:blipFill>
        <p:spPr>
          <a:xfrm>
            <a:off x="548640" y="6382512"/>
            <a:ext cx="826569" cy="274320"/>
          </a:xfrm>
          <a:prstGeom prst="rect">
            <a:avLst/>
          </a:prstGeom>
        </p:spPr>
      </p:pic>
      <p:sp>
        <p:nvSpPr>
          <p:cNvPr id="2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2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BANDGAP REFERENCE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The bandgap principle</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the-bandgap-principle-1.png"/>
          <p:cNvPicPr>
            <a:picLocks noChangeAspect="1"/>
          </p:cNvPicPr>
          <p:nvPr/>
        </p:nvPicPr>
        <p:blipFill>
          <a:blip r:embed="rId2"/>
          <a:stretch>
            <a:fillRect/>
          </a:stretch>
        </p:blipFill>
        <p:spPr>
          <a:xfrm>
            <a:off x="6876288" y="3181508"/>
            <a:ext cx="4565599" cy="1080198"/>
          </a:xfrm>
          <a:prstGeom prst="rect">
            <a:avLst/>
          </a:prstGeom>
        </p:spPr>
      </p:pic>
      <p:sp>
        <p:nvSpPr>
          <p:cNvPr id="6" name="Falstad delta_vbe">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delta_vbe">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references/delta_vbe</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1× vs 8× area at the same current: ΔV_BE ≈ 53.8 mV</a:t>
            </a:r>
          </a:p>
        </p:txBody>
      </p:sp>
      <p:sp>
        <p:nvSpPr>
          <p:cNvPr id="11" name="Bullets"/>
          <p:cNvSpPr txBox="1"/>
          <p:nvPr/>
        </p:nvSpPr>
        <p:spPr>
          <a:xfrm>
            <a:off x="548640" y="1298448"/>
            <a:ext cx="5806440" cy="22555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V</a:t>
            </a:r>
            <a:r>
              <a:rPr sz="2000" b="0" i="0" baseline="-25000">
                <a:solidFill>
                  <a:srgbClr val="23232B"/>
                </a:solidFill>
                <a:latin typeface="Calibri"/>
              </a:rPr>
              <a:t>BE</a:t>
            </a:r>
            <a:r>
              <a:rPr sz="2000" b="0" i="0">
                <a:solidFill>
                  <a:srgbClr val="23232B"/>
                </a:solidFill>
                <a:latin typeface="Calibri"/>
              </a:rPr>
              <a:t> falls by about 2 mV/K (CTAT)</a:t>
            </a:r>
          </a:p>
          <a:p>
            <a:pPr algn="l" marL="274320" indent="-274320">
              <a:lnSpc>
                <a:spcPct val="100000"/>
              </a:lnSpc>
              <a:spcAft>
                <a:spcPts val="1000"/>
              </a:spcAft>
              <a:buClr>
                <a:srgbClr val="00A9CE"/>
              </a:buClr>
              <a:buFont typeface="Arial"/>
              <a:buChar char="•"/>
            </a:pPr>
            <a:r>
              <a:rPr sz="2000" b="0" i="0">
                <a:solidFill>
                  <a:srgbClr val="23232B"/>
                </a:solidFill>
                <a:latin typeface="Calibri"/>
              </a:rPr>
              <a:t>ΔV</a:t>
            </a:r>
            <a:r>
              <a:rPr sz="2000" b="0" i="0" baseline="-25000">
                <a:solidFill>
                  <a:srgbClr val="23232B"/>
                </a:solidFill>
                <a:latin typeface="Calibri"/>
              </a:rPr>
              <a:t>BE</a:t>
            </a:r>
            <a:r>
              <a:rPr sz="2000" b="0" i="0">
                <a:solidFill>
                  <a:srgbClr val="23232B"/>
                </a:solidFill>
                <a:latin typeface="Calibri"/>
              </a:rPr>
              <a:t> of two current densities rises with T (PTAT): V</a:t>
            </a:r>
            <a:r>
              <a:rPr sz="2000" b="0" i="0" baseline="-25000">
                <a:solidFill>
                  <a:srgbClr val="23232B"/>
                </a:solidFill>
                <a:latin typeface="Calibri"/>
              </a:rPr>
              <a:t>T</a:t>
            </a:r>
            <a:r>
              <a:rPr sz="2000" b="0" i="0">
                <a:solidFill>
                  <a:srgbClr val="23232B"/>
                </a:solidFill>
                <a:latin typeface="Calibri"/>
              </a:rPr>
              <a:t>·ln N</a:t>
            </a:r>
          </a:p>
          <a:p>
            <a:pPr algn="l" marL="274320" indent="-274320">
              <a:lnSpc>
                <a:spcPct val="100000"/>
              </a:lnSpc>
              <a:spcAft>
                <a:spcPts val="1000"/>
              </a:spcAft>
              <a:buClr>
                <a:srgbClr val="00A9CE"/>
              </a:buClr>
              <a:buFont typeface="Arial"/>
              <a:buChar char="•"/>
            </a:pPr>
            <a:r>
              <a:rPr sz="2000" b="0" i="0">
                <a:solidFill>
                  <a:srgbClr val="23232B"/>
                </a:solidFill>
                <a:latin typeface="Calibri"/>
              </a:rPr>
              <a:t>Sum V</a:t>
            </a:r>
            <a:r>
              <a:rPr sz="2000" b="0" i="0" baseline="-25000">
                <a:solidFill>
                  <a:srgbClr val="23232B"/>
                </a:solidFill>
                <a:latin typeface="Calibri"/>
              </a:rPr>
              <a:t>BE</a:t>
            </a:r>
            <a:r>
              <a:rPr sz="2000" b="0" i="0">
                <a:solidFill>
                  <a:srgbClr val="23232B"/>
                </a:solidFill>
                <a:latin typeface="Calibri"/>
              </a:rPr>
              <a:t> + K·ΔV</a:t>
            </a:r>
            <a:r>
              <a:rPr sz="2000" b="0" i="0" baseline="-25000">
                <a:solidFill>
                  <a:srgbClr val="23232B"/>
                </a:solidFill>
                <a:latin typeface="Calibri"/>
              </a:rPr>
              <a:t>BE</a:t>
            </a:r>
            <a:r>
              <a:rPr sz="2000" b="0" i="0">
                <a:solidFill>
                  <a:srgbClr val="23232B"/>
                </a:solidFill>
                <a:latin typeface="Calibri"/>
              </a:rPr>
              <a:t> ≈ 1.25 V is flat at room temperature</a:t>
            </a:r>
          </a:p>
          <a:p>
            <a:pPr algn="l" marL="274320" indent="-274320">
              <a:lnSpc>
                <a:spcPct val="100000"/>
              </a:lnSpc>
              <a:spcAft>
                <a:spcPts val="1000"/>
              </a:spcAft>
              <a:buClr>
                <a:srgbClr val="00A9CE"/>
              </a:buClr>
              <a:buFont typeface="Arial"/>
              <a:buChar char="•"/>
            </a:pPr>
            <a:r>
              <a:rPr sz="2000" b="0" i="0">
                <a:solidFill>
                  <a:srgbClr val="23232B"/>
                </a:solidFill>
                <a:latin typeface="Calibri"/>
              </a:rPr>
              <a:t>Rule of thumb: about 60 mV per decade of current ratio</a:t>
            </a:r>
          </a:p>
        </p:txBody>
      </p:sp>
      <p:sp>
        <p:nvSpPr>
          <p:cNvPr id="12" name="Key rule"/>
          <p:cNvSpPr/>
          <p:nvPr/>
        </p:nvSpPr>
        <p:spPr>
          <a:xfrm>
            <a:off x="548640" y="38740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39837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2580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BG</a:t>
            </a:r>
            <a:r>
              <a:rPr sz="1700" b="1" i="0">
                <a:solidFill>
                  <a:srgbClr val="4E2A8C"/>
                </a:solidFill>
                <a:latin typeface="Calibri"/>
              </a:rPr>
              <a:t> = V</a:t>
            </a:r>
            <a:r>
              <a:rPr sz="1700" b="1" i="0" baseline="-25000">
                <a:solidFill>
                  <a:srgbClr val="4E2A8C"/>
                </a:solidFill>
                <a:latin typeface="Calibri"/>
              </a:rPr>
              <a:t>BE</a:t>
            </a:r>
            <a:r>
              <a:rPr sz="1700" b="1" i="0">
                <a:solidFill>
                  <a:srgbClr val="4E2A8C"/>
                </a:solidFill>
                <a:latin typeface="Calibri"/>
              </a:rPr>
              <a:t> + K·V</a:t>
            </a:r>
            <a:r>
              <a:rPr sz="1700" b="1" i="0" baseline="-25000">
                <a:solidFill>
                  <a:srgbClr val="4E2A8C"/>
                </a:solidFill>
                <a:latin typeface="Calibri"/>
              </a:rPr>
              <a:t>T</a:t>
            </a:r>
            <a:r>
              <a:rPr sz="1700" b="1" i="0">
                <a:solidFill>
                  <a:srgbClr val="4E2A8C"/>
                </a:solidFill>
                <a:latin typeface="Calibri"/>
              </a:rPr>
              <a:t>·ln N ≈ 1.25 V</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BANDGAP REFERENCE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Brokaw bandgap cell</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the-brokaw-cell-1.png"/>
          <p:cNvPicPr>
            <a:picLocks noChangeAspect="1"/>
          </p:cNvPicPr>
          <p:nvPr/>
        </p:nvPicPr>
        <p:blipFill>
          <a:blip r:embed="rId2"/>
          <a:stretch>
            <a:fillRect/>
          </a:stretch>
        </p:blipFill>
        <p:spPr>
          <a:xfrm>
            <a:off x="822513" y="1499616"/>
            <a:ext cx="5853052" cy="4443983"/>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brokaw_cell">
            <a:hlinkClick r:id="rId3"/>
          </p:cNvPr>
          <p:cNvSpPr/>
          <p:nvPr/>
        </p:nvSpPr>
        <p:spPr>
          <a:xfrm>
            <a:off x="7269479" y="1709928"/>
            <a:ext cx="4373575" cy="908304"/>
          </a:xfrm>
          <a:prstGeom prst="roundRect">
            <a:avLst>
              <a:gd name="adj" fmla="val 1208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96291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208178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brokaw_cell">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references/brokaw_cell</a:t>
            </a:r>
          </a:p>
        </p:txBody>
      </p:sp>
      <p:sp>
        <p:nvSpPr>
          <p:cNvPr id="11" name="Falstad hint"/>
          <p:cNvSpPr txBox="1"/>
          <p:nvPr/>
        </p:nvSpPr>
        <p:spPr>
          <a:xfrm>
            <a:off x="7955279" y="2093976"/>
            <a:ext cx="3596335" cy="41452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Check equal collectors (4.47 V) and 53.8 mV across R2</a:t>
            </a:r>
          </a:p>
        </p:txBody>
      </p:sp>
      <p:sp>
        <p:nvSpPr>
          <p:cNvPr id="12" name="Label"/>
          <p:cNvSpPr txBox="1"/>
          <p:nvPr/>
        </p:nvSpPr>
        <p:spPr>
          <a:xfrm>
            <a:off x="7269479" y="2983991"/>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395471"/>
            <a:ext cx="4373575" cy="274929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Op-amp forces equal collector currents; ΔV</a:t>
            </a:r>
            <a:r>
              <a:rPr sz="1800" b="0" i="0" baseline="-25000">
                <a:solidFill>
                  <a:srgbClr val="23232B"/>
                </a:solidFill>
                <a:latin typeface="Calibri"/>
              </a:rPr>
              <a:t>BE</a:t>
            </a:r>
            <a:r>
              <a:rPr sz="1800" b="0" i="0">
                <a:solidFill>
                  <a:srgbClr val="23232B"/>
                </a:solidFill>
                <a:latin typeface="Calibri"/>
              </a:rPr>
              <a:t> appears across R</a:t>
            </a:r>
            <a:r>
              <a:rPr sz="1800" b="0" i="0" baseline="-25000">
                <a:solidFill>
                  <a:srgbClr val="23232B"/>
                </a:solidFill>
                <a:latin typeface="Calibri"/>
              </a:rPr>
              <a:t>2</a:t>
            </a:r>
          </a:p>
          <a:p>
            <a:pPr algn="l" marL="274320" indent="-274320">
              <a:lnSpc>
                <a:spcPct val="100000"/>
              </a:lnSpc>
              <a:spcAft>
                <a:spcPts val="1000"/>
              </a:spcAft>
              <a:buClr>
                <a:srgbClr val="00A9CE"/>
              </a:buClr>
              <a:buFont typeface="Arial"/>
              <a:buChar char="•"/>
            </a:pPr>
            <a:r>
              <a:rPr sz="1800" b="0" i="0">
                <a:solidFill>
                  <a:srgbClr val="23232B"/>
                </a:solidFill>
                <a:latin typeface="Calibri"/>
              </a:rPr>
              <a:t>R</a:t>
            </a:r>
            <a:r>
              <a:rPr sz="1800" b="0" i="0" baseline="-25000">
                <a:solidFill>
                  <a:srgbClr val="23232B"/>
                </a:solidFill>
                <a:latin typeface="Calibri"/>
              </a:rPr>
              <a:t>1</a:t>
            </a:r>
            <a:r>
              <a:rPr sz="1800" b="0" i="0">
                <a:solidFill>
                  <a:srgbClr val="23232B"/>
                </a:solidFill>
                <a:latin typeface="Calibri"/>
              </a:rPr>
              <a:t> carries both currents: V</a:t>
            </a:r>
            <a:r>
              <a:rPr sz="1800" b="0" i="0" baseline="-25000">
                <a:solidFill>
                  <a:srgbClr val="23232B"/>
                </a:solidFill>
                <a:latin typeface="Calibri"/>
              </a:rPr>
              <a:t>E</a:t>
            </a:r>
            <a:r>
              <a:rPr sz="1800" b="0" i="0">
                <a:solidFill>
                  <a:srgbClr val="23232B"/>
                </a:solidFill>
                <a:latin typeface="Calibri"/>
              </a:rPr>
              <a:t> = 2·(R</a:t>
            </a:r>
            <a:r>
              <a:rPr sz="1800" b="0" i="0" baseline="-25000">
                <a:solidFill>
                  <a:srgbClr val="23232B"/>
                </a:solidFill>
                <a:latin typeface="Calibri"/>
              </a:rPr>
              <a:t>1</a:t>
            </a:r>
            <a:r>
              <a:rPr sz="1800" b="0" i="0">
                <a:solidFill>
                  <a:srgbClr val="23232B"/>
                </a:solidFill>
                <a:latin typeface="Calibri"/>
              </a:rPr>
              <a:t>/R</a:t>
            </a:r>
            <a:r>
              <a:rPr sz="1800" b="0" i="0" baseline="-25000">
                <a:solidFill>
                  <a:srgbClr val="23232B"/>
                </a:solidFill>
                <a:latin typeface="Calibri"/>
              </a:rPr>
              <a:t>2</a:t>
            </a:r>
            <a:r>
              <a:rPr sz="1800" b="0" i="0">
                <a:solidFill>
                  <a:srgbClr val="23232B"/>
                </a:solidFill>
                <a:latin typeface="Calibri"/>
              </a:rPr>
              <a:t>)·V</a:t>
            </a:r>
            <a:r>
              <a:rPr sz="1800" b="0" i="0" baseline="-25000">
                <a:solidFill>
                  <a:srgbClr val="23232B"/>
                </a:solidFill>
                <a:latin typeface="Calibri"/>
              </a:rPr>
              <a:t>T</a:t>
            </a:r>
            <a:r>
              <a:rPr sz="1800" b="0" i="0">
                <a:solidFill>
                  <a:srgbClr val="23232B"/>
                </a:solidFill>
                <a:latin typeface="Calibri"/>
              </a:rPr>
              <a:t>·ln 8</a:t>
            </a:r>
          </a:p>
          <a:p>
            <a:pPr algn="l" marL="274320" indent="-274320">
              <a:lnSpc>
                <a:spcPct val="100000"/>
              </a:lnSpc>
              <a:spcAft>
                <a:spcPts val="1000"/>
              </a:spcAft>
              <a:buClr>
                <a:srgbClr val="00A9CE"/>
              </a:buClr>
              <a:buFont typeface="Arial"/>
              <a:buChar char="•"/>
            </a:pPr>
            <a:r>
              <a:rPr sz="1800" b="0" i="0">
                <a:solidFill>
                  <a:srgbClr val="23232B"/>
                </a:solidFill>
                <a:latin typeface="Calibri"/>
              </a:rPr>
              <a:t>V</a:t>
            </a:r>
            <a:r>
              <a:rPr sz="1800" b="0" i="0" baseline="-25000">
                <a:solidFill>
                  <a:srgbClr val="23232B"/>
                </a:solidFill>
                <a:latin typeface="Calibri"/>
              </a:rPr>
              <a:t>BG</a:t>
            </a:r>
            <a:r>
              <a:rPr sz="1800" b="0" i="0">
                <a:solidFill>
                  <a:srgbClr val="23232B"/>
                </a:solidFill>
                <a:latin typeface="Calibri"/>
              </a:rPr>
              <a:t> = V</a:t>
            </a:r>
            <a:r>
              <a:rPr sz="1800" b="0" i="0" baseline="-25000">
                <a:solidFill>
                  <a:srgbClr val="23232B"/>
                </a:solidFill>
                <a:latin typeface="Calibri"/>
              </a:rPr>
              <a:t>BE2</a:t>
            </a:r>
            <a:r>
              <a:rPr sz="1800" b="0" i="0">
                <a:solidFill>
                  <a:srgbClr val="23232B"/>
                </a:solidFill>
                <a:latin typeface="Calibri"/>
              </a:rPr>
              <a:t> + V</a:t>
            </a:r>
            <a:r>
              <a:rPr sz="1800" b="0" i="0" baseline="-25000">
                <a:solidFill>
                  <a:srgbClr val="23232B"/>
                </a:solidFill>
                <a:latin typeface="Calibri"/>
              </a:rPr>
              <a:t>E</a:t>
            </a:r>
            <a:r>
              <a:rPr sz="1800" b="0" i="0">
                <a:solidFill>
                  <a:srgbClr val="23232B"/>
                </a:solidFill>
                <a:latin typeface="Calibri"/>
              </a:rPr>
              <a:t> = 0.520 V + 0.602 V = 1.122 V</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SHUNT AND SERIES REFERENCES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Adjustable shunt reference TL431</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the-adjustable-shunt-reference-tl431-1.png"/>
          <p:cNvPicPr>
            <a:picLocks noChangeAspect="1"/>
          </p:cNvPicPr>
          <p:nvPr/>
        </p:nvPicPr>
        <p:blipFill>
          <a:blip r:embed="rId2"/>
          <a:stretch>
            <a:fillRect/>
          </a:stretch>
        </p:blipFill>
        <p:spPr>
          <a:xfrm>
            <a:off x="6876288" y="2373307"/>
            <a:ext cx="4565599" cy="2696600"/>
          </a:xfrm>
          <a:prstGeom prst="rect">
            <a:avLst/>
          </a:prstGeom>
        </p:spPr>
      </p:pic>
      <p:sp>
        <p:nvSpPr>
          <p:cNvPr id="6" name="Falstad shunt_ref">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shunt_ref">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references/shunt_ref</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Supply 6 V or 12 V: cathode stays at 4.00 V, REF at 2.50 V</a:t>
            </a:r>
          </a:p>
        </p:txBody>
      </p:sp>
      <p:sp>
        <p:nvSpPr>
          <p:cNvPr id="11" name="Bullets"/>
          <p:cNvSpPr txBox="1"/>
          <p:nvPr/>
        </p:nvSpPr>
        <p:spPr>
          <a:xfrm>
            <a:off x="548640" y="1298448"/>
            <a:ext cx="5806440" cy="22555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Error amplifier compares REF with an internal 2.5 V bandgap</a:t>
            </a:r>
          </a:p>
          <a:p>
            <a:pPr algn="l" marL="274320" indent="-274320">
              <a:lnSpc>
                <a:spcPct val="100000"/>
              </a:lnSpc>
              <a:spcAft>
                <a:spcPts val="1000"/>
              </a:spcAft>
              <a:buClr>
                <a:srgbClr val="00A9CE"/>
              </a:buClr>
              <a:buFont typeface="Arial"/>
              <a:buChar char="•"/>
            </a:pPr>
            <a:r>
              <a:rPr sz="2000" b="0" i="0">
                <a:solidFill>
                  <a:srgbClr val="23232B"/>
                </a:solidFill>
                <a:latin typeface="Calibri"/>
              </a:rPr>
              <a:t>Shunt conducts until V</a:t>
            </a:r>
            <a:r>
              <a:rPr sz="2000" b="0" i="0" baseline="-25000">
                <a:solidFill>
                  <a:srgbClr val="23232B"/>
                </a:solidFill>
                <a:latin typeface="Calibri"/>
              </a:rPr>
              <a:t>REF</a:t>
            </a:r>
            <a:r>
              <a:rPr sz="2000" b="0" i="0">
                <a:solidFill>
                  <a:srgbClr val="23232B"/>
                </a:solidFill>
                <a:latin typeface="Calibri"/>
              </a:rPr>
              <a:t> = 2.495 V; cathode current 1–100 mA</a:t>
            </a:r>
          </a:p>
          <a:p>
            <a:pPr algn="l" marL="274320" indent="-274320">
              <a:lnSpc>
                <a:spcPct val="100000"/>
              </a:lnSpc>
              <a:spcAft>
                <a:spcPts val="1000"/>
              </a:spcAft>
              <a:buClr>
                <a:srgbClr val="00A9CE"/>
              </a:buClr>
              <a:buFont typeface="Arial"/>
              <a:buChar char="•"/>
            </a:pPr>
            <a:r>
              <a:rPr sz="2000" b="0" i="0">
                <a:solidFill>
                  <a:srgbClr val="23232B"/>
                </a:solidFill>
                <a:latin typeface="Calibri"/>
              </a:rPr>
              <a:t>Capstone: R</a:t>
            </a:r>
            <a:r>
              <a:rPr sz="2000" b="0" i="0" baseline="-25000">
                <a:solidFill>
                  <a:srgbClr val="23232B"/>
                </a:solidFill>
                <a:latin typeface="Calibri"/>
              </a:rPr>
              <a:t>1</a:t>
            </a:r>
            <a:r>
              <a:rPr sz="2000" b="0" i="0">
                <a:solidFill>
                  <a:srgbClr val="23232B"/>
                </a:solidFill>
                <a:latin typeface="Calibri"/>
              </a:rPr>
              <a:t> = 12 kΩ, R</a:t>
            </a:r>
            <a:r>
              <a:rPr sz="2000" b="0" i="0" baseline="-25000">
                <a:solidFill>
                  <a:srgbClr val="23232B"/>
                </a:solidFill>
                <a:latin typeface="Calibri"/>
              </a:rPr>
              <a:t>2</a:t>
            </a:r>
            <a:r>
              <a:rPr sz="2000" b="0" i="0">
                <a:solidFill>
                  <a:srgbClr val="23232B"/>
                </a:solidFill>
                <a:latin typeface="Calibri"/>
              </a:rPr>
              <a:t> = 20 kΩ → 2.5 V·1.6 = 4.00 V</a:t>
            </a:r>
          </a:p>
          <a:p>
            <a:pPr algn="l" marL="274320" indent="-274320">
              <a:lnSpc>
                <a:spcPct val="100000"/>
              </a:lnSpc>
              <a:spcAft>
                <a:spcPts val="1000"/>
              </a:spcAft>
              <a:buClr>
                <a:srgbClr val="00A9CE"/>
              </a:buClr>
              <a:buFont typeface="Arial"/>
              <a:buChar char="•"/>
            </a:pPr>
            <a:r>
              <a:rPr sz="2000" b="0" i="0">
                <a:solidFill>
                  <a:srgbClr val="23232B"/>
                </a:solidFill>
                <a:latin typeface="Calibri"/>
              </a:rPr>
              <a:t>I</a:t>
            </a:r>
            <a:r>
              <a:rPr sz="2000" b="0" i="0" baseline="-25000">
                <a:solidFill>
                  <a:srgbClr val="23232B"/>
                </a:solidFill>
                <a:latin typeface="Calibri"/>
              </a:rPr>
              <a:t>REF</a:t>
            </a:r>
            <a:r>
              <a:rPr sz="2000" b="0" i="0">
                <a:solidFill>
                  <a:srgbClr val="23232B"/>
                </a:solidFill>
                <a:latin typeface="Calibri"/>
              </a:rPr>
              <a:t>·R</a:t>
            </a:r>
            <a:r>
              <a:rPr sz="2000" b="0" i="0" baseline="-25000">
                <a:solidFill>
                  <a:srgbClr val="23232B"/>
                </a:solidFill>
                <a:latin typeface="Calibri"/>
              </a:rPr>
              <a:t>1</a:t>
            </a:r>
            <a:r>
              <a:rPr sz="2000" b="0" i="0">
                <a:solidFill>
                  <a:srgbClr val="23232B"/>
                </a:solidFill>
                <a:latin typeface="Calibri"/>
              </a:rPr>
              <a:t> adds about 24 mV: use smaller resistors or trim</a:t>
            </a:r>
          </a:p>
        </p:txBody>
      </p:sp>
      <p:sp>
        <p:nvSpPr>
          <p:cNvPr id="12" name="Key rule"/>
          <p:cNvSpPr/>
          <p:nvPr/>
        </p:nvSpPr>
        <p:spPr>
          <a:xfrm>
            <a:off x="548640" y="38740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39837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2580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out</a:t>
            </a:r>
            <a:r>
              <a:rPr sz="1700" b="1" i="0">
                <a:solidFill>
                  <a:srgbClr val="4E2A8C"/>
                </a:solidFill>
                <a:latin typeface="Calibri"/>
              </a:rPr>
              <a:t> = V</a:t>
            </a:r>
            <a:r>
              <a:rPr sz="1700" b="1" i="0" baseline="-25000">
                <a:solidFill>
                  <a:srgbClr val="4E2A8C"/>
                </a:solidFill>
                <a:latin typeface="Calibri"/>
              </a:rPr>
              <a:t>REF</a:t>
            </a:r>
            <a:r>
              <a:rPr sz="1700" b="1" i="0">
                <a:solidFill>
                  <a:srgbClr val="4E2A8C"/>
                </a:solidFill>
                <a:latin typeface="Calibri"/>
              </a:rPr>
              <a:t>·(1 + R</a:t>
            </a:r>
            <a:r>
              <a:rPr sz="1700" b="1" i="0" baseline="-25000">
                <a:solidFill>
                  <a:srgbClr val="4E2A8C"/>
                </a:solidFill>
                <a:latin typeface="Calibri"/>
              </a:rPr>
              <a:t>1</a:t>
            </a:r>
            <a:r>
              <a:rPr sz="1700" b="1" i="0">
                <a:solidFill>
                  <a:srgbClr val="4E2A8C"/>
                </a:solidFill>
                <a:latin typeface="Calibri"/>
              </a:rPr>
              <a:t>/R</a:t>
            </a:r>
            <a:r>
              <a:rPr sz="1700" b="1" i="0" baseline="-25000">
                <a:solidFill>
                  <a:srgbClr val="4E2A8C"/>
                </a:solidFill>
                <a:latin typeface="Calibri"/>
              </a:rPr>
              <a:t>2</a:t>
            </a:r>
            <a:r>
              <a:rPr sz="1700" b="1" i="0">
                <a:solidFill>
                  <a:srgbClr val="4E2A8C"/>
                </a:solidFill>
                <a:latin typeface="Calibri"/>
              </a:rPr>
              <a:t>) + I</a:t>
            </a:r>
            <a:r>
              <a:rPr sz="1700" b="1" i="0" baseline="-25000">
                <a:solidFill>
                  <a:srgbClr val="4E2A8C"/>
                </a:solidFill>
                <a:latin typeface="Calibri"/>
              </a:rPr>
              <a:t>REF</a:t>
            </a:r>
            <a:r>
              <a:rPr sz="1700" b="1" i="0">
                <a:solidFill>
                  <a:srgbClr val="4E2A8C"/>
                </a:solidFill>
                <a:latin typeface="Calibri"/>
              </a:rPr>
              <a:t>·R</a:t>
            </a:r>
            <a:r>
              <a:rPr sz="1700" b="1" i="0" baseline="-25000">
                <a:solidFill>
                  <a:srgbClr val="4E2A8C"/>
                </a:solidFill>
                <a:latin typeface="Calibri"/>
              </a:rPr>
              <a:t>1</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SHUNT AND SERIES REFERENCES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Shunt or series reference?</a:t>
            </a:r>
          </a:p>
        </p:txBody>
      </p:sp>
      <p:sp>
        <p:nvSpPr>
          <p:cNvPr id="4" name="Compare card"/>
          <p:cNvSpPr/>
          <p:nvPr/>
        </p:nvSpPr>
        <p:spPr>
          <a:xfrm>
            <a:off x="548640" y="1298448"/>
            <a:ext cx="5364327" cy="2402840"/>
          </a:xfrm>
          <a:prstGeom prst="roundRect">
            <a:avLst>
              <a:gd name="adj" fmla="val 5327"/>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868680"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6638B6"/>
                </a:solidFill>
                <a:latin typeface="Calibri"/>
              </a:rPr>
              <a:t>Shunt (TL431, LM4040)</a:t>
            </a:r>
          </a:p>
        </p:txBody>
      </p:sp>
      <p:sp>
        <p:nvSpPr>
          <p:cNvPr id="6" name="Card bullets"/>
          <p:cNvSpPr txBox="1"/>
          <p:nvPr/>
        </p:nvSpPr>
        <p:spPr>
          <a:xfrm>
            <a:off x="868680" y="2167128"/>
            <a:ext cx="4724247" cy="13512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Two terminals, any supply above V</a:t>
            </a:r>
            <a:r>
              <a:rPr sz="2000" b="0" i="0" baseline="-25000">
                <a:solidFill>
                  <a:srgbClr val="23232B"/>
                </a:solidFill>
                <a:latin typeface="Calibri"/>
              </a:rPr>
              <a:t>out</a:t>
            </a:r>
          </a:p>
          <a:p>
            <a:pPr algn="l" marL="274320" indent="-274320">
              <a:lnSpc>
                <a:spcPct val="100000"/>
              </a:lnSpc>
              <a:spcAft>
                <a:spcPts val="1000"/>
              </a:spcAft>
              <a:buClr>
                <a:srgbClr val="00A9CE"/>
              </a:buClr>
              <a:buFont typeface="Arial"/>
              <a:buChar char="•"/>
            </a:pPr>
            <a:r>
              <a:rPr sz="2000" b="0" i="0">
                <a:solidFill>
                  <a:srgbClr val="23232B"/>
                </a:solidFill>
                <a:latin typeface="Calibri"/>
              </a:rPr>
              <a:t>Can serve as negative reference</a:t>
            </a:r>
          </a:p>
          <a:p>
            <a:pPr algn="l" marL="274320" indent="-274320">
              <a:lnSpc>
                <a:spcPct val="100000"/>
              </a:lnSpc>
              <a:spcAft>
                <a:spcPts val="1000"/>
              </a:spcAft>
              <a:buClr>
                <a:srgbClr val="00A9CE"/>
              </a:buClr>
              <a:buFont typeface="Arial"/>
              <a:buChar char="•"/>
            </a:pPr>
            <a:r>
              <a:rPr sz="2000" b="0" i="0">
                <a:solidFill>
                  <a:srgbClr val="23232B"/>
                </a:solidFill>
                <a:latin typeface="Calibri"/>
              </a:rPr>
              <a:t>R</a:t>
            </a:r>
            <a:r>
              <a:rPr sz="2000" b="0" i="0" baseline="-25000">
                <a:solidFill>
                  <a:srgbClr val="23232B"/>
                </a:solidFill>
                <a:latin typeface="Calibri"/>
              </a:rPr>
              <a:t>V</a:t>
            </a:r>
            <a:r>
              <a:rPr sz="2000" b="0" i="0">
                <a:solidFill>
                  <a:srgbClr val="23232B"/>
                </a:solidFill>
                <a:latin typeface="Calibri"/>
              </a:rPr>
              <a:t> wastes I</a:t>
            </a:r>
            <a:r>
              <a:rPr sz="2000" b="0" i="0" baseline="-25000">
                <a:solidFill>
                  <a:srgbClr val="23232B"/>
                </a:solidFill>
                <a:latin typeface="Calibri"/>
              </a:rPr>
              <a:t>min</a:t>
            </a:r>
            <a:r>
              <a:rPr sz="2000" b="0" i="0">
                <a:solidFill>
                  <a:srgbClr val="23232B"/>
                </a:solidFill>
                <a:latin typeface="Calibri"/>
              </a:rPr>
              <a:t> + I</a:t>
            </a:r>
            <a:r>
              <a:rPr sz="2000" b="0" i="0" baseline="-25000">
                <a:solidFill>
                  <a:srgbClr val="23232B"/>
                </a:solidFill>
                <a:latin typeface="Calibri"/>
              </a:rPr>
              <a:t>L,max</a:t>
            </a:r>
            <a:r>
              <a:rPr sz="2000" b="0" i="0">
                <a:solidFill>
                  <a:srgbClr val="23232B"/>
                </a:solidFill>
                <a:latin typeface="Calibri"/>
              </a:rPr>
              <a:t> all the time</a:t>
            </a:r>
          </a:p>
        </p:txBody>
      </p:sp>
      <p:sp>
        <p:nvSpPr>
          <p:cNvPr id="7" name="Compare card"/>
          <p:cNvSpPr/>
          <p:nvPr/>
        </p:nvSpPr>
        <p:spPr>
          <a:xfrm>
            <a:off x="6278727" y="1298448"/>
            <a:ext cx="5364327" cy="2402840"/>
          </a:xfrm>
          <a:prstGeom prst="roundRect">
            <a:avLst>
              <a:gd name="adj" fmla="val 5327"/>
            </a:avLst>
          </a:prstGeom>
          <a:solidFill>
            <a:srgbClr val="E5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6598767"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007F9B"/>
                </a:solidFill>
                <a:latin typeface="Calibri"/>
              </a:rPr>
              <a:t>Series (REF50xx, ADR4xx)</a:t>
            </a:r>
          </a:p>
        </p:txBody>
      </p:sp>
      <p:sp>
        <p:nvSpPr>
          <p:cNvPr id="9" name="Card bullets"/>
          <p:cNvSpPr txBox="1"/>
          <p:nvPr/>
        </p:nvSpPr>
        <p:spPr>
          <a:xfrm>
            <a:off x="6598767" y="2167128"/>
            <a:ext cx="4724247" cy="13512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Three terminals, 0.1–1 mA quiescent</a:t>
            </a:r>
          </a:p>
          <a:p>
            <a:pPr algn="l" marL="274320" indent="-274320">
              <a:lnSpc>
                <a:spcPct val="100000"/>
              </a:lnSpc>
              <a:spcAft>
                <a:spcPts val="1000"/>
              </a:spcAft>
              <a:buClr>
                <a:srgbClr val="00A9CE"/>
              </a:buClr>
              <a:buFont typeface="Arial"/>
              <a:buChar char="•"/>
            </a:pPr>
            <a:r>
              <a:rPr sz="2000" b="0" i="0">
                <a:solidFill>
                  <a:srgbClr val="23232B"/>
                </a:solidFill>
                <a:latin typeface="Calibri"/>
              </a:rPr>
              <a:t>Better for varying loads and batteries</a:t>
            </a:r>
          </a:p>
          <a:p>
            <a:pPr algn="l" marL="274320" indent="-274320">
              <a:lnSpc>
                <a:spcPct val="100000"/>
              </a:lnSpc>
              <a:spcAft>
                <a:spcPts val="1000"/>
              </a:spcAft>
              <a:buClr>
                <a:srgbClr val="00A9CE"/>
              </a:buClr>
              <a:buFont typeface="Arial"/>
              <a:buChar char="•"/>
            </a:pPr>
            <a:r>
              <a:rPr sz="2000" b="0" i="0">
                <a:solidFill>
                  <a:srgbClr val="23232B"/>
                </a:solidFill>
                <a:latin typeface="Calibri"/>
              </a:rPr>
              <a:t>Needs V</a:t>
            </a:r>
            <a:r>
              <a:rPr sz="2000" b="0" i="0" baseline="-25000">
                <a:solidFill>
                  <a:srgbClr val="23232B"/>
                </a:solidFill>
                <a:latin typeface="Calibri"/>
              </a:rPr>
              <a:t>in</a:t>
            </a:r>
            <a:r>
              <a:rPr sz="2000" b="0" i="0">
                <a:solidFill>
                  <a:srgbClr val="23232B"/>
                </a:solidFill>
                <a:latin typeface="Calibri"/>
              </a:rPr>
              <a:t> &gt; V</a:t>
            </a:r>
            <a:r>
              <a:rPr sz="2000" b="0" i="0" baseline="-25000">
                <a:solidFill>
                  <a:srgbClr val="23232B"/>
                </a:solidFill>
                <a:latin typeface="Calibri"/>
              </a:rPr>
              <a:t>out</a:t>
            </a:r>
            <a:r>
              <a:rPr sz="2000" b="0" i="0">
                <a:solidFill>
                  <a:srgbClr val="23232B"/>
                </a:solidFill>
                <a:latin typeface="Calibri"/>
              </a:rPr>
              <a:t> + V</a:t>
            </a:r>
            <a:r>
              <a:rPr sz="2000" b="0" i="0" baseline="-25000">
                <a:solidFill>
                  <a:srgbClr val="23232B"/>
                </a:solidFill>
                <a:latin typeface="Calibri"/>
              </a:rPr>
              <a:t>dropout</a:t>
            </a:r>
          </a:p>
        </p:txBody>
      </p:sp>
      <p:pic>
        <p:nvPicPr>
          <p:cNvPr id="10"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BUFFERING AND SCALING A REFERENCE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a divider is no reference</a:t>
            </a:r>
          </a:p>
        </p:txBody>
      </p:sp>
      <p:sp>
        <p:nvSpPr>
          <p:cNvPr id="4" name="Label"/>
          <p:cNvSpPr txBox="1"/>
          <p:nvPr/>
        </p:nvSpPr>
        <p:spPr>
          <a:xfrm>
            <a:off x="548640" y="1298448"/>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5" name="Falstad ref_divider_loaded">
            <a:hlinkClick r:id="rId2"/>
          </p:cNvPr>
          <p:cNvSpPr/>
          <p:nvPr/>
        </p:nvSpPr>
        <p:spPr>
          <a:xfrm>
            <a:off x="548640" y="17099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a:off x="694944"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rot="5400000">
            <a:off x="832103"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lstad link ref_divider_loaded">
            <a:hlinkClick r:id="rId2"/>
          </p:cNvPr>
          <p:cNvSpPr txBox="1"/>
          <p:nvPr/>
        </p:nvSpPr>
        <p:spPr>
          <a:xfrm>
            <a:off x="1234440" y="1819655"/>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references/ref_divider_loaded</a:t>
            </a:r>
          </a:p>
        </p:txBody>
      </p:sp>
      <p:sp>
        <p:nvSpPr>
          <p:cNvPr id="9" name="Falstad hint"/>
          <p:cNvSpPr txBox="1"/>
          <p:nvPr/>
        </p:nvSpPr>
        <p:spPr>
          <a:xfrm>
            <a:off x="1234440" y="20939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10k/40k at 5 V: 4.00 V open, 2.00 V with the 8 kΩ ladder</a:t>
            </a:r>
          </a:p>
        </p:txBody>
      </p:sp>
      <p:sp>
        <p:nvSpPr>
          <p:cNvPr id="10" name="Falstad ref_buffer_ladder">
            <a:hlinkClick r:id="rId3"/>
          </p:cNvPr>
          <p:cNvSpPr/>
          <p:nvPr/>
        </p:nvSpPr>
        <p:spPr>
          <a:xfrm>
            <a:off x="548640" y="25481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lay icon"/>
          <p:cNvSpPr/>
          <p:nvPr/>
        </p:nvSpPr>
        <p:spPr>
          <a:xfrm>
            <a:off x="694944" y="27020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ay icon"/>
          <p:cNvSpPr/>
          <p:nvPr/>
        </p:nvSpPr>
        <p:spPr>
          <a:xfrm rot="5400000">
            <a:off x="832103" y="28209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alstad link ref_buffer_ladder">
            <a:hlinkClick r:id="rId3"/>
          </p:cNvPr>
          <p:cNvSpPr txBox="1"/>
          <p:nvPr/>
        </p:nvSpPr>
        <p:spPr>
          <a:xfrm>
            <a:off x="1234440" y="2657856"/>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references/ref_buffer_ladder</a:t>
            </a:r>
          </a:p>
        </p:txBody>
      </p:sp>
      <p:sp>
        <p:nvSpPr>
          <p:cNvPr id="14" name="Falstad hint"/>
          <p:cNvSpPr txBox="1"/>
          <p:nvPr/>
        </p:nvSpPr>
        <p:spPr>
          <a:xfrm>
            <a:off x="1234440" y="29321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2.5 V × 1.6 = 4.00 V at the ladder top, taps every 0.5 V</a:t>
            </a:r>
          </a:p>
        </p:txBody>
      </p:sp>
      <p:sp>
        <p:nvSpPr>
          <p:cNvPr id="15" name="Label"/>
          <p:cNvSpPr txBox="1"/>
          <p:nvPr/>
        </p:nvSpPr>
        <p:spPr>
          <a:xfrm>
            <a:off x="548640" y="3624072"/>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6" name="Observe"/>
          <p:cNvSpPr txBox="1"/>
          <p:nvPr/>
        </p:nvSpPr>
        <p:spPr>
          <a:xfrm>
            <a:off x="548640" y="4035552"/>
            <a:ext cx="11094415" cy="2109215"/>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Divider source resistance 8 kΩ equals the ladder: voltage halves</a:t>
            </a:r>
          </a:p>
          <a:p>
            <a:pPr algn="l" marL="274320" indent="-274320">
              <a:lnSpc>
                <a:spcPct val="100000"/>
              </a:lnSpc>
              <a:spcAft>
                <a:spcPts val="1000"/>
              </a:spcAft>
              <a:buClr>
                <a:srgbClr val="00A9CE"/>
              </a:buClr>
              <a:buFont typeface="Arial"/>
              <a:buChar char="•"/>
            </a:pPr>
            <a:r>
              <a:rPr sz="1800" b="0" i="0">
                <a:solidFill>
                  <a:srgbClr val="23232B"/>
                </a:solidFill>
                <a:latin typeface="Calibri"/>
              </a:rPr>
              <a:t>A follower restores 4.00 V: input current ≈ 0, output resistance ≈ 0</a:t>
            </a:r>
          </a:p>
          <a:p>
            <a:pPr algn="l" marL="274320" indent="-274320">
              <a:lnSpc>
                <a:spcPct val="100000"/>
              </a:lnSpc>
              <a:spcAft>
                <a:spcPts val="1000"/>
              </a:spcAft>
              <a:buClr>
                <a:srgbClr val="00A9CE"/>
              </a:buClr>
              <a:buFont typeface="Arial"/>
              <a:buChar char="•"/>
            </a:pPr>
            <a:r>
              <a:rPr sz="1800" b="0" i="0">
                <a:solidFill>
                  <a:srgbClr val="23232B"/>
                </a:solidFill>
                <a:latin typeface="Calibri"/>
              </a:rPr>
              <a:t>Non-inverting amplifier scales and buffers in one step</a:t>
            </a:r>
          </a:p>
        </p:txBody>
      </p:sp>
      <p:pic>
        <p:nvPicPr>
          <p:cNvPr id="17"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8"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19"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BUFFERING AND SCALING A REFERENCE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Design recipe: reference for an ADC ladder</a:t>
            </a:r>
          </a:p>
        </p:txBody>
      </p:sp>
      <p:sp>
        <p:nvSpPr>
          <p:cNvPr id="4" name="Step 1"/>
          <p:cNvSpPr/>
          <p:nvPr/>
        </p:nvSpPr>
        <p:spPr>
          <a:xfrm>
            <a:off x="548640" y="1344168"/>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44168"/>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1</a:t>
            </a:r>
          </a:p>
        </p:txBody>
      </p:sp>
      <p:sp>
        <p:nvSpPr>
          <p:cNvPr id="6" name="Step text 1"/>
          <p:cNvSpPr txBox="1"/>
          <p:nvPr/>
        </p:nvSpPr>
        <p:spPr>
          <a:xfrm>
            <a:off x="1280160" y="1429512"/>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Full scale and LSB: LSB = V</a:t>
            </a:r>
            <a:r>
              <a:rPr sz="2000" b="0" i="0" baseline="-25000">
                <a:solidFill>
                  <a:srgbClr val="23232B"/>
                </a:solidFill>
                <a:latin typeface="Calibri"/>
              </a:rPr>
              <a:t>FS</a:t>
            </a:r>
            <a:r>
              <a:rPr sz="2000" b="0" i="0">
                <a:solidFill>
                  <a:srgbClr val="23232B"/>
                </a:solidFill>
                <a:latin typeface="Calibri"/>
              </a:rPr>
              <a:t>/2</a:t>
            </a:r>
            <a:r>
              <a:rPr sz="2000" b="0" i="0" baseline="30000">
                <a:solidFill>
                  <a:srgbClr val="23232B"/>
                </a:solidFill>
                <a:latin typeface="Calibri"/>
              </a:rPr>
              <a:t>N</a:t>
            </a:r>
            <a:r>
              <a:rPr sz="2000" b="0" i="0">
                <a:solidFill>
                  <a:srgbClr val="23232B"/>
                </a:solidFill>
                <a:latin typeface="Calibri"/>
              </a:rPr>
              <a:t> (4.00 V, 3 bit: 0.5 V)</a:t>
            </a:r>
          </a:p>
        </p:txBody>
      </p:sp>
      <p:sp>
        <p:nvSpPr>
          <p:cNvPr id="7" name="Step 2"/>
          <p:cNvSpPr/>
          <p:nvPr/>
        </p:nvSpPr>
        <p:spPr>
          <a:xfrm>
            <a:off x="548640" y="2112263"/>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12263"/>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2</a:t>
            </a:r>
          </a:p>
        </p:txBody>
      </p:sp>
      <p:sp>
        <p:nvSpPr>
          <p:cNvPr id="9" name="Step text 2"/>
          <p:cNvSpPr txBox="1"/>
          <p:nvPr/>
        </p:nvSpPr>
        <p:spPr>
          <a:xfrm>
            <a:off x="1280160" y="2197608"/>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Ladder current I = V</a:t>
            </a:r>
            <a:r>
              <a:rPr sz="2000" b="0" i="0" baseline="-25000">
                <a:solidFill>
                  <a:srgbClr val="23232B"/>
                </a:solidFill>
                <a:latin typeface="Calibri"/>
              </a:rPr>
              <a:t>FS</a:t>
            </a:r>
            <a:r>
              <a:rPr sz="2000" b="0" i="0">
                <a:solidFill>
                  <a:srgbClr val="23232B"/>
                </a:solidFill>
                <a:latin typeface="Calibri"/>
              </a:rPr>
              <a:t>/(2</a:t>
            </a:r>
            <a:r>
              <a:rPr sz="2000" b="0" i="0" baseline="30000">
                <a:solidFill>
                  <a:srgbClr val="23232B"/>
                </a:solidFill>
                <a:latin typeface="Calibri"/>
              </a:rPr>
              <a:t>N</a:t>
            </a:r>
            <a:r>
              <a:rPr sz="2000" b="0" i="0">
                <a:solidFill>
                  <a:srgbClr val="23232B"/>
                </a:solidFill>
                <a:latin typeface="Calibri"/>
              </a:rPr>
              <a:t>·R) (8 × 1 kΩ: 0.5 mA)</a:t>
            </a:r>
          </a:p>
        </p:txBody>
      </p:sp>
      <p:sp>
        <p:nvSpPr>
          <p:cNvPr id="10" name="Step 3"/>
          <p:cNvSpPr/>
          <p:nvPr/>
        </p:nvSpPr>
        <p:spPr>
          <a:xfrm>
            <a:off x="548640" y="2880359"/>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880359"/>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3</a:t>
            </a:r>
          </a:p>
        </p:txBody>
      </p:sp>
      <p:sp>
        <p:nvSpPr>
          <p:cNvPr id="12" name="Step text 3"/>
          <p:cNvSpPr txBox="1"/>
          <p:nvPr/>
        </p:nvSpPr>
        <p:spPr>
          <a:xfrm>
            <a:off x="1280160" y="2965704"/>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Gain G = V</a:t>
            </a:r>
            <a:r>
              <a:rPr sz="2000" b="0" i="0" baseline="-25000">
                <a:solidFill>
                  <a:srgbClr val="23232B"/>
                </a:solidFill>
                <a:latin typeface="Calibri"/>
              </a:rPr>
              <a:t>FS</a:t>
            </a:r>
            <a:r>
              <a:rPr sz="2000" b="0" i="0">
                <a:solidFill>
                  <a:srgbClr val="23232B"/>
                </a:solidFill>
                <a:latin typeface="Calibri"/>
              </a:rPr>
              <a:t>/V</a:t>
            </a:r>
            <a:r>
              <a:rPr sz="2000" b="0" i="0" baseline="-25000">
                <a:solidFill>
                  <a:srgbClr val="23232B"/>
                </a:solidFill>
                <a:latin typeface="Calibri"/>
              </a:rPr>
              <a:t>R</a:t>
            </a:r>
            <a:r>
              <a:rPr sz="2000" b="0" i="0">
                <a:solidFill>
                  <a:srgbClr val="23232B"/>
                </a:solidFill>
                <a:latin typeface="Calibri"/>
              </a:rPr>
              <a:t> from a standard reference (2.5 V: G = 1.6)</a:t>
            </a:r>
          </a:p>
        </p:txBody>
      </p:sp>
      <p:sp>
        <p:nvSpPr>
          <p:cNvPr id="13" name="Step 4"/>
          <p:cNvSpPr/>
          <p:nvPr/>
        </p:nvSpPr>
        <p:spPr>
          <a:xfrm>
            <a:off x="548640" y="3648455"/>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48455"/>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4</a:t>
            </a:r>
          </a:p>
        </p:txBody>
      </p:sp>
      <p:sp>
        <p:nvSpPr>
          <p:cNvPr id="15" name="Step text 4"/>
          <p:cNvSpPr txBox="1"/>
          <p:nvPr/>
        </p:nvSpPr>
        <p:spPr>
          <a:xfrm>
            <a:off x="1280160" y="3733799"/>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R</a:t>
            </a:r>
            <a:r>
              <a:rPr sz="2000" b="0" i="0" baseline="-25000">
                <a:solidFill>
                  <a:srgbClr val="23232B"/>
                </a:solidFill>
                <a:latin typeface="Calibri"/>
              </a:rPr>
              <a:t>F</a:t>
            </a:r>
            <a:r>
              <a:rPr sz="2000" b="0" i="0">
                <a:solidFill>
                  <a:srgbClr val="23232B"/>
                </a:solidFill>
                <a:latin typeface="Calibri"/>
              </a:rPr>
              <a:t>/R</a:t>
            </a:r>
            <a:r>
              <a:rPr sz="2000" b="0" i="0" baseline="-25000">
                <a:solidFill>
                  <a:srgbClr val="23232B"/>
                </a:solidFill>
                <a:latin typeface="Calibri"/>
              </a:rPr>
              <a:t>G</a:t>
            </a:r>
            <a:r>
              <a:rPr sz="2000" b="0" i="0">
                <a:solidFill>
                  <a:srgbClr val="23232B"/>
                </a:solidFill>
                <a:latin typeface="Calibri"/>
              </a:rPr>
              <a:t> = G − 1, R</a:t>
            </a:r>
            <a:r>
              <a:rPr sz="2000" b="0" i="0" baseline="-25000">
                <a:solidFill>
                  <a:srgbClr val="23232B"/>
                </a:solidFill>
                <a:latin typeface="Calibri"/>
              </a:rPr>
              <a:t>F</a:t>
            </a:r>
            <a:r>
              <a:rPr sz="2000" b="0" i="0">
                <a:solidFill>
                  <a:srgbClr val="23232B"/>
                </a:solidFill>
                <a:latin typeface="Calibri"/>
              </a:rPr>
              <a:t> + R</a:t>
            </a:r>
            <a:r>
              <a:rPr sz="2000" b="0" i="0" baseline="-25000">
                <a:solidFill>
                  <a:srgbClr val="23232B"/>
                </a:solidFill>
                <a:latin typeface="Calibri"/>
              </a:rPr>
              <a:t>G</a:t>
            </a:r>
            <a:r>
              <a:rPr sz="2000" b="0" i="0">
                <a:solidFill>
                  <a:srgbClr val="23232B"/>
                </a:solidFill>
                <a:latin typeface="Calibri"/>
              </a:rPr>
              <a:t> </a:t>
            </a:r>
            <a:r>
              <a:rPr sz="2000" b="0" i="0">
                <a:solidFill>
                  <a:srgbClr val="23232B"/>
                </a:solidFill>
                <a:latin typeface="Cambria Math"/>
              </a:rPr>
              <a:t>≫</a:t>
            </a:r>
            <a:r>
              <a:rPr sz="2000" b="0" i="0">
                <a:solidFill>
                  <a:srgbClr val="23232B"/>
                </a:solidFill>
                <a:latin typeface="Calibri"/>
              </a:rPr>
              <a:t> ladder (12 kΩ + 20 kΩ)</a:t>
            </a:r>
          </a:p>
        </p:txBody>
      </p:sp>
      <p:sp>
        <p:nvSpPr>
          <p:cNvPr id="16" name="Step 5"/>
          <p:cNvSpPr/>
          <p:nvPr/>
        </p:nvSpPr>
        <p:spPr>
          <a:xfrm>
            <a:off x="548640" y="4416551"/>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416551"/>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5</a:t>
            </a:r>
          </a:p>
        </p:txBody>
      </p:sp>
      <p:sp>
        <p:nvSpPr>
          <p:cNvPr id="18" name="Step text 5"/>
          <p:cNvSpPr txBox="1"/>
          <p:nvPr/>
        </p:nvSpPr>
        <p:spPr>
          <a:xfrm>
            <a:off x="1280160" y="4501896"/>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Check op-amp current, resistor tolerance, G·V</a:t>
            </a:r>
            <a:r>
              <a:rPr sz="2000" b="0" i="0" baseline="-25000">
                <a:solidFill>
                  <a:srgbClr val="23232B"/>
                </a:solidFill>
                <a:latin typeface="Calibri"/>
              </a:rPr>
              <a:t>offset</a:t>
            </a:r>
            <a:r>
              <a:rPr sz="2000" b="0" i="0">
                <a:solidFill>
                  <a:srgbClr val="23232B"/>
                </a:solidFill>
                <a:latin typeface="Calibri"/>
              </a:rPr>
              <a:t>; decouple the top</a:t>
            </a:r>
          </a:p>
        </p:txBody>
      </p:sp>
      <p:pic>
        <p:nvPicPr>
          <p:cNvPr id="19"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2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2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RATIOMETRIC MEASUREMENT</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Ratiometric measurement</a:t>
            </a:r>
          </a:p>
        </p:txBody>
      </p:sp>
      <p:sp>
        <p:nvSpPr>
          <p:cNvPr id="4" name="Falstad ratiometric">
            <a:hlinkClick r:id="rId2"/>
          </p:cNvPr>
          <p:cNvSpPr/>
          <p:nvPr/>
        </p:nvSpPr>
        <p:spPr>
          <a:xfrm>
            <a:off x="548640" y="5434584"/>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lstad link ratiometric">
            <a:hlinkClick r:id="rId2"/>
          </p:cNvPr>
          <p:cNvSpPr txBox="1"/>
          <p:nvPr/>
        </p:nvSpPr>
        <p:spPr>
          <a:xfrm>
            <a:off x="1234440" y="5544312"/>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references/ratiometric</a:t>
            </a:r>
          </a:p>
        </p:txBody>
      </p:sp>
      <p:sp>
        <p:nvSpPr>
          <p:cNvPr id="8" name="Falstad hint"/>
          <p:cNvSpPr txBox="1"/>
          <p:nvPr/>
        </p:nvSpPr>
        <p:spPr>
          <a:xfrm>
            <a:off x="1234440" y="5818632"/>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VREF slider 4.0 → 3.6 V: left stays code 2, right jumps to 3</a:t>
            </a:r>
          </a:p>
        </p:txBody>
      </p:sp>
      <p:sp>
        <p:nvSpPr>
          <p:cNvPr id="9" name="Bullets"/>
          <p:cNvSpPr txBox="1"/>
          <p:nvPr/>
        </p:nvSpPr>
        <p:spPr>
          <a:xfrm>
            <a:off x="548640" y="1298448"/>
            <a:ext cx="11094415" cy="1645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Feed sensor divider and ADC ladder from the same V</a:t>
            </a:r>
            <a:r>
              <a:rPr sz="2000" b="0" i="0" baseline="-25000">
                <a:solidFill>
                  <a:srgbClr val="23232B"/>
                </a:solidFill>
                <a:latin typeface="Calibri"/>
              </a:rPr>
              <a:t>ref</a:t>
            </a:r>
          </a:p>
          <a:p>
            <a:pPr algn="l" marL="274320" indent="-274320">
              <a:lnSpc>
                <a:spcPct val="100000"/>
              </a:lnSpc>
              <a:spcAft>
                <a:spcPts val="1000"/>
              </a:spcAft>
              <a:buClr>
                <a:srgbClr val="00A9CE"/>
              </a:buClr>
              <a:buFont typeface="Arial"/>
              <a:buChar char="•"/>
            </a:pPr>
            <a:r>
              <a:rPr sz="2000" b="0" i="0">
                <a:solidFill>
                  <a:srgbClr val="23232B"/>
                </a:solidFill>
                <a:latin typeface="Calibri"/>
              </a:rPr>
              <a:t>The code then depends only on resistor ratios, not on V</a:t>
            </a:r>
            <a:r>
              <a:rPr sz="2000" b="0" i="0" baseline="-25000">
                <a:solidFill>
                  <a:srgbClr val="23232B"/>
                </a:solidFill>
                <a:latin typeface="Calibri"/>
              </a:rPr>
              <a:t>ref</a:t>
            </a:r>
          </a:p>
          <a:p>
            <a:pPr algn="l" marL="274320" indent="-274320">
              <a:lnSpc>
                <a:spcPct val="100000"/>
              </a:lnSpc>
              <a:spcAft>
                <a:spcPts val="1000"/>
              </a:spcAft>
              <a:buClr>
                <a:srgbClr val="00A9CE"/>
              </a:buClr>
              <a:buFont typeface="Arial"/>
              <a:buChar char="•"/>
            </a:pPr>
            <a:r>
              <a:rPr sz="2000" b="0" i="0">
                <a:solidFill>
                  <a:srgbClr val="23232B"/>
                </a:solidFill>
                <a:latin typeface="Calibri"/>
              </a:rPr>
              <a:t>Sensor from a fixed 4.00 V, ladder from V</a:t>
            </a:r>
            <a:r>
              <a:rPr sz="2000" b="0" i="0" baseline="-25000">
                <a:solidFill>
                  <a:srgbClr val="23232B"/>
                </a:solidFill>
                <a:latin typeface="Calibri"/>
              </a:rPr>
              <a:t>ref</a:t>
            </a:r>
            <a:r>
              <a:rPr sz="2000" b="0" i="0">
                <a:solidFill>
                  <a:srgbClr val="23232B"/>
                </a:solidFill>
                <a:latin typeface="Calibri"/>
              </a:rPr>
              <a:t>: 10 % error flips a code</a:t>
            </a:r>
          </a:p>
          <a:p>
            <a:pPr algn="l" marL="274320" indent="-274320">
              <a:lnSpc>
                <a:spcPct val="100000"/>
              </a:lnSpc>
              <a:spcAft>
                <a:spcPts val="1000"/>
              </a:spcAft>
              <a:buClr>
                <a:srgbClr val="00A9CE"/>
              </a:buClr>
              <a:buFont typeface="Arial"/>
              <a:buChar char="•"/>
            </a:pPr>
            <a:r>
              <a:rPr sz="2000" b="0" i="0">
                <a:solidFill>
                  <a:srgbClr val="23232B"/>
                </a:solidFill>
                <a:latin typeface="Calibri"/>
              </a:rPr>
              <a:t>Works only with the same voltage at the same time on both paths</a:t>
            </a:r>
          </a:p>
        </p:txBody>
      </p:sp>
      <p:sp>
        <p:nvSpPr>
          <p:cNvPr id="10" name="Key rule"/>
          <p:cNvSpPr/>
          <p:nvPr/>
        </p:nvSpPr>
        <p:spPr>
          <a:xfrm>
            <a:off x="548640" y="3264408"/>
            <a:ext cx="11094415"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Key rule label"/>
          <p:cNvSpPr txBox="1"/>
          <p:nvPr/>
        </p:nvSpPr>
        <p:spPr>
          <a:xfrm>
            <a:off x="777240" y="3374136"/>
            <a:ext cx="10637215"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2" name="Key rule text"/>
          <p:cNvSpPr txBox="1"/>
          <p:nvPr/>
        </p:nvSpPr>
        <p:spPr>
          <a:xfrm>
            <a:off x="777240" y="3648456"/>
            <a:ext cx="10637215"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code = 2</a:t>
            </a:r>
            <a:r>
              <a:rPr sz="1700" b="1" i="0" baseline="30000">
                <a:solidFill>
                  <a:srgbClr val="4E2A8C"/>
                </a:solidFill>
                <a:latin typeface="Calibri"/>
              </a:rPr>
              <a:t>N</a:t>
            </a:r>
            <a:r>
              <a:rPr sz="1700" b="1" i="0">
                <a:solidFill>
                  <a:srgbClr val="4E2A8C"/>
                </a:solidFill>
                <a:latin typeface="Calibri"/>
              </a:rPr>
              <a:t>·R</a:t>
            </a:r>
            <a:r>
              <a:rPr sz="1700" b="1" i="0" baseline="-25000">
                <a:solidFill>
                  <a:srgbClr val="4E2A8C"/>
                </a:solidFill>
                <a:latin typeface="Calibri"/>
              </a:rPr>
              <a:t>S</a:t>
            </a:r>
            <a:r>
              <a:rPr sz="1700" b="1" i="0">
                <a:solidFill>
                  <a:srgbClr val="4E2A8C"/>
                </a:solidFill>
                <a:latin typeface="Calibri"/>
              </a:rPr>
              <a:t>/(R</a:t>
            </a:r>
            <a:r>
              <a:rPr sz="1700" b="1" i="0" baseline="-25000">
                <a:solidFill>
                  <a:srgbClr val="4E2A8C"/>
                </a:solidFill>
                <a:latin typeface="Calibri"/>
              </a:rPr>
              <a:t>1</a:t>
            </a:r>
            <a:r>
              <a:rPr sz="1700" b="1" i="0">
                <a:solidFill>
                  <a:srgbClr val="4E2A8C"/>
                </a:solidFill>
                <a:latin typeface="Calibri"/>
              </a:rPr>
              <a:t> + R</a:t>
            </a:r>
            <a:r>
              <a:rPr sz="1700" b="1" i="0" baseline="-25000">
                <a:solidFill>
                  <a:srgbClr val="4E2A8C"/>
                </a:solidFill>
                <a:latin typeface="Calibri"/>
              </a:rPr>
              <a:t>S</a:t>
            </a:r>
            <a:r>
              <a:rPr sz="1700" b="1" i="0">
                <a:solidFill>
                  <a:srgbClr val="4E2A8C"/>
                </a:solidFill>
                <a:latin typeface="Calibri"/>
              </a:rPr>
              <a:t>), independent of V</a:t>
            </a:r>
            <a:r>
              <a:rPr sz="1700" b="1" i="0" baseline="-25000">
                <a:solidFill>
                  <a:srgbClr val="4E2A8C"/>
                </a:solidFill>
                <a:latin typeface="Calibri"/>
              </a:rPr>
              <a:t>ref</a:t>
            </a:r>
          </a:p>
        </p:txBody>
      </p:sp>
      <p:pic>
        <p:nvPicPr>
          <p:cNvPr id="13"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4"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ERROR BUDGET</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Error budget of the 4.00 V reference</a:t>
            </a:r>
          </a:p>
        </p:txBody>
      </p:sp>
      <p:sp>
        <p:nvSpPr>
          <p:cNvPr id="4" name="Bullets"/>
          <p:cNvSpPr txBox="1"/>
          <p:nvPr/>
        </p:nvSpPr>
        <p:spPr>
          <a:xfrm>
            <a:off x="548640" y="1298448"/>
            <a:ext cx="11094415" cy="1645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Initial 0.20 %, TC 25 ppm/K over ±25 K 0.06 %, resistors 0.08 %</a:t>
            </a:r>
          </a:p>
          <a:p>
            <a:pPr algn="l" marL="274320" indent="-274320">
              <a:lnSpc>
                <a:spcPct val="100000"/>
              </a:lnSpc>
              <a:spcAft>
                <a:spcPts val="1000"/>
              </a:spcAft>
              <a:buClr>
                <a:srgbClr val="00A9CE"/>
              </a:buClr>
              <a:buFont typeface="Arial"/>
              <a:buChar char="•"/>
            </a:pPr>
            <a:r>
              <a:rPr sz="2000" b="0" i="0">
                <a:solidFill>
                  <a:srgbClr val="23232B"/>
                </a:solidFill>
                <a:latin typeface="Calibri"/>
              </a:rPr>
              <a:t>Op-amp offset 0.04 %, long-term drift 0.01 %</a:t>
            </a:r>
          </a:p>
          <a:p>
            <a:pPr algn="l" marL="274320" indent="-274320">
              <a:lnSpc>
                <a:spcPct val="100000"/>
              </a:lnSpc>
              <a:spcAft>
                <a:spcPts val="1000"/>
              </a:spcAft>
              <a:buClr>
                <a:srgbClr val="00A9CE"/>
              </a:buClr>
              <a:buFont typeface="Arial"/>
              <a:buChar char="•"/>
            </a:pPr>
            <a:r>
              <a:rPr sz="2000" b="0" i="0">
                <a:solidFill>
                  <a:srgbClr val="23232B"/>
                </a:solidFill>
                <a:latin typeface="Calibri"/>
              </a:rPr>
              <a:t>Worst case 0.39 %, RSS 0.23 %</a:t>
            </a:r>
          </a:p>
          <a:p>
            <a:pPr algn="l" marL="274320" indent="-274320">
              <a:lnSpc>
                <a:spcPct val="100000"/>
              </a:lnSpc>
              <a:spcAft>
                <a:spcPts val="1000"/>
              </a:spcAft>
              <a:buClr>
                <a:srgbClr val="00A9CE"/>
              </a:buClr>
              <a:buFont typeface="Arial"/>
              <a:buChar char="•"/>
            </a:pPr>
            <a:r>
              <a:rPr sz="2000" b="0" i="0">
                <a:solidFill>
                  <a:srgbClr val="23232B"/>
                </a:solidFill>
                <a:latin typeface="Calibri"/>
              </a:rPr>
              <a:t>3 bit (LSB 12.5 %): no problem; 12 bit: 16 LSB → calibrate</a:t>
            </a:r>
          </a:p>
        </p:txBody>
      </p:sp>
      <p:sp>
        <p:nvSpPr>
          <p:cNvPr id="5" name="Key rule"/>
          <p:cNvSpPr/>
          <p:nvPr/>
        </p:nvSpPr>
        <p:spPr>
          <a:xfrm>
            <a:off x="548640" y="3264408"/>
            <a:ext cx="11094415"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ey rule label"/>
          <p:cNvSpPr txBox="1"/>
          <p:nvPr/>
        </p:nvSpPr>
        <p:spPr>
          <a:xfrm>
            <a:off x="777240" y="3374136"/>
            <a:ext cx="10637215"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7" name="Key rule text"/>
          <p:cNvSpPr txBox="1"/>
          <p:nvPr/>
        </p:nvSpPr>
        <p:spPr>
          <a:xfrm>
            <a:off x="777240" y="3648456"/>
            <a:ext cx="10637215"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Worst case = sum of all errors, RSS = √(sum of squares)</a:t>
            </a:r>
          </a:p>
        </p:txBody>
      </p:sp>
      <p:pic>
        <p:nvPicPr>
          <p:cNvPr id="8"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9"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10"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EXERCISES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Now work it out in the script</a:t>
            </a:r>
          </a:p>
        </p:txBody>
      </p:sp>
      <p:sp>
        <p:nvSpPr>
          <p:cNvPr id="4" name="Intro"/>
          <p:cNvSpPr txBox="1"/>
          <p:nvPr/>
        </p:nvSpPr>
        <p:spPr>
          <a:xfrm>
            <a:off x="548640" y="1298448"/>
            <a:ext cx="11094415" cy="640080"/>
          </a:xfrm>
          <a:prstGeom prst="rect">
            <a:avLst/>
          </a:prstGeom>
          <a:noFill/>
        </p:spPr>
        <p:txBody>
          <a:bodyPr wrap="square" lIns="0" rIns="0" tIns="0" bIns="0" anchor="t">
            <a:noAutofit/>
          </a:bodyPr>
          <a:lstStyle/>
          <a:p>
            <a:pPr algn="l">
              <a:lnSpc>
                <a:spcPct val="100000"/>
              </a:lnSpc>
              <a:spcAft>
                <a:spcPts val="600"/>
              </a:spcAft>
              <a:buNone/>
            </a:pPr>
            <a:r>
              <a:rPr sz="1800" b="0" i="0">
                <a:solidFill>
                  <a:srgbClr val="62626E"/>
                </a:solidFill>
                <a:latin typeface="Calibri"/>
              </a:rPr>
              <a:t>Derivations, worked numbers and solutions: script, chapter 4 “Voltage References”. Check each result in the Falstad examples.</a:t>
            </a:r>
          </a:p>
        </p:txBody>
      </p:sp>
      <p:sp>
        <p:nvSpPr>
          <p:cNvPr id="5" name="Exercise card"/>
          <p:cNvSpPr/>
          <p:nvPr/>
        </p:nvSpPr>
        <p:spPr>
          <a:xfrm>
            <a:off x="548640"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rcise number"/>
          <p:cNvSpPr/>
          <p:nvPr/>
        </p:nvSpPr>
        <p:spPr>
          <a:xfrm>
            <a:off x="548640"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4.1</a:t>
            </a:r>
          </a:p>
        </p:txBody>
      </p:sp>
      <p:sp>
        <p:nvSpPr>
          <p:cNvPr id="8" name="Exercise title"/>
          <p:cNvSpPr txBox="1"/>
          <p:nvPr/>
        </p:nvSpPr>
        <p:spPr>
          <a:xfrm>
            <a:off x="1645919"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Zener reference with series resistor</a:t>
            </a:r>
          </a:p>
        </p:txBody>
      </p:sp>
      <p:sp>
        <p:nvSpPr>
          <p:cNvPr id="9" name="Exercise card"/>
          <p:cNvSpPr/>
          <p:nvPr/>
        </p:nvSpPr>
        <p:spPr>
          <a:xfrm>
            <a:off x="548640"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ercise number"/>
          <p:cNvSpPr/>
          <p:nvPr/>
        </p:nvSpPr>
        <p:spPr>
          <a:xfrm>
            <a:off x="548640"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4.2</a:t>
            </a:r>
          </a:p>
        </p:txBody>
      </p:sp>
      <p:sp>
        <p:nvSpPr>
          <p:cNvPr id="12" name="Exercise title"/>
          <p:cNvSpPr txBox="1"/>
          <p:nvPr/>
        </p:nvSpPr>
        <p:spPr>
          <a:xfrm>
            <a:off x="1645919"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Zener with current-source feed</a:t>
            </a:r>
          </a:p>
        </p:txBody>
      </p:sp>
      <p:sp>
        <p:nvSpPr>
          <p:cNvPr id="13" name="Exercise card"/>
          <p:cNvSpPr/>
          <p:nvPr/>
        </p:nvSpPr>
        <p:spPr>
          <a:xfrm>
            <a:off x="548640"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xercise number"/>
          <p:cNvSpPr/>
          <p:nvPr/>
        </p:nvSpPr>
        <p:spPr>
          <a:xfrm>
            <a:off x="548640"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4.3</a:t>
            </a:r>
          </a:p>
        </p:txBody>
      </p:sp>
      <p:sp>
        <p:nvSpPr>
          <p:cNvPr id="16" name="Exercise title"/>
          <p:cNvSpPr txBox="1"/>
          <p:nvPr/>
        </p:nvSpPr>
        <p:spPr>
          <a:xfrm>
            <a:off x="1645919"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Bandgap design</a:t>
            </a:r>
          </a:p>
        </p:txBody>
      </p:sp>
      <p:sp>
        <p:nvSpPr>
          <p:cNvPr id="17" name="Exercise card"/>
          <p:cNvSpPr/>
          <p:nvPr/>
        </p:nvSpPr>
        <p:spPr>
          <a:xfrm>
            <a:off x="6233007"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xercise number"/>
          <p:cNvSpPr/>
          <p:nvPr/>
        </p:nvSpPr>
        <p:spPr>
          <a:xfrm>
            <a:off x="6233007"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4.4</a:t>
            </a:r>
          </a:p>
        </p:txBody>
      </p:sp>
      <p:sp>
        <p:nvSpPr>
          <p:cNvPr id="20" name="Exercise title"/>
          <p:cNvSpPr txBox="1"/>
          <p:nvPr/>
        </p:nvSpPr>
        <p:spPr>
          <a:xfrm>
            <a:off x="7330287"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TL431 set to 4.00 V</a:t>
            </a:r>
          </a:p>
        </p:txBody>
      </p:sp>
      <p:sp>
        <p:nvSpPr>
          <p:cNvPr id="21" name="Exercise card"/>
          <p:cNvSpPr/>
          <p:nvPr/>
        </p:nvSpPr>
        <p:spPr>
          <a:xfrm>
            <a:off x="6233007"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xercise number"/>
          <p:cNvSpPr/>
          <p:nvPr/>
        </p:nvSpPr>
        <p:spPr>
          <a:xfrm>
            <a:off x="6233007"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3007"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4.5</a:t>
            </a:r>
          </a:p>
        </p:txBody>
      </p:sp>
      <p:sp>
        <p:nvSpPr>
          <p:cNvPr id="24" name="Exercise title"/>
          <p:cNvSpPr txBox="1"/>
          <p:nvPr/>
        </p:nvSpPr>
        <p:spPr>
          <a:xfrm>
            <a:off x="7330287"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Reference for the 3-bit flash converter</a:t>
            </a:r>
          </a:p>
        </p:txBody>
      </p:sp>
      <p:sp>
        <p:nvSpPr>
          <p:cNvPr id="25" name="Exercise card"/>
          <p:cNvSpPr/>
          <p:nvPr/>
        </p:nvSpPr>
        <p:spPr>
          <a:xfrm>
            <a:off x="6233007"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xercise number"/>
          <p:cNvSpPr/>
          <p:nvPr/>
        </p:nvSpPr>
        <p:spPr>
          <a:xfrm>
            <a:off x="6233007"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33007"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4.6</a:t>
            </a:r>
          </a:p>
        </p:txBody>
      </p:sp>
      <p:sp>
        <p:nvSpPr>
          <p:cNvPr id="28" name="Exercise title"/>
          <p:cNvSpPr txBox="1"/>
          <p:nvPr/>
        </p:nvSpPr>
        <p:spPr>
          <a:xfrm>
            <a:off x="7330287"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Ratiometric measurement and error budget</a:t>
            </a:r>
          </a:p>
        </p:txBody>
      </p:sp>
      <p:pic>
        <p:nvPicPr>
          <p:cNvPr id="29"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3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Voltage References</a:t>
            </a:r>
          </a:p>
        </p:txBody>
      </p:sp>
      <p:sp>
        <p:nvSpPr>
          <p:cNvPr id="3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6638B6"/>
        </a:solidFill>
        <a:effectLst/>
      </p:bgPr>
    </p:bg>
    <p:spTree>
      <p:nvGrpSpPr>
        <p:cNvPr id="1" name=""/>
        <p:cNvGrpSpPr/>
        <p:nvPr/>
      </p:nvGrpSpPr>
      <p:grpSpPr/>
      <p:sp>
        <p:nvSpPr>
          <p:cNvPr id="2" name="Chapter number"/>
          <p:cNvSpPr txBox="1"/>
          <p:nvPr/>
        </p:nvSpPr>
        <p:spPr>
          <a:xfrm>
            <a:off x="548640" y="822960"/>
            <a:ext cx="2743200" cy="1463040"/>
          </a:xfrm>
          <a:prstGeom prst="rect">
            <a:avLst/>
          </a:prstGeom>
          <a:noFill/>
        </p:spPr>
        <p:txBody>
          <a:bodyPr wrap="square" lIns="0" rIns="0" tIns="0" bIns="0" anchor="t">
            <a:noAutofit/>
          </a:bodyPr>
          <a:lstStyle/>
          <a:p>
            <a:pPr algn="l">
              <a:lnSpc>
                <a:spcPct val="100000"/>
              </a:lnSpc>
              <a:spcAft>
                <a:spcPts val="600"/>
              </a:spcAft>
              <a:buNone/>
            </a:pPr>
            <a:r>
              <a:rPr sz="9600" b="1" i="0">
                <a:solidFill>
                  <a:srgbClr val="9B7DD4"/>
                </a:solidFill>
                <a:latin typeface="Calibri"/>
              </a:rPr>
              <a:t>05</a:t>
            </a:r>
          </a:p>
        </p:txBody>
      </p:sp>
      <p:sp>
        <p:nvSpPr>
          <p:cNvPr id="3" name="Chapter title"/>
          <p:cNvSpPr txBox="1"/>
          <p:nvPr/>
        </p:nvSpPr>
        <p:spPr>
          <a:xfrm>
            <a:off x="548640" y="2331720"/>
            <a:ext cx="11094415" cy="914400"/>
          </a:xfrm>
          <a:prstGeom prst="rect">
            <a:avLst/>
          </a:prstGeom>
          <a:noFill/>
        </p:spPr>
        <p:txBody>
          <a:bodyPr wrap="square" lIns="0" rIns="0" tIns="0" bIns="0" anchor="ctr">
            <a:noAutofit/>
          </a:bodyPr>
          <a:lstStyle/>
          <a:p>
            <a:pPr algn="l">
              <a:lnSpc>
                <a:spcPct val="100000"/>
              </a:lnSpc>
              <a:spcAft>
                <a:spcPts val="600"/>
              </a:spcAft>
              <a:buNone/>
            </a:pPr>
            <a:r>
              <a:rPr sz="4400" b="1" i="0">
                <a:solidFill>
                  <a:srgbClr val="FFFFFF"/>
                </a:solidFill>
                <a:latin typeface="Calibri"/>
              </a:rPr>
              <a:t>Bridge Circuits</a:t>
            </a:r>
          </a:p>
        </p:txBody>
      </p:sp>
      <p:sp>
        <p:nvSpPr>
          <p:cNvPr id="4" name="Chapter subtitle"/>
          <p:cNvSpPr txBox="1"/>
          <p:nvPr/>
        </p:nvSpPr>
        <p:spPr>
          <a:xfrm>
            <a:off x="548640" y="3246120"/>
            <a:ext cx="11094415" cy="4572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CFE9F3"/>
                </a:solidFill>
                <a:latin typeface="Calibri"/>
              </a:rPr>
              <a:t>Turn small sensor resistance changes into a clean differential voltage</a:t>
            </a:r>
          </a:p>
        </p:txBody>
      </p:sp>
      <p:sp>
        <p:nvSpPr>
          <p:cNvPr id="5" name="Takeaway card"/>
          <p:cNvSpPr/>
          <p:nvPr/>
        </p:nvSpPr>
        <p:spPr>
          <a:xfrm>
            <a:off x="548640"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1</a:t>
            </a:r>
          </a:p>
        </p:txBody>
      </p:sp>
      <p:sp>
        <p:nvSpPr>
          <p:cNvPr id="7" name="Takeaway"/>
          <p:cNvSpPr txBox="1"/>
          <p:nvPr/>
        </p:nvSpPr>
        <p:spPr>
          <a:xfrm>
            <a:off x="822959"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A bridge removes the constant part, leaves only the change</a:t>
            </a:r>
          </a:p>
        </p:txBody>
      </p:sp>
      <p:sp>
        <p:nvSpPr>
          <p:cNvPr id="8" name="Takeaway card"/>
          <p:cNvSpPr/>
          <p:nvPr/>
        </p:nvSpPr>
        <p:spPr>
          <a:xfrm>
            <a:off x="4338218"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2538"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2</a:t>
            </a:r>
          </a:p>
        </p:txBody>
      </p:sp>
      <p:sp>
        <p:nvSpPr>
          <p:cNvPr id="10" name="Takeaway"/>
          <p:cNvSpPr txBox="1"/>
          <p:nvPr/>
        </p:nvSpPr>
        <p:spPr>
          <a:xfrm>
            <a:off x="4612538"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Unequal arms (m </a:t>
            </a:r>
            <a:r>
              <a:rPr sz="1800" b="1" i="0">
                <a:solidFill>
                  <a:srgbClr val="FFFFFF"/>
                </a:solidFill>
                <a:latin typeface="Cambria Math"/>
              </a:rPr>
              <a:t>≫</a:t>
            </a:r>
            <a:r>
              <a:rPr sz="1800" b="1" i="0">
                <a:solidFill>
                  <a:srgbClr val="FFFFFF"/>
                </a:solidFill>
                <a:latin typeface="Calibri"/>
              </a:rPr>
              <a:t> 1): less signal, much better linearity</a:t>
            </a:r>
          </a:p>
        </p:txBody>
      </p:sp>
      <p:sp>
        <p:nvSpPr>
          <p:cNvPr id="11" name="Takeaway card"/>
          <p:cNvSpPr/>
          <p:nvPr/>
        </p:nvSpPr>
        <p:spPr>
          <a:xfrm>
            <a:off x="8127796"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2116"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3</a:t>
            </a:r>
          </a:p>
        </p:txBody>
      </p:sp>
      <p:sp>
        <p:nvSpPr>
          <p:cNvPr id="13" name="Takeaway"/>
          <p:cNvSpPr txBox="1"/>
          <p:nvPr/>
        </p:nvSpPr>
        <p:spPr>
          <a:xfrm>
            <a:off x="8402116"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Read the bridge differentially: buffers + difference amp</a:t>
            </a:r>
          </a:p>
        </p:txBody>
      </p:sp>
      <p:sp>
        <p:nvSpPr>
          <p:cNvPr id="14" name="Footer"/>
          <p:cNvSpPr txBox="1"/>
          <p:nvPr/>
        </p:nvSpPr>
        <p:spPr>
          <a:xfrm>
            <a:off x="548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FFFFFF"/>
                </a:solidFill>
                <a:latin typeface="Calibri"/>
              </a:rPr>
              <a:t>Electronic Circuit Design  ·  Bridge Circuits</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FFFFFF"/>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WHEATSTONE BRIDGE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Two dividers, one difference</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two-voltage-dividers-1.png"/>
          <p:cNvPicPr>
            <a:picLocks noChangeAspect="1"/>
          </p:cNvPicPr>
          <p:nvPr/>
        </p:nvPicPr>
        <p:blipFill>
          <a:blip r:embed="rId2"/>
          <a:stretch>
            <a:fillRect/>
          </a:stretch>
        </p:blipFill>
        <p:spPr>
          <a:xfrm>
            <a:off x="6876288" y="2432423"/>
            <a:ext cx="4565599" cy="2578368"/>
          </a:xfrm>
          <a:prstGeom prst="rect">
            <a:avLst/>
          </a:prstGeom>
        </p:spPr>
      </p:pic>
      <p:sp>
        <p:nvSpPr>
          <p:cNvPr id="6" name="Falstad wheatstone">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wheatstone">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bridges/wheatstone</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Move the Rx slider: 1010 Ω gives 12.44 mV, 1500 Ω gives 0.500 V</a:t>
            </a:r>
          </a:p>
        </p:txBody>
      </p:sp>
      <p:sp>
        <p:nvSpPr>
          <p:cNvPr id="11" name="Bullets"/>
          <p:cNvSpPr txBox="1"/>
          <p:nvPr/>
        </p:nvSpPr>
        <p:spPr>
          <a:xfrm>
            <a:off x="548640" y="1298448"/>
            <a:ext cx="5806440" cy="2715767"/>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900" b="0" i="0">
                <a:solidFill>
                  <a:srgbClr val="23232B"/>
                </a:solidFill>
                <a:latin typeface="Calibri"/>
              </a:rPr>
              <a:t>V</a:t>
            </a:r>
            <a:r>
              <a:rPr sz="1900" b="0" i="0" baseline="-25000">
                <a:solidFill>
                  <a:srgbClr val="23232B"/>
                </a:solidFill>
                <a:latin typeface="Calibri"/>
              </a:rPr>
              <a:t>d</a:t>
            </a:r>
            <a:r>
              <a:rPr sz="1900" b="0" i="0">
                <a:solidFill>
                  <a:srgbClr val="23232B"/>
                </a:solidFill>
                <a:latin typeface="Calibri"/>
              </a:rPr>
              <a:t> = V</a:t>
            </a:r>
            <a:r>
              <a:rPr sz="1900" b="0" i="0" baseline="-25000">
                <a:solidFill>
                  <a:srgbClr val="23232B"/>
                </a:solidFill>
                <a:latin typeface="Calibri"/>
              </a:rPr>
              <a:t>A</a:t>
            </a:r>
            <a:r>
              <a:rPr sz="1900" b="0" i="0">
                <a:solidFill>
                  <a:srgbClr val="23232B"/>
                </a:solidFill>
                <a:latin typeface="Calibri"/>
              </a:rPr>
              <a:t> − V</a:t>
            </a:r>
            <a:r>
              <a:rPr sz="1900" b="0" i="0" baseline="-25000">
                <a:solidFill>
                  <a:srgbClr val="23232B"/>
                </a:solidFill>
                <a:latin typeface="Calibri"/>
              </a:rPr>
              <a:t>B</a:t>
            </a:r>
            <a:r>
              <a:rPr sz="1900" b="0" i="0">
                <a:solidFill>
                  <a:srgbClr val="23232B"/>
                </a:solidFill>
                <a:latin typeface="Calibri"/>
              </a:rPr>
              <a:t>: difference of two divider taps, neither at ground</a:t>
            </a:r>
          </a:p>
          <a:p>
            <a:pPr algn="l" marL="274320" indent="-274320">
              <a:lnSpc>
                <a:spcPct val="100000"/>
              </a:lnSpc>
              <a:spcAft>
                <a:spcPts val="1000"/>
              </a:spcAft>
              <a:buClr>
                <a:srgbClr val="00A9CE"/>
              </a:buClr>
              <a:buFont typeface="Arial"/>
              <a:buChar char="•"/>
            </a:pPr>
            <a:r>
              <a:rPr sz="1900" b="0" i="0">
                <a:solidFill>
                  <a:srgbClr val="23232B"/>
                </a:solidFill>
                <a:latin typeface="Calibri"/>
              </a:rPr>
              <a:t>Balanced (V</a:t>
            </a:r>
            <a:r>
              <a:rPr sz="1900" b="0" i="0" baseline="-25000">
                <a:solidFill>
                  <a:srgbClr val="23232B"/>
                </a:solidFill>
                <a:latin typeface="Calibri"/>
              </a:rPr>
              <a:t>d</a:t>
            </a:r>
            <a:r>
              <a:rPr sz="1900" b="0" i="0">
                <a:solidFill>
                  <a:srgbClr val="23232B"/>
                </a:solidFill>
                <a:latin typeface="Calibri"/>
              </a:rPr>
              <a:t> = 0) independent of V</a:t>
            </a:r>
            <a:r>
              <a:rPr sz="1900" b="0" i="0" baseline="-25000">
                <a:solidFill>
                  <a:srgbClr val="23232B"/>
                </a:solidFill>
                <a:latin typeface="Calibri"/>
              </a:rPr>
              <a:t>B</a:t>
            </a:r>
            <a:r>
              <a:rPr sz="1900" b="0" i="0">
                <a:solidFill>
                  <a:srgbClr val="23232B"/>
                </a:solidFill>
                <a:latin typeface="Calibri"/>
              </a:rPr>
              <a:t>: supply drift cancels at balance</a:t>
            </a:r>
          </a:p>
          <a:p>
            <a:pPr algn="l" marL="274320" indent="-274320">
              <a:lnSpc>
                <a:spcPct val="100000"/>
              </a:lnSpc>
              <a:spcAft>
                <a:spcPts val="1000"/>
              </a:spcAft>
              <a:buClr>
                <a:srgbClr val="00A9CE"/>
              </a:buClr>
              <a:buFont typeface="Arial"/>
              <a:buChar char="•"/>
            </a:pPr>
            <a:r>
              <a:rPr sz="1900" b="0" i="0">
                <a:solidFill>
                  <a:srgbClr val="23232B"/>
                </a:solidFill>
                <a:latin typeface="Calibri"/>
              </a:rPr>
              <a:t>Null method: adjust a known R until V</a:t>
            </a:r>
            <a:r>
              <a:rPr sz="1900" b="0" i="0" baseline="-25000">
                <a:solidFill>
                  <a:srgbClr val="23232B"/>
                </a:solidFill>
                <a:latin typeface="Calibri"/>
              </a:rPr>
              <a:t>d</a:t>
            </a:r>
            <a:r>
              <a:rPr sz="1900" b="0" i="0">
                <a:solidFill>
                  <a:srgbClr val="23232B"/>
                </a:solidFill>
                <a:latin typeface="Calibri"/>
              </a:rPr>
              <a:t> = 0 (classic Wheatstone)</a:t>
            </a:r>
          </a:p>
          <a:p>
            <a:pPr algn="l" marL="274320" indent="-274320">
              <a:lnSpc>
                <a:spcPct val="100000"/>
              </a:lnSpc>
              <a:spcAft>
                <a:spcPts val="1000"/>
              </a:spcAft>
              <a:buClr>
                <a:srgbClr val="00A9CE"/>
              </a:buClr>
              <a:buFont typeface="Arial"/>
              <a:buChar char="•"/>
            </a:pPr>
            <a:r>
              <a:rPr sz="1900" b="0" i="0">
                <a:solidFill>
                  <a:srgbClr val="23232B"/>
                </a:solidFill>
                <a:latin typeface="Calibri"/>
              </a:rPr>
              <a:t>Deflection method: fixed R, balanced at the reference point, measure V</a:t>
            </a:r>
            <a:r>
              <a:rPr sz="1900" b="0" i="0" baseline="-25000">
                <a:solidFill>
                  <a:srgbClr val="23232B"/>
                </a:solidFill>
                <a:latin typeface="Calibri"/>
              </a:rPr>
              <a:t>d</a:t>
            </a:r>
          </a:p>
        </p:txBody>
      </p:sp>
      <p:sp>
        <p:nvSpPr>
          <p:cNvPr id="12" name="Key rule"/>
          <p:cNvSpPr/>
          <p:nvPr/>
        </p:nvSpPr>
        <p:spPr>
          <a:xfrm>
            <a:off x="548640" y="4334255"/>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4443983"/>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718303"/>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Balance: R</a:t>
            </a:r>
            <a:r>
              <a:rPr sz="1700" b="1" i="0" baseline="-25000">
                <a:solidFill>
                  <a:srgbClr val="4E2A8C"/>
                </a:solidFill>
                <a:latin typeface="Calibri"/>
              </a:rPr>
              <a:t>1</a:t>
            </a:r>
            <a:r>
              <a:rPr sz="1700" b="1" i="0">
                <a:solidFill>
                  <a:srgbClr val="4E2A8C"/>
                </a:solidFill>
                <a:latin typeface="Calibri"/>
              </a:rPr>
              <a:t>·R</a:t>
            </a:r>
            <a:r>
              <a:rPr sz="1700" b="1" i="0" baseline="-25000">
                <a:solidFill>
                  <a:srgbClr val="4E2A8C"/>
                </a:solidFill>
                <a:latin typeface="Calibri"/>
              </a:rPr>
              <a:t>4</a:t>
            </a:r>
            <a:r>
              <a:rPr sz="1700" b="1" i="0">
                <a:solidFill>
                  <a:srgbClr val="4E2A8C"/>
                </a:solidFill>
                <a:latin typeface="Calibri"/>
              </a:rPr>
              <a:t> = R</a:t>
            </a:r>
            <a:r>
              <a:rPr sz="1700" b="1" i="0" baseline="-25000">
                <a:solidFill>
                  <a:srgbClr val="4E2A8C"/>
                </a:solidFill>
                <a:latin typeface="Calibri"/>
              </a:rPr>
              <a:t>2</a:t>
            </a:r>
            <a:r>
              <a:rPr sz="1700" b="1" i="0">
                <a:solidFill>
                  <a:srgbClr val="4E2A8C"/>
                </a:solidFill>
                <a:latin typeface="Calibri"/>
              </a:rPr>
              <a:t>·R</a:t>
            </a:r>
            <a:r>
              <a:rPr sz="1700" b="1" i="0" baseline="-25000">
                <a:solidFill>
                  <a:srgbClr val="4E2A8C"/>
                </a:solidFill>
                <a:latin typeface="Calibri"/>
              </a:rPr>
              <a:t>3</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Bridge Circuits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OUTPUT VOLTAGE AND LINEARITY</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Quarter bridge: the output bends</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the-bridge-is-not-linear-1.png"/>
          <p:cNvPicPr>
            <a:picLocks noChangeAspect="1"/>
          </p:cNvPicPr>
          <p:nvPr/>
        </p:nvPicPr>
        <p:blipFill>
          <a:blip r:embed="rId2"/>
          <a:stretch>
            <a:fillRect/>
          </a:stretch>
        </p:blipFill>
        <p:spPr>
          <a:xfrm>
            <a:off x="6876288" y="2956319"/>
            <a:ext cx="4565599" cy="1530577"/>
          </a:xfrm>
          <a:prstGeom prst="rect">
            <a:avLst/>
          </a:prstGeom>
        </p:spPr>
      </p:pic>
      <p:sp>
        <p:nvSpPr>
          <p:cNvPr id="6" name="Bullets"/>
          <p:cNvSpPr txBox="1"/>
          <p:nvPr/>
        </p:nvSpPr>
        <p:spPr>
          <a:xfrm>
            <a:off x="548640" y="1298448"/>
            <a:ext cx="5806440" cy="25603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One sensor R</a:t>
            </a:r>
            <a:r>
              <a:rPr sz="2000" b="0" i="0" baseline="-25000">
                <a:solidFill>
                  <a:srgbClr val="23232B"/>
                </a:solidFill>
                <a:latin typeface="Calibri"/>
              </a:rPr>
              <a:t>0</a:t>
            </a:r>
            <a:r>
              <a:rPr sz="2000" b="0" i="0">
                <a:solidFill>
                  <a:srgbClr val="23232B"/>
                </a:solidFill>
                <a:latin typeface="Calibri"/>
              </a:rPr>
              <a:t>(1+x), other arms R</a:t>
            </a:r>
            <a:r>
              <a:rPr sz="2000" b="0" i="0" baseline="-25000">
                <a:solidFill>
                  <a:srgbClr val="23232B"/>
                </a:solidFill>
                <a:latin typeface="Calibri"/>
              </a:rPr>
              <a:t>0</a:t>
            </a:r>
            <a:r>
              <a:rPr sz="2000" b="0" i="0">
                <a:solidFill>
                  <a:srgbClr val="23232B"/>
                </a:solidFill>
                <a:latin typeface="Calibri"/>
              </a:rPr>
              <a:t>: V</a:t>
            </a:r>
            <a:r>
              <a:rPr sz="2000" b="0" i="0" baseline="-25000">
                <a:solidFill>
                  <a:srgbClr val="23232B"/>
                </a:solidFill>
                <a:latin typeface="Calibri"/>
              </a:rPr>
              <a:t>d</a:t>
            </a:r>
            <a:r>
              <a:rPr sz="2000" b="0" i="0">
                <a:solidFill>
                  <a:srgbClr val="23232B"/>
                </a:solidFill>
                <a:latin typeface="Calibri"/>
              </a:rPr>
              <a:t> = (V</a:t>
            </a:r>
            <a:r>
              <a:rPr sz="2000" b="0" i="0" baseline="-25000">
                <a:solidFill>
                  <a:srgbClr val="23232B"/>
                </a:solidFill>
                <a:latin typeface="Calibri"/>
              </a:rPr>
              <a:t>B</a:t>
            </a:r>
            <a:r>
              <a:rPr sz="2000" b="0" i="0">
                <a:solidFill>
                  <a:srgbClr val="23232B"/>
                </a:solidFill>
                <a:latin typeface="Calibri"/>
              </a:rPr>
              <a:t>/4)·x/(1+x/2)</a:t>
            </a:r>
          </a:p>
          <a:p>
            <a:pPr algn="l" marL="274320" indent="-274320">
              <a:lnSpc>
                <a:spcPct val="100000"/>
              </a:lnSpc>
              <a:spcAft>
                <a:spcPts val="1000"/>
              </a:spcAft>
              <a:buClr>
                <a:srgbClr val="00A9CE"/>
              </a:buClr>
              <a:buFont typeface="Arial"/>
              <a:buChar char="•"/>
            </a:pPr>
            <a:r>
              <a:rPr sz="2000" b="0" i="0">
                <a:solidFill>
                  <a:srgbClr val="23232B"/>
                </a:solidFill>
                <a:latin typeface="Calibri"/>
              </a:rPr>
              <a:t>Relative error of the linear formula ≈ −x/2</a:t>
            </a:r>
          </a:p>
          <a:p>
            <a:pPr algn="l" marL="274320" indent="-274320">
              <a:lnSpc>
                <a:spcPct val="100000"/>
              </a:lnSpc>
              <a:spcAft>
                <a:spcPts val="1000"/>
              </a:spcAft>
              <a:buClr>
                <a:srgbClr val="00A9CE"/>
              </a:buClr>
              <a:buFont typeface="Arial"/>
              <a:buChar char="•"/>
            </a:pPr>
            <a:r>
              <a:rPr sz="2000" b="0" i="0">
                <a:solidFill>
                  <a:srgbClr val="23232B"/>
                </a:solidFill>
                <a:latin typeface="Calibri"/>
              </a:rPr>
              <a:t>Strain gauge (x &lt; 0.5 %): negligible; Pt100 over 100 K (x = 38.5 %): 16 %</a:t>
            </a:r>
          </a:p>
          <a:p>
            <a:pPr algn="l" marL="274320" indent="-274320">
              <a:lnSpc>
                <a:spcPct val="100000"/>
              </a:lnSpc>
              <a:spcAft>
                <a:spcPts val="1000"/>
              </a:spcAft>
              <a:buClr>
                <a:srgbClr val="00A9CE"/>
              </a:buClr>
              <a:buFont typeface="Arial"/>
              <a:buChar char="•"/>
            </a:pPr>
            <a:r>
              <a:rPr sz="2000" b="0" i="0">
                <a:solidFill>
                  <a:srgbClr val="23232B"/>
                </a:solidFill>
                <a:latin typeface="Calibri"/>
              </a:rPr>
              <a:t>Cause: the current in the sensor leg changes with the sensor</a:t>
            </a:r>
          </a:p>
        </p:txBody>
      </p:sp>
      <p:sp>
        <p:nvSpPr>
          <p:cNvPr id="7" name="Key rule"/>
          <p:cNvSpPr/>
          <p:nvPr/>
        </p:nvSpPr>
        <p:spPr>
          <a:xfrm>
            <a:off x="548640" y="41788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42885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45628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d</a:t>
            </a:r>
            <a:r>
              <a:rPr sz="1700" b="1" i="0">
                <a:solidFill>
                  <a:srgbClr val="4E2A8C"/>
                </a:solidFill>
                <a:latin typeface="Calibri"/>
              </a:rPr>
              <a:t> ≈ (V</a:t>
            </a:r>
            <a:r>
              <a:rPr sz="1700" b="1" i="0" baseline="-25000">
                <a:solidFill>
                  <a:srgbClr val="4E2A8C"/>
                </a:solidFill>
                <a:latin typeface="Calibri"/>
              </a:rPr>
              <a:t>B</a:t>
            </a:r>
            <a:r>
              <a:rPr sz="1700" b="1" i="0">
                <a:solidFill>
                  <a:srgbClr val="4E2A8C"/>
                </a:solidFill>
                <a:latin typeface="Calibri"/>
              </a:rPr>
              <a:t>/4)·ΔR/R</a:t>
            </a:r>
            <a:r>
              <a:rPr sz="1700" b="1" i="0" baseline="-25000">
                <a:solidFill>
                  <a:srgbClr val="4E2A8C"/>
                </a:solidFill>
                <a:latin typeface="Calibri"/>
              </a:rPr>
              <a:t>0</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Bridge Circuits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OUTPUT VOLTAGE AND LINEARITY</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Sensitivity vs. linearity: choose m</a:t>
            </a:r>
          </a:p>
        </p:txBody>
      </p:sp>
      <p:sp>
        <p:nvSpPr>
          <p:cNvPr id="4" name="Compare card"/>
          <p:cNvSpPr/>
          <p:nvPr/>
        </p:nvSpPr>
        <p:spPr>
          <a:xfrm>
            <a:off x="548640" y="1298448"/>
            <a:ext cx="5364327" cy="2402840"/>
          </a:xfrm>
          <a:prstGeom prst="roundRect">
            <a:avLst>
              <a:gd name="adj" fmla="val 5327"/>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868680"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6638B6"/>
                </a:solidFill>
                <a:latin typeface="Calibri"/>
              </a:rPr>
              <a:t>Equal arms (m = 1)</a:t>
            </a:r>
          </a:p>
        </p:txBody>
      </p:sp>
      <p:sp>
        <p:nvSpPr>
          <p:cNvPr id="6" name="Card bullets"/>
          <p:cNvSpPr txBox="1"/>
          <p:nvPr/>
        </p:nvSpPr>
        <p:spPr>
          <a:xfrm>
            <a:off x="868680" y="2167128"/>
            <a:ext cx="4724247" cy="13512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Max. sensitivity V</a:t>
            </a:r>
            <a:r>
              <a:rPr sz="2000" b="0" i="0" baseline="-25000">
                <a:solidFill>
                  <a:srgbClr val="23232B"/>
                </a:solidFill>
                <a:latin typeface="Calibri"/>
              </a:rPr>
              <a:t>B</a:t>
            </a:r>
            <a:r>
              <a:rPr sz="2000" b="0" i="0">
                <a:solidFill>
                  <a:srgbClr val="23232B"/>
                </a:solidFill>
                <a:latin typeface="Calibri"/>
              </a:rPr>
              <a:t>/4 per unit x</a:t>
            </a:r>
          </a:p>
          <a:p>
            <a:pPr algn="l" marL="274320" indent="-274320">
              <a:lnSpc>
                <a:spcPct val="100000"/>
              </a:lnSpc>
              <a:spcAft>
                <a:spcPts val="1000"/>
              </a:spcAft>
              <a:buClr>
                <a:srgbClr val="00A9CE"/>
              </a:buClr>
              <a:buFont typeface="Arial"/>
              <a:buChar char="•"/>
            </a:pPr>
            <a:r>
              <a:rPr sz="2000" b="0" i="0">
                <a:solidFill>
                  <a:srgbClr val="23232B"/>
                </a:solidFill>
                <a:latin typeface="Calibri"/>
              </a:rPr>
              <a:t>Nonlinearity ≈ −x/2</a:t>
            </a:r>
          </a:p>
          <a:p>
            <a:pPr algn="l" marL="274320" indent="-274320">
              <a:lnSpc>
                <a:spcPct val="100000"/>
              </a:lnSpc>
              <a:spcAft>
                <a:spcPts val="1000"/>
              </a:spcAft>
              <a:buClr>
                <a:srgbClr val="00A9CE"/>
              </a:buClr>
              <a:buFont typeface="Arial"/>
              <a:buChar char="•"/>
            </a:pPr>
            <a:r>
              <a:rPr sz="2000" b="0" i="0">
                <a:solidFill>
                  <a:srgbClr val="23232B"/>
                </a:solidFill>
                <a:latin typeface="Calibri"/>
              </a:rPr>
              <a:t>High sensor current, self-heating</a:t>
            </a:r>
          </a:p>
        </p:txBody>
      </p:sp>
      <p:sp>
        <p:nvSpPr>
          <p:cNvPr id="7" name="Compare card"/>
          <p:cNvSpPr/>
          <p:nvPr/>
        </p:nvSpPr>
        <p:spPr>
          <a:xfrm>
            <a:off x="6278727" y="1298448"/>
            <a:ext cx="5364327" cy="2402840"/>
          </a:xfrm>
          <a:prstGeom prst="roundRect">
            <a:avLst>
              <a:gd name="adj" fmla="val 5327"/>
            </a:avLst>
          </a:prstGeom>
          <a:solidFill>
            <a:srgbClr val="E5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6598767"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007F9B"/>
                </a:solidFill>
                <a:latin typeface="Calibri"/>
              </a:rPr>
              <a:t>Unequal arms (m = 39)</a:t>
            </a:r>
          </a:p>
        </p:txBody>
      </p:sp>
      <p:sp>
        <p:nvSpPr>
          <p:cNvPr id="9" name="Card bullets"/>
          <p:cNvSpPr txBox="1"/>
          <p:nvPr/>
        </p:nvSpPr>
        <p:spPr>
          <a:xfrm>
            <a:off x="6598767" y="2167128"/>
            <a:ext cx="4724247" cy="13512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Sensitivity m/(m+1)</a:t>
            </a:r>
            <a:r>
              <a:rPr sz="2000" b="0" i="0" baseline="30000">
                <a:solidFill>
                  <a:srgbClr val="23232B"/>
                </a:solidFill>
                <a:latin typeface="Calibri"/>
              </a:rPr>
              <a:t>2</a:t>
            </a:r>
            <a:r>
              <a:rPr sz="2000" b="0" i="0">
                <a:solidFill>
                  <a:srgbClr val="23232B"/>
                </a:solidFill>
                <a:latin typeface="Calibri"/>
              </a:rPr>
              <a:t> = 0.024</a:t>
            </a:r>
          </a:p>
          <a:p>
            <a:pPr algn="l" marL="274320" indent="-274320">
              <a:lnSpc>
                <a:spcPct val="100000"/>
              </a:lnSpc>
              <a:spcAft>
                <a:spcPts val="1000"/>
              </a:spcAft>
              <a:buClr>
                <a:srgbClr val="00A9CE"/>
              </a:buClr>
              <a:buFont typeface="Arial"/>
              <a:buChar char="•"/>
            </a:pPr>
            <a:r>
              <a:rPr sz="2000" b="0" i="0">
                <a:solidFill>
                  <a:srgbClr val="23232B"/>
                </a:solidFill>
                <a:latin typeface="Calibri"/>
              </a:rPr>
              <a:t>Nonlinearity ≈ −x/(m+1): 20× smaller</a:t>
            </a:r>
          </a:p>
          <a:p>
            <a:pPr algn="l" marL="274320" indent="-274320">
              <a:lnSpc>
                <a:spcPct val="100000"/>
              </a:lnSpc>
              <a:spcAft>
                <a:spcPts val="1000"/>
              </a:spcAft>
              <a:buClr>
                <a:srgbClr val="00A9CE"/>
              </a:buClr>
              <a:buFont typeface="Arial"/>
              <a:buChar char="•"/>
            </a:pPr>
            <a:r>
              <a:rPr sz="2000" b="0" i="0">
                <a:solidFill>
                  <a:srgbClr val="23232B"/>
                </a:solidFill>
                <a:latin typeface="Calibri"/>
              </a:rPr>
              <a:t>Sensor leg acts like a current source</a:t>
            </a:r>
          </a:p>
        </p:txBody>
      </p:sp>
      <p:pic>
        <p:nvPicPr>
          <p:cNvPr id="10"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Bridge Circuits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HALF AND FULL BRIDGES: STRAIN GAUGES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Strain gauges: quarter, half, full bridge</a:t>
            </a:r>
          </a:p>
        </p:txBody>
      </p:sp>
      <p:sp>
        <p:nvSpPr>
          <p:cNvPr id="4" name="Falstad bridge_types">
            <a:hlinkClick r:id="rId2"/>
          </p:cNvPr>
          <p:cNvSpPr/>
          <p:nvPr/>
        </p:nvSpPr>
        <p:spPr>
          <a:xfrm>
            <a:off x="548640" y="5434584"/>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lstad link bridge_types">
            <a:hlinkClick r:id="rId2"/>
          </p:cNvPr>
          <p:cNvSpPr txBox="1"/>
          <p:nvPr/>
        </p:nvSpPr>
        <p:spPr>
          <a:xfrm>
            <a:off x="1234440" y="5544312"/>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bridges/bridge_types</a:t>
            </a:r>
          </a:p>
        </p:txBody>
      </p:sp>
      <p:sp>
        <p:nvSpPr>
          <p:cNvPr id="8" name="Falstad hint"/>
          <p:cNvSpPr txBox="1"/>
          <p:nvPr/>
        </p:nvSpPr>
        <p:spPr>
          <a:xfrm>
            <a:off x="1234440" y="5818632"/>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Compare the three voltmeters: 2.50 mV, 5.00 mV, 10.0 mV</a:t>
            </a:r>
          </a:p>
        </p:txBody>
      </p:sp>
      <p:sp>
        <p:nvSpPr>
          <p:cNvPr id="9" name="Bullets"/>
          <p:cNvSpPr txBox="1"/>
          <p:nvPr/>
        </p:nvSpPr>
        <p:spPr>
          <a:xfrm>
            <a:off x="548640" y="1298448"/>
            <a:ext cx="11094415" cy="3861815"/>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Gauge factor k ≈ 2: x = k·ε; 1000 µm/m gives only 0.2 % ΔR</a:t>
            </a:r>
          </a:p>
          <a:p>
            <a:pPr algn="l" marL="274320" indent="-274320">
              <a:lnSpc>
                <a:spcPct val="100000"/>
              </a:lnSpc>
              <a:spcAft>
                <a:spcPts val="1000"/>
              </a:spcAft>
              <a:buClr>
                <a:srgbClr val="00A9CE"/>
              </a:buClr>
              <a:buFont typeface="Arial"/>
              <a:buChar char="•"/>
            </a:pPr>
            <a:r>
              <a:rPr sz="2000" b="0" i="0">
                <a:solidFill>
                  <a:srgbClr val="23232B"/>
                </a:solidFill>
                <a:latin typeface="Calibri"/>
              </a:rPr>
              <a:t>Quarter: V</a:t>
            </a:r>
            <a:r>
              <a:rPr sz="2000" b="0" i="0" baseline="-25000">
                <a:solidFill>
                  <a:srgbClr val="23232B"/>
                </a:solidFill>
                <a:latin typeface="Calibri"/>
              </a:rPr>
              <a:t>d</a:t>
            </a:r>
            <a:r>
              <a:rPr sz="2000" b="0" i="0">
                <a:solidFill>
                  <a:srgbClr val="23232B"/>
                </a:solidFill>
                <a:latin typeface="Calibri"/>
              </a:rPr>
              <a:t> ≈ V</a:t>
            </a:r>
            <a:r>
              <a:rPr sz="2000" b="0" i="0" baseline="-25000">
                <a:solidFill>
                  <a:srgbClr val="23232B"/>
                </a:solidFill>
                <a:latin typeface="Calibri"/>
              </a:rPr>
              <a:t>B</a:t>
            </a:r>
            <a:r>
              <a:rPr sz="2000" b="0" i="0">
                <a:solidFill>
                  <a:srgbClr val="23232B"/>
                </a:solidFill>
                <a:latin typeface="Calibri"/>
              </a:rPr>
              <a:t>·x/4, half: V</a:t>
            </a:r>
            <a:r>
              <a:rPr sz="2000" b="0" i="0" baseline="-25000">
                <a:solidFill>
                  <a:srgbClr val="23232B"/>
                </a:solidFill>
                <a:latin typeface="Calibri"/>
              </a:rPr>
              <a:t>B</a:t>
            </a:r>
            <a:r>
              <a:rPr sz="2000" b="0" i="0">
                <a:solidFill>
                  <a:srgbClr val="23232B"/>
                </a:solidFill>
                <a:latin typeface="Calibri"/>
              </a:rPr>
              <a:t>·x/2, full: V</a:t>
            </a:r>
            <a:r>
              <a:rPr sz="2000" b="0" i="0" baseline="-25000">
                <a:solidFill>
                  <a:srgbClr val="23232B"/>
                </a:solidFill>
                <a:latin typeface="Calibri"/>
              </a:rPr>
              <a:t>B</a:t>
            </a:r>
            <a:r>
              <a:rPr sz="2000" b="0" i="0">
                <a:solidFill>
                  <a:srgbClr val="23232B"/>
                </a:solidFill>
                <a:latin typeface="Calibri"/>
              </a:rPr>
              <a:t>·x</a:t>
            </a:r>
          </a:p>
          <a:p>
            <a:pPr algn="l" marL="274320" indent="-274320">
              <a:lnSpc>
                <a:spcPct val="100000"/>
              </a:lnSpc>
              <a:spcAft>
                <a:spcPts val="1000"/>
              </a:spcAft>
              <a:buClr>
                <a:srgbClr val="00A9CE"/>
              </a:buClr>
              <a:buFont typeface="Arial"/>
              <a:buChar char="•"/>
            </a:pPr>
            <a:r>
              <a:rPr sz="2000" b="0" i="0">
                <a:solidFill>
                  <a:srgbClr val="23232B"/>
                </a:solidFill>
                <a:latin typeface="Calibri"/>
              </a:rPr>
              <a:t>Half and full bridge are exactly linear: the leg current stays constant</a:t>
            </a:r>
          </a:p>
          <a:p>
            <a:pPr algn="l" marL="274320" indent="-274320">
              <a:lnSpc>
                <a:spcPct val="100000"/>
              </a:lnSpc>
              <a:spcAft>
                <a:spcPts val="1000"/>
              </a:spcAft>
              <a:buClr>
                <a:srgbClr val="00A9CE"/>
              </a:buClr>
              <a:buFont typeface="Arial"/>
              <a:buChar char="•"/>
            </a:pPr>
            <a:r>
              <a:rPr sz="2000" b="0" i="0">
                <a:solidFill>
                  <a:srgbClr val="23232B"/>
                </a:solidFill>
                <a:latin typeface="Calibri"/>
              </a:rPr>
              <a:t>Temperature changes all gauges equally: compensated</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Bridge Circuits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RESISTIVE TEMPERATURE SENSORS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Platinum sensors Pt100 and Pt1000</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pt100-characteristic-1.png"/>
          <p:cNvPicPr>
            <a:picLocks noChangeAspect="1"/>
          </p:cNvPicPr>
          <p:nvPr/>
        </p:nvPicPr>
        <p:blipFill>
          <a:blip r:embed="rId2"/>
          <a:stretch>
            <a:fillRect/>
          </a:stretch>
        </p:blipFill>
        <p:spPr>
          <a:xfrm>
            <a:off x="6876288" y="2880995"/>
            <a:ext cx="4565599" cy="1681224"/>
          </a:xfrm>
          <a:prstGeom prst="rect">
            <a:avLst/>
          </a:prstGeom>
        </p:spPr>
      </p:pic>
      <p:sp>
        <p:nvSpPr>
          <p:cNvPr id="6" name="Bullets"/>
          <p:cNvSpPr txBox="1"/>
          <p:nvPr/>
        </p:nvSpPr>
        <p:spPr>
          <a:xfrm>
            <a:off x="548640" y="1298448"/>
            <a:ext cx="5806440" cy="25603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Pt100: 100 Ω at 0 °C, 138.5 Ω at 100 °C, 0.385 Ω/K</a:t>
            </a:r>
          </a:p>
          <a:p>
            <a:pPr algn="l" marL="274320" indent="-274320">
              <a:lnSpc>
                <a:spcPct val="100000"/>
              </a:lnSpc>
              <a:spcAft>
                <a:spcPts val="1000"/>
              </a:spcAft>
              <a:buClr>
                <a:srgbClr val="00A9CE"/>
              </a:buClr>
              <a:buFont typeface="Arial"/>
              <a:buChar char="•"/>
            </a:pPr>
            <a:r>
              <a:rPr sz="2000" b="0" i="0">
                <a:solidFill>
                  <a:srgbClr val="23232B"/>
                </a:solidFill>
                <a:latin typeface="Calibri"/>
              </a:rPr>
              <a:t>Linear model good to 0.4 K over 0 … 100 °C; Callendar–Van Dusen beyond</a:t>
            </a:r>
          </a:p>
          <a:p>
            <a:pPr algn="l" marL="274320" indent="-274320">
              <a:lnSpc>
                <a:spcPct val="100000"/>
              </a:lnSpc>
              <a:spcAft>
                <a:spcPts val="1000"/>
              </a:spcAft>
              <a:buClr>
                <a:srgbClr val="00A9CE"/>
              </a:buClr>
              <a:buFont typeface="Arial"/>
              <a:buChar char="•"/>
            </a:pPr>
            <a:r>
              <a:rPr sz="2000" b="0" i="0">
                <a:solidFill>
                  <a:srgbClr val="23232B"/>
                </a:solidFill>
                <a:latin typeface="Calibri"/>
              </a:rPr>
              <a:t>Class B: ±(0.3 K + 0.005·|T|), class A: ±(0.15 K + 0.002·|T|)</a:t>
            </a:r>
          </a:p>
          <a:p>
            <a:pPr algn="l" marL="274320" indent="-274320">
              <a:lnSpc>
                <a:spcPct val="100000"/>
              </a:lnSpc>
              <a:spcAft>
                <a:spcPts val="1000"/>
              </a:spcAft>
              <a:buClr>
                <a:srgbClr val="00A9CE"/>
              </a:buClr>
              <a:buFont typeface="Arial"/>
              <a:buChar char="•"/>
            </a:pPr>
            <a:r>
              <a:rPr sz="2000" b="0" i="0">
                <a:solidFill>
                  <a:srgbClr val="23232B"/>
                </a:solidFill>
                <a:latin typeface="Calibri"/>
              </a:rPr>
              <a:t>Self-heating ΔT = E·I</a:t>
            </a:r>
            <a:r>
              <a:rPr sz="2000" b="0" i="0" baseline="30000">
                <a:solidFill>
                  <a:srgbClr val="23232B"/>
                </a:solidFill>
                <a:latin typeface="Calibri"/>
              </a:rPr>
              <a:t>2</a:t>
            </a:r>
            <a:r>
              <a:rPr sz="2000" b="0" i="0">
                <a:solidFill>
                  <a:srgbClr val="23232B"/>
                </a:solidFill>
                <a:latin typeface="Calibri"/>
              </a:rPr>
              <a:t>·R: Pt100 ≤ 1 mA, Pt1000 ≤ 0.3 mA</a:t>
            </a:r>
          </a:p>
        </p:txBody>
      </p:sp>
      <p:sp>
        <p:nvSpPr>
          <p:cNvPr id="7" name="Key rule"/>
          <p:cNvSpPr/>
          <p:nvPr/>
        </p:nvSpPr>
        <p:spPr>
          <a:xfrm>
            <a:off x="548640" y="41788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42885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45628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R(T) = R</a:t>
            </a:r>
            <a:r>
              <a:rPr sz="1700" b="1" i="0" baseline="-25000">
                <a:solidFill>
                  <a:srgbClr val="4E2A8C"/>
                </a:solidFill>
                <a:latin typeface="Calibri"/>
              </a:rPr>
              <a:t>0</a:t>
            </a:r>
            <a:r>
              <a:rPr sz="1700" b="1" i="0">
                <a:solidFill>
                  <a:srgbClr val="4E2A8C"/>
                </a:solidFill>
                <a:latin typeface="Calibri"/>
              </a:rPr>
              <a:t>·(1 + α·T), α = 3.85·10</a:t>
            </a:r>
            <a:r>
              <a:rPr sz="1700" b="1" i="0" baseline="30000">
                <a:solidFill>
                  <a:srgbClr val="4E2A8C"/>
                </a:solidFill>
                <a:latin typeface="Calibri"/>
              </a:rPr>
              <a:t>-3</a:t>
            </a:r>
            <a:r>
              <a:rPr sz="1700" b="1" i="0">
                <a:solidFill>
                  <a:srgbClr val="4E2A8C"/>
                </a:solidFill>
                <a:latin typeface="Calibri"/>
              </a:rPr>
              <a:t>/K</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Bridge Circuits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RESISTIVE TEMPERATURE SENSORS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Platinum RTD vs. NTC thermistor</a:t>
            </a:r>
          </a:p>
        </p:txBody>
      </p:sp>
      <p:sp>
        <p:nvSpPr>
          <p:cNvPr id="4" name="Figure panel"/>
          <p:cNvSpPr/>
          <p:nvPr/>
        </p:nvSpPr>
        <p:spPr>
          <a:xfrm>
            <a:off x="6903719" y="1298448"/>
            <a:ext cx="4739335" cy="4846320"/>
          </a:xfrm>
          <a:prstGeom prst="roundRect">
            <a:avLst>
              <a:gd name="adj" fmla="val 2315"/>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ntc-thermistors-1.png"/>
          <p:cNvPicPr>
            <a:picLocks noChangeAspect="1"/>
          </p:cNvPicPr>
          <p:nvPr/>
        </p:nvPicPr>
        <p:blipFill>
          <a:blip r:embed="rId2"/>
          <a:stretch>
            <a:fillRect/>
          </a:stretch>
        </p:blipFill>
        <p:spPr>
          <a:xfrm>
            <a:off x="7104888" y="2688880"/>
            <a:ext cx="4336999" cy="2065455"/>
          </a:xfrm>
          <a:prstGeom prst="rect">
            <a:avLst/>
          </a:prstGeom>
        </p:spPr>
      </p:pic>
      <p:sp>
        <p:nvSpPr>
          <p:cNvPr id="6" name="Compare card"/>
          <p:cNvSpPr/>
          <p:nvPr/>
        </p:nvSpPr>
        <p:spPr>
          <a:xfrm>
            <a:off x="548640" y="1298448"/>
            <a:ext cx="6035040" cy="2286000"/>
          </a:xfrm>
          <a:prstGeom prst="roundRect">
            <a:avLst>
              <a:gd name="adj" fmla="val 5600"/>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 head"/>
          <p:cNvSpPr txBox="1"/>
          <p:nvPr/>
        </p:nvSpPr>
        <p:spPr>
          <a:xfrm>
            <a:off x="868680" y="1572768"/>
            <a:ext cx="5394959"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6638B6"/>
                </a:solidFill>
                <a:latin typeface="Calibri"/>
              </a:rPr>
              <a:t>Pt100 / Pt1000</a:t>
            </a:r>
          </a:p>
        </p:txBody>
      </p:sp>
      <p:sp>
        <p:nvSpPr>
          <p:cNvPr id="8" name="Card bullets"/>
          <p:cNvSpPr txBox="1"/>
          <p:nvPr/>
        </p:nvSpPr>
        <p:spPr>
          <a:xfrm>
            <a:off x="868680" y="2167128"/>
            <a:ext cx="5394959" cy="123444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+0.39 %/K, nearly linear</a:t>
            </a:r>
          </a:p>
          <a:p>
            <a:pPr algn="l" marL="274320" indent="-274320">
              <a:lnSpc>
                <a:spcPct val="100000"/>
              </a:lnSpc>
              <a:spcAft>
                <a:spcPts val="1000"/>
              </a:spcAft>
              <a:buClr>
                <a:srgbClr val="00A9CE"/>
              </a:buClr>
              <a:buFont typeface="Arial"/>
              <a:buChar char="•"/>
            </a:pPr>
            <a:r>
              <a:rPr sz="2000" b="0" i="0">
                <a:solidFill>
                  <a:srgbClr val="23232B"/>
                </a:solidFill>
                <a:latin typeface="Calibri"/>
              </a:rPr>
              <a:t>Standardised, accurate, stable</a:t>
            </a:r>
          </a:p>
          <a:p>
            <a:pPr algn="l" marL="274320" indent="-274320">
              <a:lnSpc>
                <a:spcPct val="100000"/>
              </a:lnSpc>
              <a:spcAft>
                <a:spcPts val="1000"/>
              </a:spcAft>
              <a:buClr>
                <a:srgbClr val="00A9CE"/>
              </a:buClr>
              <a:buFont typeface="Arial"/>
              <a:buChar char="•"/>
            </a:pPr>
            <a:r>
              <a:rPr sz="2000" b="0" i="0">
                <a:solidFill>
                  <a:srgbClr val="23232B"/>
                </a:solidFill>
                <a:latin typeface="Calibri"/>
              </a:rPr>
              <a:t>Needs a bridge and gain</a:t>
            </a:r>
          </a:p>
        </p:txBody>
      </p:sp>
      <p:sp>
        <p:nvSpPr>
          <p:cNvPr id="9" name="Compare card"/>
          <p:cNvSpPr/>
          <p:nvPr/>
        </p:nvSpPr>
        <p:spPr>
          <a:xfrm>
            <a:off x="548640" y="3858768"/>
            <a:ext cx="6035040" cy="2286000"/>
          </a:xfrm>
          <a:prstGeom prst="roundRect">
            <a:avLst>
              <a:gd name="adj" fmla="val 5600"/>
            </a:avLst>
          </a:prstGeom>
          <a:solidFill>
            <a:srgbClr val="E5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head"/>
          <p:cNvSpPr txBox="1"/>
          <p:nvPr/>
        </p:nvSpPr>
        <p:spPr>
          <a:xfrm>
            <a:off x="868680" y="4133087"/>
            <a:ext cx="5394959"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007F9B"/>
                </a:solidFill>
                <a:latin typeface="Calibri"/>
              </a:rPr>
              <a:t>NTC thermistor</a:t>
            </a:r>
          </a:p>
        </p:txBody>
      </p:sp>
      <p:sp>
        <p:nvSpPr>
          <p:cNvPr id="11" name="Card bullets"/>
          <p:cNvSpPr txBox="1"/>
          <p:nvPr/>
        </p:nvSpPr>
        <p:spPr>
          <a:xfrm>
            <a:off x="868680" y="4727448"/>
            <a:ext cx="5394959" cy="123444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About −4.4 %/K at 25 °C: 10× more</a:t>
            </a:r>
          </a:p>
          <a:p>
            <a:pPr algn="l" marL="274320" indent="-274320">
              <a:lnSpc>
                <a:spcPct val="100000"/>
              </a:lnSpc>
              <a:spcAft>
                <a:spcPts val="1000"/>
              </a:spcAft>
              <a:buClr>
                <a:srgbClr val="00A9CE"/>
              </a:buClr>
              <a:buFont typeface="Arial"/>
              <a:buChar char="•"/>
            </a:pPr>
            <a:r>
              <a:rPr sz="2000" b="0" i="0">
                <a:solidFill>
                  <a:srgbClr val="23232B"/>
                </a:solidFill>
                <a:latin typeface="Calibri"/>
              </a:rPr>
              <a:t>Strongly nonlinear (exponential)</a:t>
            </a:r>
          </a:p>
          <a:p>
            <a:pPr algn="l" marL="274320" indent="-274320">
              <a:lnSpc>
                <a:spcPct val="100000"/>
              </a:lnSpc>
              <a:spcAft>
                <a:spcPts val="1000"/>
              </a:spcAft>
              <a:buClr>
                <a:srgbClr val="00A9CE"/>
              </a:buClr>
              <a:buFont typeface="Arial"/>
              <a:buChar char="•"/>
            </a:pPr>
            <a:r>
              <a:rPr sz="2000" b="0" i="0">
                <a:solidFill>
                  <a:srgbClr val="23232B"/>
                </a:solidFill>
                <a:latin typeface="Calibri"/>
              </a:rPr>
              <a:t>Cheap; linearise with R or a table</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Bridge Circuits</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DESIGNING THE SENSOR BRIDGE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Design recipe: sensor bridge</a:t>
            </a:r>
          </a:p>
        </p:txBody>
      </p:sp>
      <p:sp>
        <p:nvSpPr>
          <p:cNvPr id="4" name="Figure panel"/>
          <p:cNvSpPr/>
          <p:nvPr/>
        </p:nvSpPr>
        <p:spPr>
          <a:xfrm>
            <a:off x="6903719" y="1298448"/>
            <a:ext cx="4739335" cy="4846320"/>
          </a:xfrm>
          <a:prstGeom prst="roundRect">
            <a:avLst>
              <a:gd name="adj" fmla="val 2315"/>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the-capstone-bridge-1.png"/>
          <p:cNvPicPr>
            <a:picLocks noChangeAspect="1"/>
          </p:cNvPicPr>
          <p:nvPr/>
        </p:nvPicPr>
        <p:blipFill>
          <a:blip r:embed="rId2"/>
          <a:stretch>
            <a:fillRect/>
          </a:stretch>
        </p:blipFill>
        <p:spPr>
          <a:xfrm>
            <a:off x="7104888" y="2298888"/>
            <a:ext cx="4336999" cy="2845438"/>
          </a:xfrm>
          <a:prstGeom prst="rect">
            <a:avLst/>
          </a:prstGeom>
        </p:spPr>
      </p:pic>
      <p:sp>
        <p:nvSpPr>
          <p:cNvPr id="6" name="Step 1"/>
          <p:cNvSpPr/>
          <p:nvPr/>
        </p:nvSpPr>
        <p:spPr>
          <a:xfrm>
            <a:off x="548640" y="1344168"/>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44168"/>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1</a:t>
            </a:r>
          </a:p>
        </p:txBody>
      </p:sp>
      <p:sp>
        <p:nvSpPr>
          <p:cNvPr id="8" name="Step text 1"/>
          <p:cNvSpPr txBox="1"/>
          <p:nvPr/>
        </p:nvSpPr>
        <p:spPr>
          <a:xfrm>
            <a:off x="1280160" y="1298448"/>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Excite from the ADC reference (ratiometric): here V</a:t>
            </a:r>
            <a:r>
              <a:rPr sz="2000" b="0" i="0" baseline="-25000">
                <a:solidFill>
                  <a:srgbClr val="23232B"/>
                </a:solidFill>
                <a:latin typeface="Calibri"/>
              </a:rPr>
              <a:t>ref</a:t>
            </a:r>
            <a:r>
              <a:rPr sz="2000" b="0" i="0">
                <a:solidFill>
                  <a:srgbClr val="23232B"/>
                </a:solidFill>
                <a:latin typeface="Calibri"/>
              </a:rPr>
              <a:t> = 4.00 V</a:t>
            </a:r>
          </a:p>
        </p:txBody>
      </p:sp>
      <p:sp>
        <p:nvSpPr>
          <p:cNvPr id="9" name="Step 2"/>
          <p:cNvSpPr/>
          <p:nvPr/>
        </p:nvSpPr>
        <p:spPr>
          <a:xfrm>
            <a:off x="548640" y="2154936"/>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54936"/>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2</a:t>
            </a:r>
          </a:p>
        </p:txBody>
      </p:sp>
      <p:sp>
        <p:nvSpPr>
          <p:cNvPr id="11" name="Step text 2"/>
          <p:cNvSpPr txBox="1"/>
          <p:nvPr/>
        </p:nvSpPr>
        <p:spPr>
          <a:xfrm>
            <a:off x="1280160" y="2240280"/>
            <a:ext cx="5166359"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R</a:t>
            </a:r>
            <a:r>
              <a:rPr sz="2000" b="0" i="0" baseline="-25000">
                <a:solidFill>
                  <a:srgbClr val="23232B"/>
                </a:solidFill>
                <a:latin typeface="Calibri"/>
              </a:rPr>
              <a:t>4</a:t>
            </a:r>
            <a:r>
              <a:rPr sz="2000" b="0" i="0">
                <a:solidFill>
                  <a:srgbClr val="23232B"/>
                </a:solidFill>
                <a:latin typeface="Calibri"/>
              </a:rPr>
              <a:t> = R</a:t>
            </a:r>
            <a:r>
              <a:rPr sz="2000" b="0" i="0" baseline="-25000">
                <a:solidFill>
                  <a:srgbClr val="23232B"/>
                </a:solidFill>
                <a:latin typeface="Calibri"/>
              </a:rPr>
              <a:t>sensor</a:t>
            </a:r>
            <a:r>
              <a:rPr sz="2000" b="0" i="0">
                <a:solidFill>
                  <a:srgbClr val="23232B"/>
                </a:solidFill>
                <a:latin typeface="Calibri"/>
              </a:rPr>
              <a:t>(T</a:t>
            </a:r>
            <a:r>
              <a:rPr sz="2000" b="0" i="0" baseline="-25000">
                <a:solidFill>
                  <a:srgbClr val="23232B"/>
                </a:solidFill>
                <a:latin typeface="Calibri"/>
              </a:rPr>
              <a:t>min</a:t>
            </a:r>
            <a:r>
              <a:rPr sz="2000" b="0" i="0">
                <a:solidFill>
                  <a:srgbClr val="23232B"/>
                </a:solidFill>
                <a:latin typeface="Calibri"/>
              </a:rPr>
              <a:t>): V</a:t>
            </a:r>
            <a:r>
              <a:rPr sz="2000" b="0" i="0" baseline="-25000">
                <a:solidFill>
                  <a:srgbClr val="23232B"/>
                </a:solidFill>
                <a:latin typeface="Calibri"/>
              </a:rPr>
              <a:t>d</a:t>
            </a:r>
            <a:r>
              <a:rPr sz="2000" b="0" i="0">
                <a:solidFill>
                  <a:srgbClr val="23232B"/>
                </a:solidFill>
                <a:latin typeface="Calibri"/>
              </a:rPr>
              <a:t> = 0 at T</a:t>
            </a:r>
            <a:r>
              <a:rPr sz="2000" b="0" i="0" baseline="-25000">
                <a:solidFill>
                  <a:srgbClr val="23232B"/>
                </a:solidFill>
                <a:latin typeface="Calibri"/>
              </a:rPr>
              <a:t>min</a:t>
            </a:r>
            <a:r>
              <a:rPr sz="2000" b="0" i="0">
                <a:solidFill>
                  <a:srgbClr val="23232B"/>
                </a:solidFill>
                <a:latin typeface="Calibri"/>
              </a:rPr>
              <a:t> (Pt100: R</a:t>
            </a:r>
            <a:r>
              <a:rPr sz="2000" b="0" i="0" baseline="-25000">
                <a:solidFill>
                  <a:srgbClr val="23232B"/>
                </a:solidFill>
                <a:latin typeface="Calibri"/>
              </a:rPr>
              <a:t>4</a:t>
            </a:r>
            <a:r>
              <a:rPr sz="2000" b="0" i="0">
                <a:solidFill>
                  <a:srgbClr val="23232B"/>
                </a:solidFill>
                <a:latin typeface="Calibri"/>
              </a:rPr>
              <a:t> = 100 Ω)</a:t>
            </a:r>
          </a:p>
        </p:txBody>
      </p:sp>
      <p:sp>
        <p:nvSpPr>
          <p:cNvPr id="12" name="Step 3"/>
          <p:cNvSpPr/>
          <p:nvPr/>
        </p:nvSpPr>
        <p:spPr>
          <a:xfrm>
            <a:off x="548640" y="2923031"/>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23031"/>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3</a:t>
            </a:r>
          </a:p>
        </p:txBody>
      </p:sp>
      <p:sp>
        <p:nvSpPr>
          <p:cNvPr id="14" name="Step text 3"/>
          <p:cNvSpPr txBox="1"/>
          <p:nvPr/>
        </p:nvSpPr>
        <p:spPr>
          <a:xfrm>
            <a:off x="1280160" y="2877312"/>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R</a:t>
            </a:r>
            <a:r>
              <a:rPr sz="2000" b="0" i="0" baseline="-25000">
                <a:solidFill>
                  <a:srgbClr val="23232B"/>
                </a:solidFill>
                <a:latin typeface="Calibri"/>
              </a:rPr>
              <a:t>1</a:t>
            </a:r>
            <a:r>
              <a:rPr sz="2000" b="0" i="0">
                <a:solidFill>
                  <a:srgbClr val="23232B"/>
                </a:solidFill>
                <a:latin typeface="Calibri"/>
              </a:rPr>
              <a:t> ≥ V</a:t>
            </a:r>
            <a:r>
              <a:rPr sz="2000" b="0" i="0" baseline="-25000">
                <a:solidFill>
                  <a:srgbClr val="23232B"/>
                </a:solidFill>
                <a:latin typeface="Calibri"/>
              </a:rPr>
              <a:t>B</a:t>
            </a:r>
            <a:r>
              <a:rPr sz="2000" b="0" i="0">
                <a:solidFill>
                  <a:srgbClr val="23232B"/>
                </a:solidFill>
                <a:latin typeface="Calibri"/>
              </a:rPr>
              <a:t>/I</a:t>
            </a:r>
            <a:r>
              <a:rPr sz="2000" b="0" i="0" baseline="-25000">
                <a:solidFill>
                  <a:srgbClr val="23232B"/>
                </a:solidFill>
                <a:latin typeface="Calibri"/>
              </a:rPr>
              <a:t>max</a:t>
            </a:r>
            <a:r>
              <a:rPr sz="2000" b="0" i="0">
                <a:solidFill>
                  <a:srgbClr val="23232B"/>
                </a:solidFill>
                <a:latin typeface="Calibri"/>
              </a:rPr>
              <a:t> − R</a:t>
            </a:r>
            <a:r>
              <a:rPr sz="2000" b="0" i="0" baseline="-25000">
                <a:solidFill>
                  <a:srgbClr val="23232B"/>
                </a:solidFill>
                <a:latin typeface="Calibri"/>
              </a:rPr>
              <a:t>sensor</a:t>
            </a:r>
            <a:r>
              <a:rPr sz="2000" b="0" i="0">
                <a:solidFill>
                  <a:srgbClr val="23232B"/>
                </a:solidFill>
                <a:latin typeface="Calibri"/>
              </a:rPr>
              <a:t>, next E-value; R</a:t>
            </a:r>
            <a:r>
              <a:rPr sz="2000" b="0" i="0" baseline="-25000">
                <a:solidFill>
                  <a:srgbClr val="23232B"/>
                </a:solidFill>
                <a:latin typeface="Calibri"/>
              </a:rPr>
              <a:t>3</a:t>
            </a:r>
            <a:r>
              <a:rPr sz="2000" b="0" i="0">
                <a:solidFill>
                  <a:srgbClr val="23232B"/>
                </a:solidFill>
                <a:latin typeface="Calibri"/>
              </a:rPr>
              <a:t> = R</a:t>
            </a:r>
            <a:r>
              <a:rPr sz="2000" b="0" i="0" baseline="-25000">
                <a:solidFill>
                  <a:srgbClr val="23232B"/>
                </a:solidFill>
                <a:latin typeface="Calibri"/>
              </a:rPr>
              <a:t>1</a:t>
            </a:r>
            <a:r>
              <a:rPr sz="2000" b="0" i="0">
                <a:solidFill>
                  <a:srgbClr val="23232B"/>
                </a:solidFill>
                <a:latin typeface="Calibri"/>
              </a:rPr>
              <a:t> (here 3.9 kΩ)</a:t>
            </a:r>
          </a:p>
        </p:txBody>
      </p:sp>
      <p:sp>
        <p:nvSpPr>
          <p:cNvPr id="15" name="Step 4"/>
          <p:cNvSpPr/>
          <p:nvPr/>
        </p:nvSpPr>
        <p:spPr>
          <a:xfrm>
            <a:off x="548640" y="3733799"/>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733799"/>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4</a:t>
            </a:r>
          </a:p>
        </p:txBody>
      </p:sp>
      <p:sp>
        <p:nvSpPr>
          <p:cNvPr id="17" name="Step text 4"/>
          <p:cNvSpPr txBox="1"/>
          <p:nvPr/>
        </p:nvSpPr>
        <p:spPr>
          <a:xfrm>
            <a:off x="1280160" y="3688080"/>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Exact V</a:t>
            </a:r>
            <a:r>
              <a:rPr sz="2000" b="0" i="0" baseline="-25000">
                <a:solidFill>
                  <a:srgbClr val="23232B"/>
                </a:solidFill>
                <a:latin typeface="Calibri"/>
              </a:rPr>
              <a:t>d</a:t>
            </a:r>
            <a:r>
              <a:rPr sz="2000" b="0" i="0">
                <a:solidFill>
                  <a:srgbClr val="23232B"/>
                </a:solidFill>
                <a:latin typeface="Calibri"/>
              </a:rPr>
              <a:t>(T</a:t>
            </a:r>
            <a:r>
              <a:rPr sz="2000" b="0" i="0" baseline="-25000">
                <a:solidFill>
                  <a:srgbClr val="23232B"/>
                </a:solidFill>
                <a:latin typeface="Calibri"/>
              </a:rPr>
              <a:t>max</a:t>
            </a:r>
            <a:r>
              <a:rPr sz="2000" b="0" i="0">
                <a:solidFill>
                  <a:srgbClr val="23232B"/>
                </a:solidFill>
                <a:latin typeface="Calibri"/>
              </a:rPr>
              <a:t>) and gain G = V</a:t>
            </a:r>
            <a:r>
              <a:rPr sz="2000" b="0" i="0" baseline="-25000">
                <a:solidFill>
                  <a:srgbClr val="23232B"/>
                </a:solidFill>
                <a:latin typeface="Calibri"/>
              </a:rPr>
              <a:t>FS</a:t>
            </a:r>
            <a:r>
              <a:rPr sz="2000" b="0" i="0">
                <a:solidFill>
                  <a:srgbClr val="23232B"/>
                </a:solidFill>
                <a:latin typeface="Calibri"/>
              </a:rPr>
              <a:t>/V</a:t>
            </a:r>
            <a:r>
              <a:rPr sz="2000" b="0" i="0" baseline="-25000">
                <a:solidFill>
                  <a:srgbClr val="23232B"/>
                </a:solidFill>
                <a:latin typeface="Calibri"/>
              </a:rPr>
              <a:t>d</a:t>
            </a:r>
            <a:r>
              <a:rPr sz="2000" b="0" i="0">
                <a:solidFill>
                  <a:srgbClr val="23232B"/>
                </a:solidFill>
                <a:latin typeface="Calibri"/>
              </a:rPr>
              <a:t>(T</a:t>
            </a:r>
            <a:r>
              <a:rPr sz="2000" b="0" i="0" baseline="-25000">
                <a:solidFill>
                  <a:srgbClr val="23232B"/>
                </a:solidFill>
                <a:latin typeface="Calibri"/>
              </a:rPr>
              <a:t>max</a:t>
            </a:r>
            <a:r>
              <a:rPr sz="2000" b="0" i="0">
                <a:solidFill>
                  <a:srgbClr val="23232B"/>
                </a:solidFill>
                <a:latin typeface="Calibri"/>
              </a:rPr>
              <a:t>): 37.18 mV, G = 107.6</a:t>
            </a:r>
          </a:p>
        </p:txBody>
      </p:sp>
      <p:sp>
        <p:nvSpPr>
          <p:cNvPr id="18" name="Step 5"/>
          <p:cNvSpPr/>
          <p:nvPr/>
        </p:nvSpPr>
        <p:spPr>
          <a:xfrm>
            <a:off x="548640" y="4544568"/>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44568"/>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5</a:t>
            </a:r>
          </a:p>
        </p:txBody>
      </p:sp>
      <p:sp>
        <p:nvSpPr>
          <p:cNvPr id="20" name="Step text 5"/>
          <p:cNvSpPr txBox="1"/>
          <p:nvPr/>
        </p:nvSpPr>
        <p:spPr>
          <a:xfrm>
            <a:off x="1280160" y="4498848"/>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Check nonlinearity x/(m+1), self-heating, common mode ≈ V</a:t>
            </a:r>
            <a:r>
              <a:rPr sz="2000" b="0" i="0" baseline="-25000">
                <a:solidFill>
                  <a:srgbClr val="23232B"/>
                </a:solidFill>
                <a:latin typeface="Calibri"/>
              </a:rPr>
              <a:t>B</a:t>
            </a:r>
            <a:r>
              <a:rPr sz="2000" b="0" i="0">
                <a:solidFill>
                  <a:srgbClr val="23232B"/>
                </a:solidFill>
                <a:latin typeface="Calibri"/>
              </a:rPr>
              <a:t>/(m+1)</a:t>
            </a:r>
          </a:p>
        </p:txBody>
      </p:sp>
      <p:pic>
        <p:nvPicPr>
          <p:cNvPr id="21"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22"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Bridge Circuits</a:t>
            </a:r>
          </a:p>
        </p:txBody>
      </p:sp>
      <p:sp>
        <p:nvSpPr>
          <p:cNvPr id="23"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DESIGNING THE SENSOR BRIDGE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capstone bridge, Pt100 and Pt1000</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bridge-output-over-temperature-1.png"/>
          <p:cNvPicPr>
            <a:picLocks noChangeAspect="1"/>
          </p:cNvPicPr>
          <p:nvPr/>
        </p:nvPicPr>
        <p:blipFill>
          <a:blip r:embed="rId2"/>
          <a:stretch>
            <a:fillRect/>
          </a:stretch>
        </p:blipFill>
        <p:spPr>
          <a:xfrm>
            <a:off x="749808" y="2637452"/>
            <a:ext cx="5998464" cy="2168310"/>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pt100_bridge">
            <a:hlinkClick r:id="rId3"/>
          </p:cNvPr>
          <p:cNvSpPr/>
          <p:nvPr/>
        </p:nvSpPr>
        <p:spPr>
          <a:xfrm>
            <a:off x="7269479" y="1709928"/>
            <a:ext cx="437357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pt100_bridge">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bridges/pt100_bridge</a:t>
            </a:r>
          </a:p>
        </p:txBody>
      </p:sp>
      <p:sp>
        <p:nvSpPr>
          <p:cNvPr id="11" name="Falstad hint"/>
          <p:cNvSpPr txBox="1"/>
          <p:nvPr/>
        </p:nvSpPr>
        <p:spPr>
          <a:xfrm>
            <a:off x="7955279" y="2093976"/>
            <a:ext cx="359633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Slider 100 / 119.25 / 138.5 Ω: 0, 18.68, 37.18 mV</a:t>
            </a:r>
          </a:p>
        </p:txBody>
      </p:sp>
      <p:sp>
        <p:nvSpPr>
          <p:cNvPr id="12" name="Falstad pt1000_bridge">
            <a:hlinkClick r:id="rId4"/>
          </p:cNvPr>
          <p:cNvSpPr/>
          <p:nvPr/>
        </p:nvSpPr>
        <p:spPr>
          <a:xfrm>
            <a:off x="7269479" y="2548128"/>
            <a:ext cx="437357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lay icon"/>
          <p:cNvSpPr/>
          <p:nvPr/>
        </p:nvSpPr>
        <p:spPr>
          <a:xfrm>
            <a:off x="7415783" y="27020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lay icon"/>
          <p:cNvSpPr/>
          <p:nvPr/>
        </p:nvSpPr>
        <p:spPr>
          <a:xfrm rot="5400000">
            <a:off x="7552944" y="28209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lstad link pt1000_bridge">
            <a:hlinkClick r:id="rId4"/>
          </p:cNvPr>
          <p:cNvSpPr txBox="1"/>
          <p:nvPr/>
        </p:nvSpPr>
        <p:spPr>
          <a:xfrm>
            <a:off x="7955279" y="2657856"/>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4">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4">
                  <a:extLst>
                    <a:ext uri="{A12FA001-AC4F-418D-AE19-62706E023703}">
                      <ahyp:hlinkClr xmlns:ahyp="http://schemas.microsoft.com/office/drawing/2018/hyperlinkcolor" val="tx"/>
                    </a:ext>
                  </a:extLst>
                </a:hlinkClick>
              </a:rPr>
              <a:t>bridges/pt1000_bridge</a:t>
            </a:r>
          </a:p>
        </p:txBody>
      </p:sp>
      <p:sp>
        <p:nvSpPr>
          <p:cNvPr id="16" name="Falstad hint"/>
          <p:cNvSpPr txBox="1"/>
          <p:nvPr/>
        </p:nvSpPr>
        <p:spPr>
          <a:xfrm>
            <a:off x="7955279" y="2932176"/>
            <a:ext cx="359633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Slider 1000 / 1192.5 / 1385 Ω: 0, 134.7, 260.9 mV</a:t>
            </a:r>
          </a:p>
        </p:txBody>
      </p:sp>
      <p:sp>
        <p:nvSpPr>
          <p:cNvPr id="17" name="Label"/>
          <p:cNvSpPr txBox="1"/>
          <p:nvPr/>
        </p:nvSpPr>
        <p:spPr>
          <a:xfrm>
            <a:off x="7269479" y="3624072"/>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8" name="Observe"/>
          <p:cNvSpPr txBox="1"/>
          <p:nvPr/>
        </p:nvSpPr>
        <p:spPr>
          <a:xfrm>
            <a:off x="7269479" y="4035552"/>
            <a:ext cx="4373575" cy="2109215"/>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Pt100, m = 39: almost a straight line, 0.09 mV ≈ 0.24 K off at 50 °C</a:t>
            </a:r>
          </a:p>
          <a:p>
            <a:pPr algn="l" marL="274320" indent="-274320">
              <a:lnSpc>
                <a:spcPct val="100000"/>
              </a:lnSpc>
              <a:spcAft>
                <a:spcPts val="1000"/>
              </a:spcAft>
              <a:buClr>
                <a:srgbClr val="00A9CE"/>
              </a:buClr>
              <a:buFont typeface="Arial"/>
              <a:buChar char="•"/>
            </a:pPr>
            <a:r>
              <a:rPr sz="1800" b="0" i="0">
                <a:solidFill>
                  <a:srgbClr val="23232B"/>
                </a:solidFill>
                <a:latin typeface="Calibri"/>
              </a:rPr>
              <a:t>V</a:t>
            </a:r>
            <a:r>
              <a:rPr sz="1800" b="0" i="0" baseline="-25000">
                <a:solidFill>
                  <a:srgbClr val="23232B"/>
                </a:solidFill>
                <a:latin typeface="Calibri"/>
              </a:rPr>
              <a:t>R</a:t>
            </a:r>
            <a:r>
              <a:rPr sz="1800" b="0" i="0">
                <a:solidFill>
                  <a:srgbClr val="23232B"/>
                </a:solidFill>
                <a:latin typeface="Calibri"/>
              </a:rPr>
              <a:t> stays at 100 mV: the reference arm is the constant part</a:t>
            </a:r>
          </a:p>
          <a:p>
            <a:pPr algn="l" marL="274320" indent="-274320">
              <a:lnSpc>
                <a:spcPct val="100000"/>
              </a:lnSpc>
              <a:spcAft>
                <a:spcPts val="1000"/>
              </a:spcAft>
              <a:buClr>
                <a:srgbClr val="00A9CE"/>
              </a:buClr>
              <a:buFont typeface="Arial"/>
              <a:buChar char="•"/>
            </a:pPr>
            <a:r>
              <a:rPr sz="1800" b="0" i="0">
                <a:solidFill>
                  <a:srgbClr val="23232B"/>
                </a:solidFill>
                <a:latin typeface="Calibri"/>
              </a:rPr>
              <a:t>Pt1000 at 5 V (m = 4.7): 7× more signal, 1.6 % nonlinearity</a:t>
            </a:r>
          </a:p>
        </p:txBody>
      </p:sp>
      <p:pic>
        <p:nvPicPr>
          <p:cNvPr id="19" name="RWU logo" descr="rwu_logo.png"/>
          <p:cNvPicPr>
            <a:picLocks noChangeAspect="1"/>
          </p:cNvPicPr>
          <p:nvPr/>
        </p:nvPicPr>
        <p:blipFill>
          <a:blip r:embed="rId5"/>
          <a:stretch>
            <a:fillRect/>
          </a:stretch>
        </p:blipFill>
        <p:spPr>
          <a:xfrm>
            <a:off x="548640" y="6382512"/>
            <a:ext cx="826569" cy="274320"/>
          </a:xfrm>
          <a:prstGeom prst="rect">
            <a:avLst/>
          </a:prstGeom>
        </p:spPr>
      </p:pic>
      <p:sp>
        <p:nvSpPr>
          <p:cNvPr id="2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Bridge Circuits</a:t>
            </a:r>
          </a:p>
        </p:txBody>
      </p:sp>
      <p:sp>
        <p:nvSpPr>
          <p:cNvPr id="2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READING THE BRIDGE: COMMON-MODE VOLTAGE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Read the bridge differentially</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difference-and-instrumentation-amplifier-1.png"/>
          <p:cNvPicPr>
            <a:picLocks noChangeAspect="1"/>
          </p:cNvPicPr>
          <p:nvPr/>
        </p:nvPicPr>
        <p:blipFill>
          <a:blip r:embed="rId2"/>
          <a:stretch>
            <a:fillRect/>
          </a:stretch>
        </p:blipFill>
        <p:spPr>
          <a:xfrm>
            <a:off x="6876288" y="2429734"/>
            <a:ext cx="4565599" cy="2583747"/>
          </a:xfrm>
          <a:prstGeom prst="rect">
            <a:avLst/>
          </a:prstGeom>
        </p:spPr>
      </p:pic>
      <p:sp>
        <p:nvSpPr>
          <p:cNvPr id="6" name="Falstad bridge_single_ended">
            <a:hlinkClick r:id="rId3"/>
          </p:cNvPr>
          <p:cNvSpPr/>
          <p:nvPr/>
        </p:nvSpPr>
        <p:spPr>
          <a:xfrm>
            <a:off x="548640" y="45963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47503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4869179"/>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bridge_single_ended">
            <a:hlinkClick r:id="rId3"/>
          </p:cNvPr>
          <p:cNvSpPr txBox="1"/>
          <p:nvPr/>
        </p:nvSpPr>
        <p:spPr>
          <a:xfrm>
            <a:off x="1234440" y="47061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bridges/bridge_single_ended</a:t>
            </a:r>
          </a:p>
        </p:txBody>
      </p:sp>
      <p:sp>
        <p:nvSpPr>
          <p:cNvPr id="10" name="Falstad hint"/>
          <p:cNvSpPr txBox="1"/>
          <p:nvPr/>
        </p:nvSpPr>
        <p:spPr>
          <a:xfrm>
            <a:off x="1234440" y="49804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Output far above 4 V: the constant part is amplified too</a:t>
            </a:r>
          </a:p>
        </p:txBody>
      </p:sp>
      <p:sp>
        <p:nvSpPr>
          <p:cNvPr id="11" name="Falstad bridge_ina">
            <a:hlinkClick r:id="rId4"/>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alstad link bridge_ina">
            <a:hlinkClick r:id="rId4"/>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4">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4">
                  <a:extLst>
                    <a:ext uri="{A12FA001-AC4F-418D-AE19-62706E023703}">
                      <ahyp:hlinkClr xmlns:ahyp="http://schemas.microsoft.com/office/drawing/2018/hyperlinkcolor" val="tx"/>
                    </a:ext>
                  </a:extLst>
                </a:hlinkClick>
              </a:rPr>
              <a:t>bridges/bridge_ina</a:t>
            </a:r>
          </a:p>
        </p:txBody>
      </p:sp>
      <p:sp>
        <p:nvSpPr>
          <p:cNvPr id="15"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Pt100 slider: 0 V, 2.01 V, 4.00 V at 0, 50, 100 °C</a:t>
            </a:r>
          </a:p>
        </p:txBody>
      </p:sp>
      <p:sp>
        <p:nvSpPr>
          <p:cNvPr id="16" name="Bullets"/>
          <p:cNvSpPr txBox="1"/>
          <p:nvPr/>
        </p:nvSpPr>
        <p:spPr>
          <a:xfrm>
            <a:off x="548640" y="1298448"/>
            <a:ext cx="5806440" cy="30236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Both taps sit at ≈ 100 mV (common mode); the signal is their difference</a:t>
            </a:r>
          </a:p>
          <a:p>
            <a:pPr algn="l" marL="274320" indent="-274320">
              <a:lnSpc>
                <a:spcPct val="100000"/>
              </a:lnSpc>
              <a:spcAft>
                <a:spcPts val="1000"/>
              </a:spcAft>
              <a:buClr>
                <a:srgbClr val="00A9CE"/>
              </a:buClr>
              <a:buFont typeface="Arial"/>
              <a:buChar char="•"/>
            </a:pPr>
            <a:r>
              <a:rPr sz="2000" b="0" i="0">
                <a:solidFill>
                  <a:srgbClr val="23232B"/>
                </a:solidFill>
                <a:latin typeface="Calibri"/>
              </a:rPr>
              <a:t>Single-ended gain 107.6 at V</a:t>
            </a:r>
            <a:r>
              <a:rPr sz="2000" b="0" i="0" baseline="-25000">
                <a:solidFill>
                  <a:srgbClr val="23232B"/>
                </a:solidFill>
                <a:latin typeface="Calibri"/>
              </a:rPr>
              <a:t>S</a:t>
            </a:r>
            <a:r>
              <a:rPr sz="2000" b="0" i="0">
                <a:solidFill>
                  <a:srgbClr val="23232B"/>
                </a:solidFill>
                <a:latin typeface="Calibri"/>
              </a:rPr>
              <a:t>: 10.75 V at 0 °C instead of 0 V</a:t>
            </a:r>
          </a:p>
          <a:p>
            <a:pPr algn="l" marL="274320" indent="-274320">
              <a:lnSpc>
                <a:spcPct val="100000"/>
              </a:lnSpc>
              <a:spcAft>
                <a:spcPts val="1000"/>
              </a:spcAft>
              <a:buClr>
                <a:srgbClr val="00A9CE"/>
              </a:buClr>
              <a:buFont typeface="Arial"/>
              <a:buChar char="•"/>
            </a:pPr>
            <a:r>
              <a:rPr sz="2000" b="0" i="0">
                <a:solidFill>
                  <a:srgbClr val="23232B"/>
                </a:solidFill>
                <a:latin typeface="Calibri"/>
              </a:rPr>
              <a:t>Difference amplifier amplifies V</a:t>
            </a:r>
            <a:r>
              <a:rPr sz="2000" b="0" i="0" baseline="-25000">
                <a:solidFill>
                  <a:srgbClr val="23232B"/>
                </a:solidFill>
                <a:latin typeface="Calibri"/>
              </a:rPr>
              <a:t>S</a:t>
            </a:r>
            <a:r>
              <a:rPr sz="2000" b="0" i="0">
                <a:solidFill>
                  <a:srgbClr val="23232B"/>
                </a:solidFill>
                <a:latin typeface="Calibri"/>
              </a:rPr>
              <a:t> − V</a:t>
            </a:r>
            <a:r>
              <a:rPr sz="2000" b="0" i="0" baseline="-25000">
                <a:solidFill>
                  <a:srgbClr val="23232B"/>
                </a:solidFill>
                <a:latin typeface="Calibri"/>
              </a:rPr>
              <a:t>R</a:t>
            </a:r>
            <a:r>
              <a:rPr sz="2000" b="0" i="0">
                <a:solidFill>
                  <a:srgbClr val="23232B"/>
                </a:solidFill>
                <a:latin typeface="Calibri"/>
              </a:rPr>
              <a:t>, rejects V</a:t>
            </a:r>
            <a:r>
              <a:rPr sz="2000" b="0" i="0" baseline="-25000">
                <a:solidFill>
                  <a:srgbClr val="23232B"/>
                </a:solidFill>
                <a:latin typeface="Calibri"/>
              </a:rPr>
              <a:t>CM</a:t>
            </a:r>
            <a:r>
              <a:rPr sz="2000" b="0" i="0">
                <a:solidFill>
                  <a:srgbClr val="23232B"/>
                </a:solidFill>
                <a:latin typeface="Calibri"/>
              </a:rPr>
              <a:t> if R match</a:t>
            </a:r>
          </a:p>
          <a:p>
            <a:pPr algn="l" marL="274320" indent="-274320">
              <a:lnSpc>
                <a:spcPct val="100000"/>
              </a:lnSpc>
              <a:spcAft>
                <a:spcPts val="1000"/>
              </a:spcAft>
              <a:buClr>
                <a:srgbClr val="00A9CE"/>
              </a:buClr>
              <a:buFont typeface="Arial"/>
              <a:buChar char="•"/>
            </a:pPr>
            <a:r>
              <a:rPr sz="2000" b="0" i="0">
                <a:solidFill>
                  <a:srgbClr val="23232B"/>
                </a:solidFill>
                <a:latin typeface="Calibri"/>
              </a:rPr>
              <a:t>Buffers keep the bridge unloaded; gain stage G</a:t>
            </a:r>
            <a:r>
              <a:rPr sz="2000" b="0" i="0" baseline="-25000">
                <a:solidFill>
                  <a:srgbClr val="23232B"/>
                </a:solidFill>
                <a:latin typeface="Calibri"/>
              </a:rPr>
              <a:t>2</a:t>
            </a:r>
            <a:r>
              <a:rPr sz="2000" b="0" i="0">
                <a:solidFill>
                  <a:srgbClr val="23232B"/>
                </a:solidFill>
                <a:latin typeface="Calibri"/>
              </a:rPr>
              <a:t> = 10.76 → 0 … 4.00 V</a:t>
            </a:r>
          </a:p>
        </p:txBody>
      </p:sp>
      <p:pic>
        <p:nvPicPr>
          <p:cNvPr id="17" name="RWU logo" descr="rwu_logo.png"/>
          <p:cNvPicPr>
            <a:picLocks noChangeAspect="1"/>
          </p:cNvPicPr>
          <p:nvPr/>
        </p:nvPicPr>
        <p:blipFill>
          <a:blip r:embed="rId5"/>
          <a:stretch>
            <a:fillRect/>
          </a:stretch>
        </p:blipFill>
        <p:spPr>
          <a:xfrm>
            <a:off x="548640" y="6382512"/>
            <a:ext cx="826569" cy="274320"/>
          </a:xfrm>
          <a:prstGeom prst="rect">
            <a:avLst/>
          </a:prstGeom>
        </p:spPr>
      </p:pic>
      <p:sp>
        <p:nvSpPr>
          <p:cNvPr id="18"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Bridge Circuits</a:t>
            </a:r>
          </a:p>
        </p:txBody>
      </p:sp>
      <p:sp>
        <p:nvSpPr>
          <p:cNvPr id="19"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INTERFERENCE AND LEAD RESISTANCE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50 Hz in series with the sensor</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50-hz-in-series-with-the-sensor-1.png"/>
          <p:cNvPicPr>
            <a:picLocks noChangeAspect="1"/>
          </p:cNvPicPr>
          <p:nvPr/>
        </p:nvPicPr>
        <p:blipFill>
          <a:blip r:embed="rId2"/>
          <a:stretch>
            <a:fillRect/>
          </a:stretch>
        </p:blipFill>
        <p:spPr>
          <a:xfrm>
            <a:off x="749808" y="2024674"/>
            <a:ext cx="5998464" cy="3393867"/>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bridge_50hz">
            <a:hlinkClick r:id="rId3"/>
          </p:cNvPr>
          <p:cNvSpPr/>
          <p:nvPr/>
        </p:nvSpPr>
        <p:spPr>
          <a:xfrm>
            <a:off x="7269479" y="1709928"/>
            <a:ext cx="437357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bridge_50hz">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bridges/bridge_50hz</a:t>
            </a:r>
          </a:p>
        </p:txBody>
      </p:sp>
      <p:sp>
        <p:nvSpPr>
          <p:cNvPr id="11" name="Falstad hint"/>
          <p:cNvSpPr txBox="1"/>
          <p:nvPr/>
        </p:nvSpPr>
        <p:spPr>
          <a:xfrm>
            <a:off x="7955279" y="2093976"/>
            <a:ext cx="359633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Scope: 4.88 mV amplitude at V_S, 0.52 V at Vout</a:t>
            </a:r>
          </a:p>
        </p:txBody>
      </p:sp>
      <p:sp>
        <p:nvSpPr>
          <p:cNvPr id="12" name="Label"/>
          <p:cNvSpPr txBox="1"/>
          <p:nvPr/>
        </p:nvSpPr>
        <p:spPr>
          <a:xfrm>
            <a:off x="7269479" y="2785872"/>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197352"/>
            <a:ext cx="437357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Series interference changes only V</a:t>
            </a:r>
            <a:r>
              <a:rPr sz="1800" b="0" i="0" baseline="-25000">
                <a:solidFill>
                  <a:srgbClr val="23232B"/>
                </a:solidFill>
                <a:latin typeface="Calibri"/>
              </a:rPr>
              <a:t>S</a:t>
            </a:r>
            <a:r>
              <a:rPr sz="1800" b="0" i="0">
                <a:solidFill>
                  <a:srgbClr val="23232B"/>
                </a:solidFill>
                <a:latin typeface="Calibri"/>
              </a:rPr>
              <a:t>: differential, not rejected</a:t>
            </a:r>
          </a:p>
          <a:p>
            <a:pPr algn="l" marL="274320" indent="-274320">
              <a:lnSpc>
                <a:spcPct val="100000"/>
              </a:lnSpc>
              <a:spcAft>
                <a:spcPts val="1000"/>
              </a:spcAft>
              <a:buClr>
                <a:srgbClr val="00A9CE"/>
              </a:buClr>
              <a:buFont typeface="Arial"/>
              <a:buChar char="•"/>
            </a:pPr>
            <a:r>
              <a:rPr sz="1800" b="0" i="0">
                <a:solidFill>
                  <a:srgbClr val="23232B"/>
                </a:solidFill>
                <a:latin typeface="Calibri"/>
              </a:rPr>
              <a:t>After G = 107.6: 0.52 V amplitude, about one LSB (0.5 V)</a:t>
            </a:r>
          </a:p>
          <a:p>
            <a:pPr algn="l" marL="274320" indent="-274320">
              <a:lnSpc>
                <a:spcPct val="100000"/>
              </a:lnSpc>
              <a:spcAft>
                <a:spcPts val="1000"/>
              </a:spcAft>
              <a:buClr>
                <a:srgbClr val="00A9CE"/>
              </a:buClr>
              <a:buFont typeface="Arial"/>
              <a:buChar char="•"/>
            </a:pPr>
            <a:r>
              <a:rPr sz="1800" b="0" i="0">
                <a:solidFill>
                  <a:srgbClr val="23232B"/>
                </a:solidFill>
                <a:latin typeface="Calibri"/>
              </a:rPr>
              <a:t>Remedies: twisted pair, shield, short leads, low-pass before the ADC</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Bridge Circuits</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INTERFERENCE AND LEAD RESISTANCE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2-wire vs. 3-wire connection</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lead-resistance-2-wire-and-3-wire-connec-2.png"/>
          <p:cNvPicPr>
            <a:picLocks noChangeAspect="1"/>
          </p:cNvPicPr>
          <p:nvPr/>
        </p:nvPicPr>
        <p:blipFill>
          <a:blip r:embed="rId2"/>
          <a:stretch>
            <a:fillRect/>
          </a:stretch>
        </p:blipFill>
        <p:spPr>
          <a:xfrm>
            <a:off x="1743140" y="1499616"/>
            <a:ext cx="4011799" cy="4443983"/>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bridge_3wire">
            <a:hlinkClick r:id="rId3"/>
          </p:cNvPr>
          <p:cNvSpPr/>
          <p:nvPr/>
        </p:nvSpPr>
        <p:spPr>
          <a:xfrm>
            <a:off x="7269479" y="1709928"/>
            <a:ext cx="4373575" cy="908304"/>
          </a:xfrm>
          <a:prstGeom prst="roundRect">
            <a:avLst>
              <a:gd name="adj" fmla="val 1208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96291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208178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bridge_3wire">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bridges/bridge_3wire</a:t>
            </a:r>
          </a:p>
        </p:txBody>
      </p:sp>
      <p:sp>
        <p:nvSpPr>
          <p:cNvPr id="11" name="Falstad hint"/>
          <p:cNvSpPr txBox="1"/>
          <p:nvPr/>
        </p:nvSpPr>
        <p:spPr>
          <a:xfrm>
            <a:off x="7955279" y="2093976"/>
            <a:ext cx="3596335" cy="41452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At 100 Ω: 2-wire 0.975 mV, 3-wire 0 V; then both at 138.5 Ω</a:t>
            </a:r>
          </a:p>
        </p:txBody>
      </p:sp>
      <p:sp>
        <p:nvSpPr>
          <p:cNvPr id="12" name="Label"/>
          <p:cNvSpPr txBox="1"/>
          <p:nvPr/>
        </p:nvSpPr>
        <p:spPr>
          <a:xfrm>
            <a:off x="7269479" y="2983991"/>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395471"/>
            <a:ext cx="4373575" cy="274929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2-wire: 2·R</a:t>
            </a:r>
            <a:r>
              <a:rPr sz="1800" b="0" i="0" baseline="-25000">
                <a:solidFill>
                  <a:srgbClr val="23232B"/>
                </a:solidFill>
                <a:latin typeface="Calibri"/>
              </a:rPr>
              <a:t>L</a:t>
            </a:r>
            <a:r>
              <a:rPr sz="1800" b="0" i="0">
                <a:solidFill>
                  <a:srgbClr val="23232B"/>
                </a:solidFill>
                <a:latin typeface="Calibri"/>
              </a:rPr>
              <a:t> in series with the Pt100; 1 Ω → 2.6 K error</a:t>
            </a:r>
          </a:p>
          <a:p>
            <a:pPr algn="l" marL="274320" indent="-274320">
              <a:lnSpc>
                <a:spcPct val="100000"/>
              </a:lnSpc>
              <a:spcAft>
                <a:spcPts val="1000"/>
              </a:spcAft>
              <a:buClr>
                <a:srgbClr val="00A9CE"/>
              </a:buClr>
              <a:buFont typeface="Arial"/>
              <a:buChar char="•"/>
            </a:pPr>
            <a:r>
              <a:rPr sz="1800" b="0" i="0">
                <a:solidFill>
                  <a:srgbClr val="23232B"/>
                </a:solidFill>
                <a:latin typeface="Calibri"/>
              </a:rPr>
              <a:t>3-wire: R</a:t>
            </a:r>
            <a:r>
              <a:rPr sz="1800" b="0" i="0" baseline="-25000">
                <a:solidFill>
                  <a:srgbClr val="23232B"/>
                </a:solidFill>
                <a:latin typeface="Calibri"/>
              </a:rPr>
              <a:t>L1</a:t>
            </a:r>
            <a:r>
              <a:rPr sz="1800" b="0" i="0">
                <a:solidFill>
                  <a:srgbClr val="23232B"/>
                </a:solidFill>
                <a:latin typeface="Calibri"/>
              </a:rPr>
              <a:t> and R</a:t>
            </a:r>
            <a:r>
              <a:rPr sz="1800" b="0" i="0" baseline="-25000">
                <a:solidFill>
                  <a:srgbClr val="23232B"/>
                </a:solidFill>
                <a:latin typeface="Calibri"/>
              </a:rPr>
              <a:t>L2</a:t>
            </a:r>
            <a:r>
              <a:rPr sz="1800" b="0" i="0">
                <a:solidFill>
                  <a:srgbClr val="23232B"/>
                </a:solidFill>
                <a:latin typeface="Calibri"/>
              </a:rPr>
              <a:t> sit in adjacent arms and cancel at balance</a:t>
            </a:r>
          </a:p>
          <a:p>
            <a:pPr algn="l" marL="274320" indent="-274320">
              <a:lnSpc>
                <a:spcPct val="100000"/>
              </a:lnSpc>
              <a:spcAft>
                <a:spcPts val="1000"/>
              </a:spcAft>
              <a:buClr>
                <a:srgbClr val="00A9CE"/>
              </a:buClr>
              <a:buFont typeface="Arial"/>
              <a:buChar char="•"/>
            </a:pPr>
            <a:r>
              <a:rPr sz="1800" b="0" i="0">
                <a:solidFill>
                  <a:srgbClr val="23232B"/>
                </a:solidFill>
                <a:latin typeface="Calibri"/>
              </a:rPr>
              <a:t>4-wire: current through two leads, sense voltage on the other two</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Bridge Circuits</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EXERCISES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Now work it out in the script</a:t>
            </a:r>
          </a:p>
        </p:txBody>
      </p:sp>
      <p:sp>
        <p:nvSpPr>
          <p:cNvPr id="4" name="Intro"/>
          <p:cNvSpPr txBox="1"/>
          <p:nvPr/>
        </p:nvSpPr>
        <p:spPr>
          <a:xfrm>
            <a:off x="548640" y="1298448"/>
            <a:ext cx="11094415" cy="640080"/>
          </a:xfrm>
          <a:prstGeom prst="rect">
            <a:avLst/>
          </a:prstGeom>
          <a:noFill/>
        </p:spPr>
        <p:txBody>
          <a:bodyPr wrap="square" lIns="0" rIns="0" tIns="0" bIns="0" anchor="t">
            <a:noAutofit/>
          </a:bodyPr>
          <a:lstStyle/>
          <a:p>
            <a:pPr algn="l">
              <a:lnSpc>
                <a:spcPct val="100000"/>
              </a:lnSpc>
              <a:spcAft>
                <a:spcPts val="600"/>
              </a:spcAft>
              <a:buNone/>
            </a:pPr>
            <a:r>
              <a:rPr sz="1800" b="0" i="0">
                <a:solidFill>
                  <a:srgbClr val="62626E"/>
                </a:solidFill>
                <a:latin typeface="Calibri"/>
              </a:rPr>
              <a:t>Derivations, worked numbers and solutions: script, chapter 5 “Bridge Circuits”. Check each result in the Falstad examples.</a:t>
            </a:r>
          </a:p>
        </p:txBody>
      </p:sp>
      <p:sp>
        <p:nvSpPr>
          <p:cNvPr id="5" name="Exercise card"/>
          <p:cNvSpPr/>
          <p:nvPr/>
        </p:nvSpPr>
        <p:spPr>
          <a:xfrm>
            <a:off x="548640"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rcise number"/>
          <p:cNvSpPr/>
          <p:nvPr/>
        </p:nvSpPr>
        <p:spPr>
          <a:xfrm>
            <a:off x="548640"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5.1</a:t>
            </a:r>
          </a:p>
        </p:txBody>
      </p:sp>
      <p:sp>
        <p:nvSpPr>
          <p:cNvPr id="8" name="Exercise title"/>
          <p:cNvSpPr txBox="1"/>
          <p:nvPr/>
        </p:nvSpPr>
        <p:spPr>
          <a:xfrm>
            <a:off x="1645919"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Wheatstone bridge</a:t>
            </a:r>
          </a:p>
        </p:txBody>
      </p:sp>
      <p:sp>
        <p:nvSpPr>
          <p:cNvPr id="9" name="Exercise card"/>
          <p:cNvSpPr/>
          <p:nvPr/>
        </p:nvSpPr>
        <p:spPr>
          <a:xfrm>
            <a:off x="548640"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ercise number"/>
          <p:cNvSpPr/>
          <p:nvPr/>
        </p:nvSpPr>
        <p:spPr>
          <a:xfrm>
            <a:off x="548640"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5.2</a:t>
            </a:r>
          </a:p>
        </p:txBody>
      </p:sp>
      <p:sp>
        <p:nvSpPr>
          <p:cNvPr id="12" name="Exercise title"/>
          <p:cNvSpPr txBox="1"/>
          <p:nvPr/>
        </p:nvSpPr>
        <p:spPr>
          <a:xfrm>
            <a:off x="1645919"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Strain gauge bridge</a:t>
            </a:r>
          </a:p>
        </p:txBody>
      </p:sp>
      <p:sp>
        <p:nvSpPr>
          <p:cNvPr id="13" name="Exercise card"/>
          <p:cNvSpPr/>
          <p:nvPr/>
        </p:nvSpPr>
        <p:spPr>
          <a:xfrm>
            <a:off x="548640"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xercise number"/>
          <p:cNvSpPr/>
          <p:nvPr/>
        </p:nvSpPr>
        <p:spPr>
          <a:xfrm>
            <a:off x="548640"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5.3</a:t>
            </a:r>
          </a:p>
        </p:txBody>
      </p:sp>
      <p:sp>
        <p:nvSpPr>
          <p:cNvPr id="16" name="Exercise title"/>
          <p:cNvSpPr txBox="1"/>
          <p:nvPr/>
        </p:nvSpPr>
        <p:spPr>
          <a:xfrm>
            <a:off x="1645919"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Pt100 values</a:t>
            </a:r>
          </a:p>
        </p:txBody>
      </p:sp>
      <p:sp>
        <p:nvSpPr>
          <p:cNvPr id="17" name="Exercise card"/>
          <p:cNvSpPr/>
          <p:nvPr/>
        </p:nvSpPr>
        <p:spPr>
          <a:xfrm>
            <a:off x="6233007"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xercise number"/>
          <p:cNvSpPr/>
          <p:nvPr/>
        </p:nvSpPr>
        <p:spPr>
          <a:xfrm>
            <a:off x="6233007"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5.4</a:t>
            </a:r>
          </a:p>
        </p:txBody>
      </p:sp>
      <p:sp>
        <p:nvSpPr>
          <p:cNvPr id="20" name="Exercise title"/>
          <p:cNvSpPr txBox="1"/>
          <p:nvPr/>
        </p:nvSpPr>
        <p:spPr>
          <a:xfrm>
            <a:off x="7330287"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Design of the capstone bridge</a:t>
            </a:r>
          </a:p>
        </p:txBody>
      </p:sp>
      <p:sp>
        <p:nvSpPr>
          <p:cNvPr id="21" name="Exercise card"/>
          <p:cNvSpPr/>
          <p:nvPr/>
        </p:nvSpPr>
        <p:spPr>
          <a:xfrm>
            <a:off x="6233007"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xercise number"/>
          <p:cNvSpPr/>
          <p:nvPr/>
        </p:nvSpPr>
        <p:spPr>
          <a:xfrm>
            <a:off x="6233007"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3007"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5.5</a:t>
            </a:r>
          </a:p>
        </p:txBody>
      </p:sp>
      <p:sp>
        <p:nvSpPr>
          <p:cNvPr id="24" name="Exercise title"/>
          <p:cNvSpPr txBox="1"/>
          <p:nvPr/>
        </p:nvSpPr>
        <p:spPr>
          <a:xfrm>
            <a:off x="7330287"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Alternative: Pt1000 at 5 V</a:t>
            </a:r>
          </a:p>
        </p:txBody>
      </p:sp>
      <p:sp>
        <p:nvSpPr>
          <p:cNvPr id="25" name="Exercise card"/>
          <p:cNvSpPr/>
          <p:nvPr/>
        </p:nvSpPr>
        <p:spPr>
          <a:xfrm>
            <a:off x="6233007"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xercise number"/>
          <p:cNvSpPr/>
          <p:nvPr/>
        </p:nvSpPr>
        <p:spPr>
          <a:xfrm>
            <a:off x="6233007"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33007"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5.6</a:t>
            </a:r>
          </a:p>
        </p:txBody>
      </p:sp>
      <p:sp>
        <p:nvSpPr>
          <p:cNvPr id="28" name="Exercise title"/>
          <p:cNvSpPr txBox="1"/>
          <p:nvPr/>
        </p:nvSpPr>
        <p:spPr>
          <a:xfrm>
            <a:off x="7330287"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Interference and lead resistance</a:t>
            </a:r>
          </a:p>
        </p:txBody>
      </p:sp>
      <p:pic>
        <p:nvPicPr>
          <p:cNvPr id="29"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3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Bridge Circuits</a:t>
            </a:r>
          </a:p>
        </p:txBody>
      </p:sp>
      <p:sp>
        <p:nvSpPr>
          <p:cNvPr id="3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6638B6"/>
        </a:solidFill>
        <a:effectLst/>
      </p:bgPr>
    </p:bg>
    <p:spTree>
      <p:nvGrpSpPr>
        <p:cNvPr id="1" name=""/>
        <p:cNvGrpSpPr/>
        <p:nvPr/>
      </p:nvGrpSpPr>
      <p:grpSpPr/>
      <p:sp>
        <p:nvSpPr>
          <p:cNvPr id="2" name="Chapter number"/>
          <p:cNvSpPr txBox="1"/>
          <p:nvPr/>
        </p:nvSpPr>
        <p:spPr>
          <a:xfrm>
            <a:off x="548640" y="822960"/>
            <a:ext cx="2743200" cy="1463040"/>
          </a:xfrm>
          <a:prstGeom prst="rect">
            <a:avLst/>
          </a:prstGeom>
          <a:noFill/>
        </p:spPr>
        <p:txBody>
          <a:bodyPr wrap="square" lIns="0" rIns="0" tIns="0" bIns="0" anchor="t">
            <a:noAutofit/>
          </a:bodyPr>
          <a:lstStyle/>
          <a:p>
            <a:pPr algn="l">
              <a:lnSpc>
                <a:spcPct val="100000"/>
              </a:lnSpc>
              <a:spcAft>
                <a:spcPts val="600"/>
              </a:spcAft>
              <a:buNone/>
            </a:pPr>
            <a:r>
              <a:rPr sz="9600" b="1" i="0">
                <a:solidFill>
                  <a:srgbClr val="9B7DD4"/>
                </a:solidFill>
                <a:latin typeface="Calibri"/>
              </a:rPr>
              <a:t>06</a:t>
            </a:r>
          </a:p>
        </p:txBody>
      </p:sp>
      <p:sp>
        <p:nvSpPr>
          <p:cNvPr id="3" name="Chapter title"/>
          <p:cNvSpPr txBox="1"/>
          <p:nvPr/>
        </p:nvSpPr>
        <p:spPr>
          <a:xfrm>
            <a:off x="548640" y="2331720"/>
            <a:ext cx="11094415" cy="914400"/>
          </a:xfrm>
          <a:prstGeom prst="rect">
            <a:avLst/>
          </a:prstGeom>
          <a:noFill/>
        </p:spPr>
        <p:txBody>
          <a:bodyPr wrap="square" lIns="0" rIns="0" tIns="0" bIns="0" anchor="ctr">
            <a:noAutofit/>
          </a:bodyPr>
          <a:lstStyle/>
          <a:p>
            <a:pPr algn="l">
              <a:lnSpc>
                <a:spcPct val="100000"/>
              </a:lnSpc>
              <a:spcAft>
                <a:spcPts val="600"/>
              </a:spcAft>
              <a:buNone/>
            </a:pPr>
            <a:r>
              <a:rPr sz="4400" b="1" i="0">
                <a:solidFill>
                  <a:srgbClr val="FFFFFF"/>
                </a:solidFill>
                <a:latin typeface="Calibri"/>
              </a:rPr>
              <a:t>Operational Amplifiers</a:t>
            </a:r>
          </a:p>
        </p:txBody>
      </p:sp>
      <p:sp>
        <p:nvSpPr>
          <p:cNvPr id="4" name="Chapter subtitle"/>
          <p:cNvSpPr txBox="1"/>
          <p:nvPr/>
        </p:nvSpPr>
        <p:spPr>
          <a:xfrm>
            <a:off x="548640" y="3246120"/>
            <a:ext cx="11094415" cy="4572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CFE9F3"/>
                </a:solidFill>
                <a:latin typeface="Calibri"/>
              </a:rPr>
              <a:t>Basic op-amp circuits, real limits, and the capstone measurement amplifier</a:t>
            </a:r>
          </a:p>
        </p:txBody>
      </p:sp>
      <p:sp>
        <p:nvSpPr>
          <p:cNvPr id="5" name="Takeaway card"/>
          <p:cNvSpPr/>
          <p:nvPr/>
        </p:nvSpPr>
        <p:spPr>
          <a:xfrm>
            <a:off x="548640"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1</a:t>
            </a:r>
          </a:p>
        </p:txBody>
      </p:sp>
      <p:sp>
        <p:nvSpPr>
          <p:cNvPr id="7" name="Takeaway"/>
          <p:cNvSpPr txBox="1"/>
          <p:nvPr/>
        </p:nvSpPr>
        <p:spPr>
          <a:xfrm>
            <a:off x="822959"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Negative feedback: the resistors set the gain</a:t>
            </a:r>
          </a:p>
        </p:txBody>
      </p:sp>
      <p:sp>
        <p:nvSpPr>
          <p:cNvPr id="8" name="Takeaway card"/>
          <p:cNvSpPr/>
          <p:nvPr/>
        </p:nvSpPr>
        <p:spPr>
          <a:xfrm>
            <a:off x="4338218"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2538"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2</a:t>
            </a:r>
          </a:p>
        </p:txBody>
      </p:sp>
      <p:sp>
        <p:nvSpPr>
          <p:cNvPr id="10" name="Takeaway"/>
          <p:cNvSpPr txBox="1"/>
          <p:nvPr/>
        </p:nvSpPr>
        <p:spPr>
          <a:xfrm>
            <a:off x="4612538"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Use an INA for bridges; resistor matching sets CMRR</a:t>
            </a:r>
          </a:p>
        </p:txBody>
      </p:sp>
      <p:sp>
        <p:nvSpPr>
          <p:cNvPr id="11" name="Takeaway card"/>
          <p:cNvSpPr/>
          <p:nvPr/>
        </p:nvSpPr>
        <p:spPr>
          <a:xfrm>
            <a:off x="8127796"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2116"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3</a:t>
            </a:r>
          </a:p>
        </p:txBody>
      </p:sp>
      <p:sp>
        <p:nvSpPr>
          <p:cNvPr id="13" name="Takeaway"/>
          <p:cNvSpPr txBox="1"/>
          <p:nvPr/>
        </p:nvSpPr>
        <p:spPr>
          <a:xfrm>
            <a:off x="8402116"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Keep G &lt; 100 per stage; watch offset and headroom</a:t>
            </a:r>
          </a:p>
        </p:txBody>
      </p:sp>
      <p:sp>
        <p:nvSpPr>
          <p:cNvPr id="14" name="Footer"/>
          <p:cNvSpPr txBox="1"/>
          <p:nvPr/>
        </p:nvSpPr>
        <p:spPr>
          <a:xfrm>
            <a:off x="548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FFFFFF"/>
                </a:solidFill>
                <a:latin typeface="Calibri"/>
              </a:rPr>
              <a:t>Electronic Circuit Design  ·  Operational Amplifiers</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FFFFFF"/>
                </a:solidFill>
                <a:latin typeface="Calibri"/>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IDEAL OPERATIONAL AMPLIFIER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Op-amp and the golden rules</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open-loop-the-op-amp-as-a-comparator-1.png"/>
          <p:cNvPicPr>
            <a:picLocks noChangeAspect="1"/>
          </p:cNvPicPr>
          <p:nvPr/>
        </p:nvPicPr>
        <p:blipFill>
          <a:blip r:embed="rId2"/>
          <a:stretch>
            <a:fillRect/>
          </a:stretch>
        </p:blipFill>
        <p:spPr>
          <a:xfrm>
            <a:off x="6876288" y="2951137"/>
            <a:ext cx="4565599" cy="1540940"/>
          </a:xfrm>
          <a:prstGeom prst="rect">
            <a:avLst/>
          </a:prstGeom>
        </p:spPr>
      </p:pic>
      <p:sp>
        <p:nvSpPr>
          <p:cNvPr id="6" name="Bullets"/>
          <p:cNvSpPr txBox="1"/>
          <p:nvPr/>
        </p:nvSpPr>
        <p:spPr>
          <a:xfrm>
            <a:off x="548640" y="1298448"/>
            <a:ext cx="5806440" cy="25603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Amplifies V</a:t>
            </a:r>
            <a:r>
              <a:rPr sz="2000" b="0" i="0" baseline="-25000">
                <a:solidFill>
                  <a:srgbClr val="23232B"/>
                </a:solidFill>
                <a:latin typeface="Calibri"/>
              </a:rPr>
              <a:t>+</a:t>
            </a:r>
            <a:r>
              <a:rPr sz="2000" b="0" i="0">
                <a:solidFill>
                  <a:srgbClr val="23232B"/>
                </a:solidFill>
                <a:latin typeface="Calibri"/>
              </a:rPr>
              <a:t> − V</a:t>
            </a:r>
            <a:r>
              <a:rPr sz="2000" b="0" i="0" baseline="-25000">
                <a:solidFill>
                  <a:srgbClr val="23232B"/>
                </a:solidFill>
                <a:latin typeface="Calibri"/>
              </a:rPr>
              <a:t>−</a:t>
            </a:r>
            <a:r>
              <a:rPr sz="2000" b="0" i="0">
                <a:solidFill>
                  <a:srgbClr val="23232B"/>
                </a:solidFill>
                <a:latin typeface="Calibri"/>
              </a:rPr>
              <a:t> with A = 10</a:t>
            </a:r>
            <a:r>
              <a:rPr sz="2000" b="0" i="0" baseline="30000">
                <a:solidFill>
                  <a:srgbClr val="23232B"/>
                </a:solidFill>
                <a:latin typeface="Calibri"/>
              </a:rPr>
              <a:t>5</a:t>
            </a:r>
            <a:r>
              <a:rPr sz="2000" b="0" i="0">
                <a:solidFill>
                  <a:srgbClr val="23232B"/>
                </a:solidFill>
                <a:latin typeface="Calibri"/>
              </a:rPr>
              <a:t> … 10</a:t>
            </a:r>
            <a:r>
              <a:rPr sz="2000" b="0" i="0" baseline="30000">
                <a:solidFill>
                  <a:srgbClr val="23232B"/>
                </a:solidFill>
                <a:latin typeface="Calibri"/>
              </a:rPr>
              <a:t>7</a:t>
            </a:r>
            <a:r>
              <a:rPr sz="2000" b="0" i="0">
                <a:solidFill>
                  <a:srgbClr val="23232B"/>
                </a:solidFill>
                <a:latin typeface="Calibri"/>
              </a:rPr>
              <a:t>; output stays inside supply</a:t>
            </a:r>
          </a:p>
          <a:p>
            <a:pPr algn="l" marL="274320" indent="-274320">
              <a:lnSpc>
                <a:spcPct val="100000"/>
              </a:lnSpc>
              <a:spcAft>
                <a:spcPts val="1000"/>
              </a:spcAft>
              <a:buClr>
                <a:srgbClr val="00A9CE"/>
              </a:buClr>
              <a:buFont typeface="Arial"/>
              <a:buChar char="•"/>
            </a:pPr>
            <a:r>
              <a:rPr sz="2000" b="0" i="0">
                <a:solidFill>
                  <a:srgbClr val="23232B"/>
                </a:solidFill>
                <a:latin typeface="Calibri"/>
              </a:rPr>
              <a:t>Open loop: ±135 µV linear range, else a rail → comparator</a:t>
            </a:r>
          </a:p>
          <a:p>
            <a:pPr algn="l" marL="274320" indent="-274320">
              <a:lnSpc>
                <a:spcPct val="100000"/>
              </a:lnSpc>
              <a:spcAft>
                <a:spcPts val="1000"/>
              </a:spcAft>
              <a:buClr>
                <a:srgbClr val="00A9CE"/>
              </a:buClr>
              <a:buFont typeface="Arial"/>
              <a:buChar char="•"/>
            </a:pPr>
            <a:r>
              <a:rPr sz="2000" b="0" i="0">
                <a:solidFill>
                  <a:srgbClr val="23232B"/>
                </a:solidFill>
                <a:latin typeface="Calibri"/>
              </a:rPr>
              <a:t>Negative feedback to the inverting input pulls V</a:t>
            </a:r>
            <a:r>
              <a:rPr sz="2000" b="0" i="0" baseline="-25000">
                <a:solidFill>
                  <a:srgbClr val="23232B"/>
                </a:solidFill>
                <a:latin typeface="Calibri"/>
              </a:rPr>
              <a:t>+</a:t>
            </a:r>
            <a:r>
              <a:rPr sz="2000" b="0" i="0">
                <a:solidFill>
                  <a:srgbClr val="23232B"/>
                </a:solidFill>
                <a:latin typeface="Calibri"/>
              </a:rPr>
              <a:t> − V</a:t>
            </a:r>
            <a:r>
              <a:rPr sz="2000" b="0" i="0" baseline="-25000">
                <a:solidFill>
                  <a:srgbClr val="23232B"/>
                </a:solidFill>
                <a:latin typeface="Calibri"/>
              </a:rPr>
              <a:t>−</a:t>
            </a:r>
            <a:r>
              <a:rPr sz="2000" b="0" i="0">
                <a:solidFill>
                  <a:srgbClr val="23232B"/>
                </a:solidFill>
                <a:latin typeface="Calibri"/>
              </a:rPr>
              <a:t> to ≈ 0</a:t>
            </a:r>
          </a:p>
          <a:p>
            <a:pPr algn="l" marL="274320" indent="-274320">
              <a:lnSpc>
                <a:spcPct val="100000"/>
              </a:lnSpc>
              <a:spcAft>
                <a:spcPts val="1000"/>
              </a:spcAft>
              <a:buClr>
                <a:srgbClr val="00A9CE"/>
              </a:buClr>
              <a:buFont typeface="Arial"/>
              <a:buChar char="•"/>
            </a:pPr>
            <a:r>
              <a:rPr sz="2000" b="0" i="0">
                <a:solidFill>
                  <a:srgbClr val="23232B"/>
                </a:solidFill>
                <a:latin typeface="Calibri"/>
              </a:rPr>
              <a:t>Rule 1 holds only while the output is not saturated</a:t>
            </a:r>
          </a:p>
        </p:txBody>
      </p:sp>
      <p:sp>
        <p:nvSpPr>
          <p:cNvPr id="7" name="Key rule"/>
          <p:cNvSpPr/>
          <p:nvPr/>
        </p:nvSpPr>
        <p:spPr>
          <a:xfrm>
            <a:off x="548640" y="41788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42885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45628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With negative feedback: V</a:t>
            </a:r>
            <a:r>
              <a:rPr sz="1700" b="1" i="0" baseline="-25000">
                <a:solidFill>
                  <a:srgbClr val="4E2A8C"/>
                </a:solidFill>
                <a:latin typeface="Calibri"/>
              </a:rPr>
              <a:t>+</a:t>
            </a:r>
            <a:r>
              <a:rPr sz="1700" b="1" i="0">
                <a:solidFill>
                  <a:srgbClr val="4E2A8C"/>
                </a:solidFill>
                <a:latin typeface="Calibri"/>
              </a:rPr>
              <a:t> = V</a:t>
            </a:r>
            <a:r>
              <a:rPr sz="1700" b="1" i="0" baseline="-25000">
                <a:solidFill>
                  <a:srgbClr val="4E2A8C"/>
                </a:solidFill>
                <a:latin typeface="Calibri"/>
              </a:rPr>
              <a:t>−</a:t>
            </a:r>
            <a:r>
              <a:rPr sz="1700" b="1" i="0">
                <a:solidFill>
                  <a:srgbClr val="4E2A8C"/>
                </a:solidFill>
                <a:latin typeface="Calibri"/>
              </a:rPr>
              <a:t> and I</a:t>
            </a:r>
            <a:r>
              <a:rPr sz="1700" b="1" i="0" baseline="-25000">
                <a:solidFill>
                  <a:srgbClr val="4E2A8C"/>
                </a:solidFill>
                <a:latin typeface="Calibri"/>
              </a:rPr>
              <a:t>+</a:t>
            </a:r>
            <a:r>
              <a:rPr sz="1700" b="1" i="0">
                <a:solidFill>
                  <a:srgbClr val="4E2A8C"/>
                </a:solidFill>
                <a:latin typeface="Calibri"/>
              </a:rPr>
              <a:t> = I</a:t>
            </a:r>
            <a:r>
              <a:rPr sz="1700" b="1" i="0" baseline="-25000">
                <a:solidFill>
                  <a:srgbClr val="4E2A8C"/>
                </a:solidFill>
                <a:latin typeface="Calibri"/>
              </a:rPr>
              <a:t>−</a:t>
            </a:r>
            <a:r>
              <a:rPr sz="1700" b="1" i="0">
                <a:solidFill>
                  <a:srgbClr val="4E2A8C"/>
                </a:solidFill>
                <a:latin typeface="Calibri"/>
              </a:rPr>
              <a:t> = 0</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BASIC AMPLIFIER CIRCUITS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Voltage follower: buffer the source</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voltage-follower-buffer-1.png"/>
          <p:cNvPicPr>
            <a:picLocks noChangeAspect="1"/>
          </p:cNvPicPr>
          <p:nvPr/>
        </p:nvPicPr>
        <p:blipFill>
          <a:blip r:embed="rId2"/>
          <a:stretch>
            <a:fillRect/>
          </a:stretch>
        </p:blipFill>
        <p:spPr>
          <a:xfrm>
            <a:off x="6876288" y="2475982"/>
            <a:ext cx="4565599" cy="2491251"/>
          </a:xfrm>
          <a:prstGeom prst="rect">
            <a:avLst/>
          </a:prstGeom>
        </p:spPr>
      </p:pic>
      <p:sp>
        <p:nvSpPr>
          <p:cNvPr id="6" name="Falstad opamp_follower">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opamp_follower">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opamps/opamp_follower</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Compare the loaded divider (0.833 V) with the buffered one (5.00 V)</a:t>
            </a:r>
          </a:p>
        </p:txBody>
      </p:sp>
      <p:sp>
        <p:nvSpPr>
          <p:cNvPr id="11" name="Bullets"/>
          <p:cNvSpPr txBox="1"/>
          <p:nvPr/>
        </p:nvSpPr>
        <p:spPr>
          <a:xfrm>
            <a:off x="548640" y="1298448"/>
            <a:ext cx="5806440" cy="3861815"/>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V</a:t>
            </a:r>
            <a:r>
              <a:rPr sz="2000" b="0" i="0" baseline="-25000">
                <a:solidFill>
                  <a:srgbClr val="23232B"/>
                </a:solidFill>
                <a:latin typeface="Calibri"/>
              </a:rPr>
              <a:t>out</a:t>
            </a:r>
            <a:r>
              <a:rPr sz="2000" b="0" i="0">
                <a:solidFill>
                  <a:srgbClr val="23232B"/>
                </a:solidFill>
                <a:latin typeface="Calibri"/>
              </a:rPr>
              <a:t> = V</a:t>
            </a:r>
            <a:r>
              <a:rPr sz="2000" b="0" i="0" baseline="-25000">
                <a:solidFill>
                  <a:srgbClr val="23232B"/>
                </a:solidFill>
                <a:latin typeface="Calibri"/>
              </a:rPr>
              <a:t>in</a:t>
            </a:r>
            <a:r>
              <a:rPr sz="2000" b="0" i="0">
                <a:solidFill>
                  <a:srgbClr val="23232B"/>
                </a:solidFill>
                <a:latin typeface="Calibri"/>
              </a:rPr>
              <a:t>, gain 1; input current ≈ 0, output low impedance</a:t>
            </a:r>
          </a:p>
          <a:p>
            <a:pPr algn="l" marL="274320" indent="-274320">
              <a:lnSpc>
                <a:spcPct val="100000"/>
              </a:lnSpc>
              <a:spcAft>
                <a:spcPts val="1000"/>
              </a:spcAft>
              <a:buClr>
                <a:srgbClr val="00A9CE"/>
              </a:buClr>
              <a:buFont typeface="Arial"/>
              <a:buChar char="•"/>
            </a:pPr>
            <a:r>
              <a:rPr sz="2000" b="0" i="0">
                <a:solidFill>
                  <a:srgbClr val="23232B"/>
                </a:solidFill>
                <a:latin typeface="Calibri"/>
              </a:rPr>
              <a:t>100k/100k divider with 10 kΩ load: 0.833 V instead of 5 V</a:t>
            </a:r>
          </a:p>
          <a:p>
            <a:pPr algn="l" marL="274320" indent="-274320">
              <a:lnSpc>
                <a:spcPct val="100000"/>
              </a:lnSpc>
              <a:spcAft>
                <a:spcPts val="1000"/>
              </a:spcAft>
              <a:buClr>
                <a:srgbClr val="00A9CE"/>
              </a:buClr>
              <a:buFont typeface="Arial"/>
              <a:buChar char="•"/>
            </a:pPr>
            <a:r>
              <a:rPr sz="2000" b="0" i="0">
                <a:solidFill>
                  <a:srgbClr val="23232B"/>
                </a:solidFill>
                <a:latin typeface="Calibri"/>
              </a:rPr>
              <a:t>Behind a follower: 5.00 V, the divider does not notice the load</a:t>
            </a:r>
          </a:p>
          <a:p>
            <a:pPr algn="l" marL="274320" indent="-274320">
              <a:lnSpc>
                <a:spcPct val="100000"/>
              </a:lnSpc>
              <a:spcAft>
                <a:spcPts val="1000"/>
              </a:spcAft>
              <a:buClr>
                <a:srgbClr val="00A9CE"/>
              </a:buClr>
              <a:buFont typeface="Arial"/>
              <a:buChar char="•"/>
            </a:pPr>
            <a:r>
              <a:rPr sz="2000" b="0" i="0">
                <a:solidFill>
                  <a:srgbClr val="23232B"/>
                </a:solidFill>
                <a:latin typeface="Calibri"/>
              </a:rPr>
              <a:t>Used at bridge taps, ADC reference ladder, S&amp;H hold capacitor</a:t>
            </a:r>
          </a:p>
        </p:txBody>
      </p:sp>
      <p:pic>
        <p:nvPicPr>
          <p:cNvPr id="12"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BASIC AMPLIFIER CIRCUITS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Non-inverting vs. inverting amplifier</a:t>
            </a:r>
          </a:p>
        </p:txBody>
      </p:sp>
      <p:sp>
        <p:nvSpPr>
          <p:cNvPr id="4" name="Figure panel"/>
          <p:cNvSpPr/>
          <p:nvPr/>
        </p:nvSpPr>
        <p:spPr>
          <a:xfrm>
            <a:off x="6903719" y="1298448"/>
            <a:ext cx="4739335" cy="4846320"/>
          </a:xfrm>
          <a:prstGeom prst="roundRect">
            <a:avLst>
              <a:gd name="adj" fmla="val 2315"/>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non-inverting-amplifier-1.png"/>
          <p:cNvPicPr>
            <a:picLocks noChangeAspect="1"/>
          </p:cNvPicPr>
          <p:nvPr/>
        </p:nvPicPr>
        <p:blipFill>
          <a:blip r:embed="rId2"/>
          <a:stretch>
            <a:fillRect/>
          </a:stretch>
        </p:blipFill>
        <p:spPr>
          <a:xfrm>
            <a:off x="7148405" y="1499616"/>
            <a:ext cx="4249963" cy="4443983"/>
          </a:xfrm>
          <a:prstGeom prst="rect">
            <a:avLst/>
          </a:prstGeom>
        </p:spPr>
      </p:pic>
      <p:sp>
        <p:nvSpPr>
          <p:cNvPr id="6" name="Compare card"/>
          <p:cNvSpPr/>
          <p:nvPr/>
        </p:nvSpPr>
        <p:spPr>
          <a:xfrm>
            <a:off x="548640" y="1298448"/>
            <a:ext cx="6035040" cy="2286000"/>
          </a:xfrm>
          <a:prstGeom prst="roundRect">
            <a:avLst>
              <a:gd name="adj" fmla="val 5600"/>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 head"/>
          <p:cNvSpPr txBox="1"/>
          <p:nvPr/>
        </p:nvSpPr>
        <p:spPr>
          <a:xfrm>
            <a:off x="868680" y="1572768"/>
            <a:ext cx="5394959"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6638B6"/>
                </a:solidFill>
                <a:latin typeface="Calibri"/>
              </a:rPr>
              <a:t>Non-inverting</a:t>
            </a:r>
          </a:p>
        </p:txBody>
      </p:sp>
      <p:sp>
        <p:nvSpPr>
          <p:cNvPr id="8" name="Card bullets"/>
          <p:cNvSpPr txBox="1"/>
          <p:nvPr/>
        </p:nvSpPr>
        <p:spPr>
          <a:xfrm>
            <a:off x="868680" y="2167128"/>
            <a:ext cx="5394959" cy="123444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G = 1 + R</a:t>
            </a:r>
            <a:r>
              <a:rPr sz="2000" b="0" i="0" baseline="-25000">
                <a:solidFill>
                  <a:srgbClr val="23232B"/>
                </a:solidFill>
                <a:latin typeface="Calibri"/>
              </a:rPr>
              <a:t>2</a:t>
            </a:r>
            <a:r>
              <a:rPr sz="2000" b="0" i="0">
                <a:solidFill>
                  <a:srgbClr val="23232B"/>
                </a:solidFill>
                <a:latin typeface="Calibri"/>
              </a:rPr>
              <a:t>/R</a:t>
            </a:r>
            <a:r>
              <a:rPr sz="2000" b="0" i="0" baseline="-25000">
                <a:solidFill>
                  <a:srgbClr val="23232B"/>
                </a:solidFill>
                <a:latin typeface="Calibri"/>
              </a:rPr>
              <a:t>1</a:t>
            </a:r>
            <a:r>
              <a:rPr sz="2000" b="0" i="0">
                <a:solidFill>
                  <a:srgbClr val="23232B"/>
                </a:solidFill>
                <a:latin typeface="Calibri"/>
              </a:rPr>
              <a:t>, in phase</a:t>
            </a:r>
          </a:p>
          <a:p>
            <a:pPr algn="l" marL="274320" indent="-274320">
              <a:lnSpc>
                <a:spcPct val="100000"/>
              </a:lnSpc>
              <a:spcAft>
                <a:spcPts val="1000"/>
              </a:spcAft>
              <a:buClr>
                <a:srgbClr val="00A9CE"/>
              </a:buClr>
              <a:buFont typeface="Arial"/>
              <a:buChar char="•"/>
            </a:pPr>
            <a:r>
              <a:rPr sz="2000" b="0" i="0">
                <a:solidFill>
                  <a:srgbClr val="23232B"/>
                </a:solidFill>
                <a:latin typeface="Calibri"/>
              </a:rPr>
              <a:t>Input resistance ≈ ∞</a:t>
            </a:r>
          </a:p>
          <a:p>
            <a:pPr algn="l" marL="274320" indent="-274320">
              <a:lnSpc>
                <a:spcPct val="100000"/>
              </a:lnSpc>
              <a:spcAft>
                <a:spcPts val="1000"/>
              </a:spcAft>
              <a:buClr>
                <a:srgbClr val="00A9CE"/>
              </a:buClr>
              <a:buFont typeface="Arial"/>
              <a:buChar char="•"/>
            </a:pPr>
            <a:r>
              <a:rPr sz="2000" b="0" i="0">
                <a:solidFill>
                  <a:srgbClr val="23232B"/>
                </a:solidFill>
                <a:latin typeface="Calibri"/>
              </a:rPr>
              <a:t>Gain ≥ 1 only</a:t>
            </a:r>
          </a:p>
        </p:txBody>
      </p:sp>
      <p:sp>
        <p:nvSpPr>
          <p:cNvPr id="9" name="Compare card"/>
          <p:cNvSpPr/>
          <p:nvPr/>
        </p:nvSpPr>
        <p:spPr>
          <a:xfrm>
            <a:off x="548640" y="3858768"/>
            <a:ext cx="6035040" cy="2286000"/>
          </a:xfrm>
          <a:prstGeom prst="roundRect">
            <a:avLst>
              <a:gd name="adj" fmla="val 5600"/>
            </a:avLst>
          </a:prstGeom>
          <a:solidFill>
            <a:srgbClr val="E5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head"/>
          <p:cNvSpPr txBox="1"/>
          <p:nvPr/>
        </p:nvSpPr>
        <p:spPr>
          <a:xfrm>
            <a:off x="868680" y="4133087"/>
            <a:ext cx="5394959"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007F9B"/>
                </a:solidFill>
                <a:latin typeface="Calibri"/>
              </a:rPr>
              <a:t>Inverting</a:t>
            </a:r>
          </a:p>
        </p:txBody>
      </p:sp>
      <p:sp>
        <p:nvSpPr>
          <p:cNvPr id="11" name="Card bullets"/>
          <p:cNvSpPr txBox="1"/>
          <p:nvPr/>
        </p:nvSpPr>
        <p:spPr>
          <a:xfrm>
            <a:off x="868680" y="4727448"/>
            <a:ext cx="5394959" cy="123444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G = −R</a:t>
            </a:r>
            <a:r>
              <a:rPr sz="2000" b="0" i="0" baseline="-25000">
                <a:solidFill>
                  <a:srgbClr val="23232B"/>
                </a:solidFill>
                <a:latin typeface="Calibri"/>
              </a:rPr>
              <a:t>2</a:t>
            </a:r>
            <a:r>
              <a:rPr sz="2000" b="0" i="0">
                <a:solidFill>
                  <a:srgbClr val="23232B"/>
                </a:solidFill>
                <a:latin typeface="Calibri"/>
              </a:rPr>
              <a:t>/R</a:t>
            </a:r>
            <a:r>
              <a:rPr sz="2000" b="0" i="0" baseline="-25000">
                <a:solidFill>
                  <a:srgbClr val="23232B"/>
                </a:solidFill>
                <a:latin typeface="Calibri"/>
              </a:rPr>
              <a:t>1</a:t>
            </a:r>
            <a:r>
              <a:rPr sz="2000" b="0" i="0">
                <a:solidFill>
                  <a:srgbClr val="23232B"/>
                </a:solidFill>
                <a:latin typeface="Calibri"/>
              </a:rPr>
              <a:t>, 180° phase</a:t>
            </a:r>
          </a:p>
          <a:p>
            <a:pPr algn="l" marL="274320" indent="-274320">
              <a:lnSpc>
                <a:spcPct val="100000"/>
              </a:lnSpc>
              <a:spcAft>
                <a:spcPts val="1000"/>
              </a:spcAft>
              <a:buClr>
                <a:srgbClr val="00A9CE"/>
              </a:buClr>
              <a:buFont typeface="Arial"/>
              <a:buChar char="•"/>
            </a:pPr>
            <a:r>
              <a:rPr sz="2000" b="0" i="0">
                <a:solidFill>
                  <a:srgbClr val="23232B"/>
                </a:solidFill>
                <a:latin typeface="Calibri"/>
              </a:rPr>
              <a:t>V</a:t>
            </a:r>
            <a:r>
              <a:rPr sz="2000" b="0" i="0" baseline="-25000">
                <a:solidFill>
                  <a:srgbClr val="23232B"/>
                </a:solidFill>
                <a:latin typeface="Calibri"/>
              </a:rPr>
              <a:t>−</a:t>
            </a:r>
            <a:r>
              <a:rPr sz="2000" b="0" i="0">
                <a:solidFill>
                  <a:srgbClr val="23232B"/>
                </a:solidFill>
                <a:latin typeface="Calibri"/>
              </a:rPr>
              <a:t> is a virtual ground</a:t>
            </a:r>
          </a:p>
          <a:p>
            <a:pPr algn="l" marL="274320" indent="-274320">
              <a:lnSpc>
                <a:spcPct val="100000"/>
              </a:lnSpc>
              <a:spcAft>
                <a:spcPts val="1000"/>
              </a:spcAft>
              <a:buClr>
                <a:srgbClr val="00A9CE"/>
              </a:buClr>
              <a:buFont typeface="Arial"/>
              <a:buChar char="•"/>
            </a:pPr>
            <a:r>
              <a:rPr sz="2000" b="0" i="0">
                <a:solidFill>
                  <a:srgbClr val="23232B"/>
                </a:solidFill>
                <a:latin typeface="Calibri"/>
              </a:rPr>
              <a:t>Input resistance = R</a:t>
            </a:r>
            <a:r>
              <a:rPr sz="2000" b="0" i="0" baseline="-25000">
                <a:solidFill>
                  <a:srgbClr val="23232B"/>
                </a:solidFill>
                <a:latin typeface="Calibri"/>
              </a:rPr>
              <a:t>1</a:t>
            </a:r>
            <a:r>
              <a:rPr sz="2000" b="0" i="0">
                <a:solidFill>
                  <a:srgbClr val="23232B"/>
                </a:solidFill>
                <a:latin typeface="Calibri"/>
              </a:rPr>
              <a:t> (loads source)</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BASIC AMPLIFIER CIRCUITS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G = 3 and G = −2</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non-inverting-and-inverting-in-falstad-1.png"/>
          <p:cNvPicPr>
            <a:picLocks noChangeAspect="1"/>
          </p:cNvPicPr>
          <p:nvPr/>
        </p:nvPicPr>
        <p:blipFill>
          <a:blip r:embed="rId2"/>
          <a:stretch>
            <a:fillRect/>
          </a:stretch>
        </p:blipFill>
        <p:spPr>
          <a:xfrm>
            <a:off x="749808" y="2691197"/>
            <a:ext cx="5998464" cy="2060821"/>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opamp_noninv_inv">
            <a:hlinkClick r:id="rId3"/>
          </p:cNvPr>
          <p:cNvSpPr/>
          <p:nvPr/>
        </p:nvSpPr>
        <p:spPr>
          <a:xfrm>
            <a:off x="7269479" y="1709928"/>
            <a:ext cx="4373575" cy="908304"/>
          </a:xfrm>
          <a:prstGeom prst="roundRect">
            <a:avLst>
              <a:gd name="adj" fmla="val 1208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96291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208178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opamp_noninv_inv">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opamps/opamp_noninv_inv</a:t>
            </a:r>
          </a:p>
        </p:txBody>
      </p:sp>
      <p:sp>
        <p:nvSpPr>
          <p:cNvPr id="11" name="Falstad hint"/>
          <p:cNvSpPr txBox="1"/>
          <p:nvPr/>
        </p:nvSpPr>
        <p:spPr>
          <a:xfrm>
            <a:off x="7955279" y="2093976"/>
            <a:ext cx="3596335" cy="41452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Scope: ±1.50 V in phase and ±1.00 V inverted for 0.5 V in</a:t>
            </a:r>
          </a:p>
        </p:txBody>
      </p:sp>
      <p:sp>
        <p:nvSpPr>
          <p:cNvPr id="12" name="Label"/>
          <p:cNvSpPr txBox="1"/>
          <p:nvPr/>
        </p:nvSpPr>
        <p:spPr>
          <a:xfrm>
            <a:off x="7269479" y="2983991"/>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395471"/>
            <a:ext cx="4373575" cy="274929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Same R</a:t>
            </a:r>
            <a:r>
              <a:rPr sz="1800" b="0" i="0" baseline="-25000">
                <a:solidFill>
                  <a:srgbClr val="23232B"/>
                </a:solidFill>
                <a:latin typeface="Calibri"/>
              </a:rPr>
              <a:t>1</a:t>
            </a:r>
            <a:r>
              <a:rPr sz="1800" b="0" i="0">
                <a:solidFill>
                  <a:srgbClr val="23232B"/>
                </a:solidFill>
                <a:latin typeface="Calibri"/>
              </a:rPr>
              <a:t> = 10 kΩ, R</a:t>
            </a:r>
            <a:r>
              <a:rPr sz="1800" b="0" i="0" baseline="-25000">
                <a:solidFill>
                  <a:srgbClr val="23232B"/>
                </a:solidFill>
                <a:latin typeface="Calibri"/>
              </a:rPr>
              <a:t>2</a:t>
            </a:r>
            <a:r>
              <a:rPr sz="1800" b="0" i="0">
                <a:solidFill>
                  <a:srgbClr val="23232B"/>
                </a:solidFill>
                <a:latin typeface="Calibri"/>
              </a:rPr>
              <a:t> = 20 kΩ in both circuits</a:t>
            </a:r>
          </a:p>
          <a:p>
            <a:pPr algn="l" marL="274320" indent="-274320">
              <a:lnSpc>
                <a:spcPct val="100000"/>
              </a:lnSpc>
              <a:spcAft>
                <a:spcPts val="1000"/>
              </a:spcAft>
              <a:buClr>
                <a:srgbClr val="00A9CE"/>
              </a:buClr>
              <a:buFont typeface="Arial"/>
              <a:buChar char="•"/>
            </a:pPr>
            <a:r>
              <a:rPr sz="1800" b="0" i="0">
                <a:solidFill>
                  <a:srgbClr val="23232B"/>
                </a:solidFill>
                <a:latin typeface="Calibri"/>
              </a:rPr>
              <a:t>Non-inverting: 1.5 V, in phase; inverting: 1.0 V, inverted</a:t>
            </a:r>
          </a:p>
          <a:p>
            <a:pPr algn="l" marL="274320" indent="-274320">
              <a:lnSpc>
                <a:spcPct val="100000"/>
              </a:lnSpc>
              <a:spcAft>
                <a:spcPts val="1000"/>
              </a:spcAft>
              <a:buClr>
                <a:srgbClr val="00A9CE"/>
              </a:buClr>
              <a:buFont typeface="Arial"/>
              <a:buChar char="•"/>
            </a:pPr>
            <a:r>
              <a:rPr sz="1800" b="0" i="0">
                <a:solidFill>
                  <a:srgbClr val="23232B"/>
                </a:solidFill>
                <a:latin typeface="Calibri"/>
              </a:rPr>
              <a:t>Try R</a:t>
            </a:r>
            <a:r>
              <a:rPr sz="1800" b="0" i="0" baseline="-25000">
                <a:solidFill>
                  <a:srgbClr val="23232B"/>
                </a:solidFill>
                <a:latin typeface="Calibri"/>
              </a:rPr>
              <a:t>2</a:t>
            </a:r>
            <a:r>
              <a:rPr sz="1800" b="0" i="0">
                <a:solidFill>
                  <a:srgbClr val="23232B"/>
                </a:solidFill>
                <a:latin typeface="Calibri"/>
              </a:rPr>
              <a:t> = 47 kΩ for an inverting gain of −4.7</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BASIC AMPLIFIER CIRCUITS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Summing amplifier</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summing-amplifier-1.png"/>
          <p:cNvPicPr>
            <a:picLocks noChangeAspect="1"/>
          </p:cNvPicPr>
          <p:nvPr/>
        </p:nvPicPr>
        <p:blipFill>
          <a:blip r:embed="rId2"/>
          <a:stretch>
            <a:fillRect/>
          </a:stretch>
        </p:blipFill>
        <p:spPr>
          <a:xfrm>
            <a:off x="6876288" y="2079105"/>
            <a:ext cx="4565599" cy="3285004"/>
          </a:xfrm>
          <a:prstGeom prst="rect">
            <a:avLst/>
          </a:prstGeom>
        </p:spPr>
      </p:pic>
      <p:sp>
        <p:nvSpPr>
          <p:cNvPr id="6" name="Falstad opamp_summing">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opamp_summing">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opamps/opamp_summing</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Vout = −1.50 V, summing node stays at 0.00 V</a:t>
            </a:r>
          </a:p>
        </p:txBody>
      </p:sp>
      <p:sp>
        <p:nvSpPr>
          <p:cNvPr id="11" name="Bullets"/>
          <p:cNvSpPr txBox="1"/>
          <p:nvPr/>
        </p:nvSpPr>
        <p:spPr>
          <a:xfrm>
            <a:off x="548640" y="1298448"/>
            <a:ext cx="5806440" cy="18237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Virtual ground decouples the inputs; currents add up in R</a:t>
            </a:r>
            <a:r>
              <a:rPr sz="2000" b="0" i="0" baseline="-25000">
                <a:solidFill>
                  <a:srgbClr val="23232B"/>
                </a:solidFill>
                <a:latin typeface="Calibri"/>
              </a:rPr>
              <a:t>f</a:t>
            </a:r>
          </a:p>
          <a:p>
            <a:pPr algn="l" marL="274320" indent="-274320">
              <a:lnSpc>
                <a:spcPct val="100000"/>
              </a:lnSpc>
              <a:spcAft>
                <a:spcPts val="1000"/>
              </a:spcAft>
              <a:buClr>
                <a:srgbClr val="00A9CE"/>
              </a:buClr>
              <a:buFont typeface="Arial"/>
              <a:buChar char="•"/>
            </a:pPr>
            <a:r>
              <a:rPr sz="2000" b="0" i="0">
                <a:solidFill>
                  <a:srgbClr val="23232B"/>
                </a:solidFill>
                <a:latin typeface="Calibri"/>
              </a:rPr>
              <a:t>Weight of input k: −R</a:t>
            </a:r>
            <a:r>
              <a:rPr sz="2000" b="0" i="0" baseline="-25000">
                <a:solidFill>
                  <a:srgbClr val="23232B"/>
                </a:solidFill>
                <a:latin typeface="Calibri"/>
              </a:rPr>
              <a:t>f</a:t>
            </a:r>
            <a:r>
              <a:rPr sz="2000" b="0" i="0">
                <a:solidFill>
                  <a:srgbClr val="23232B"/>
                </a:solidFill>
                <a:latin typeface="Calibri"/>
              </a:rPr>
              <a:t>/R</a:t>
            </a:r>
            <a:r>
              <a:rPr sz="2000" b="0" i="0" baseline="-25000">
                <a:solidFill>
                  <a:srgbClr val="23232B"/>
                </a:solidFill>
                <a:latin typeface="Calibri"/>
              </a:rPr>
              <a:t>k</a:t>
            </a:r>
          </a:p>
          <a:p>
            <a:pPr algn="l" marL="274320" indent="-274320">
              <a:lnSpc>
                <a:spcPct val="100000"/>
              </a:lnSpc>
              <a:spcAft>
                <a:spcPts val="1000"/>
              </a:spcAft>
              <a:buClr>
                <a:srgbClr val="00A9CE"/>
              </a:buClr>
              <a:buFont typeface="Arial"/>
              <a:buChar char="•"/>
            </a:pPr>
            <a:r>
              <a:rPr sz="2000" b="0" i="0">
                <a:solidFill>
                  <a:srgbClr val="23232B"/>
                </a:solidFill>
                <a:latin typeface="Calibri"/>
              </a:rPr>
              <a:t>Uses: audio mixer, weighted DAC, adding an offset (level shift)</a:t>
            </a:r>
          </a:p>
        </p:txBody>
      </p:sp>
      <p:sp>
        <p:nvSpPr>
          <p:cNvPr id="12" name="Key rule"/>
          <p:cNvSpPr/>
          <p:nvPr/>
        </p:nvSpPr>
        <p:spPr>
          <a:xfrm>
            <a:off x="548640" y="3442208"/>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35519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38262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out</a:t>
            </a:r>
            <a:r>
              <a:rPr sz="1700" b="1" i="0">
                <a:solidFill>
                  <a:srgbClr val="4E2A8C"/>
                </a:solidFill>
                <a:latin typeface="Calibri"/>
              </a:rPr>
              <a:t> = −R</a:t>
            </a:r>
            <a:r>
              <a:rPr sz="1700" b="1" i="0" baseline="-25000">
                <a:solidFill>
                  <a:srgbClr val="4E2A8C"/>
                </a:solidFill>
                <a:latin typeface="Calibri"/>
              </a:rPr>
              <a:t>f</a:t>
            </a:r>
            <a:r>
              <a:rPr sz="1700" b="1" i="0">
                <a:solidFill>
                  <a:srgbClr val="4E2A8C"/>
                </a:solidFill>
                <a:latin typeface="Calibri"/>
              </a:rPr>
              <a:t>·(V</a:t>
            </a:r>
            <a:r>
              <a:rPr sz="1700" b="1" i="0" baseline="-25000">
                <a:solidFill>
                  <a:srgbClr val="4E2A8C"/>
                </a:solidFill>
                <a:latin typeface="Calibri"/>
              </a:rPr>
              <a:t>1</a:t>
            </a:r>
            <a:r>
              <a:rPr sz="1700" b="1" i="0">
                <a:solidFill>
                  <a:srgbClr val="4E2A8C"/>
                </a:solidFill>
                <a:latin typeface="Calibri"/>
              </a:rPr>
              <a:t>/R</a:t>
            </a:r>
            <a:r>
              <a:rPr sz="1700" b="1" i="0" baseline="-25000">
                <a:solidFill>
                  <a:srgbClr val="4E2A8C"/>
                </a:solidFill>
                <a:latin typeface="Calibri"/>
              </a:rPr>
              <a:t>1</a:t>
            </a:r>
            <a:r>
              <a:rPr sz="1700" b="1" i="0">
                <a:solidFill>
                  <a:srgbClr val="4E2A8C"/>
                </a:solidFill>
                <a:latin typeface="Calibri"/>
              </a:rPr>
              <a:t> + V</a:t>
            </a:r>
            <a:r>
              <a:rPr sz="1700" b="1" i="0" baseline="-25000">
                <a:solidFill>
                  <a:srgbClr val="4E2A8C"/>
                </a:solidFill>
                <a:latin typeface="Calibri"/>
              </a:rPr>
              <a:t>2</a:t>
            </a:r>
            <a:r>
              <a:rPr sz="1700" b="1" i="0">
                <a:solidFill>
                  <a:srgbClr val="4E2A8C"/>
                </a:solidFill>
                <a:latin typeface="Calibri"/>
              </a:rPr>
              <a:t>/R</a:t>
            </a:r>
            <a:r>
              <a:rPr sz="1700" b="1" i="0" baseline="-25000">
                <a:solidFill>
                  <a:srgbClr val="4E2A8C"/>
                </a:solidFill>
                <a:latin typeface="Calibri"/>
              </a:rPr>
              <a:t>2</a:t>
            </a:r>
            <a:r>
              <a:rPr sz="1700" b="1" i="0">
                <a:solidFill>
                  <a:srgbClr val="4E2A8C"/>
                </a:solidFill>
                <a:latin typeface="Calibri"/>
              </a:rPr>
              <a:t> + V</a:t>
            </a:r>
            <a:r>
              <a:rPr sz="1700" b="1" i="0" baseline="-25000">
                <a:solidFill>
                  <a:srgbClr val="4E2A8C"/>
                </a:solidFill>
                <a:latin typeface="Calibri"/>
              </a:rPr>
              <a:t>3</a:t>
            </a:r>
            <a:r>
              <a:rPr sz="1700" b="1" i="0">
                <a:solidFill>
                  <a:srgbClr val="4E2A8C"/>
                </a:solidFill>
                <a:latin typeface="Calibri"/>
              </a:rPr>
              <a:t>/R</a:t>
            </a:r>
            <a:r>
              <a:rPr sz="1700" b="1" i="0" baseline="-25000">
                <a:solidFill>
                  <a:srgbClr val="4E2A8C"/>
                </a:solidFill>
                <a:latin typeface="Calibri"/>
              </a:rPr>
              <a:t>3</a:t>
            </a:r>
            <a:r>
              <a:rPr sz="1700" b="1" i="0">
                <a:solidFill>
                  <a:srgbClr val="4E2A8C"/>
                </a:solidFill>
                <a:latin typeface="Calibri"/>
              </a:rPr>
              <a:t>)</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DIFFERENCE AND INSTRUMENTATION AMPLIFIERS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Difference amplifier and CMRR</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difference-amplifier-1.png"/>
          <p:cNvPicPr>
            <a:picLocks noChangeAspect="1"/>
          </p:cNvPicPr>
          <p:nvPr/>
        </p:nvPicPr>
        <p:blipFill>
          <a:blip r:embed="rId2"/>
          <a:stretch>
            <a:fillRect/>
          </a:stretch>
        </p:blipFill>
        <p:spPr>
          <a:xfrm>
            <a:off x="6876288" y="1820475"/>
            <a:ext cx="4565599" cy="3802265"/>
          </a:xfrm>
          <a:prstGeom prst="rect">
            <a:avLst/>
          </a:prstGeom>
        </p:spPr>
      </p:pic>
      <p:sp>
        <p:nvSpPr>
          <p:cNvPr id="6" name="Falstad opamp_diffamp">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opamp_diffamp">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opamps/opamp_diffamp</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Matched 50.0 mV vs. 1 % mismatch 72.6 mV at 2.5 V common mode</a:t>
            </a:r>
          </a:p>
        </p:txBody>
      </p:sp>
      <p:sp>
        <p:nvSpPr>
          <p:cNvPr id="11" name="Bullets"/>
          <p:cNvSpPr txBox="1"/>
          <p:nvPr/>
        </p:nvSpPr>
        <p:spPr>
          <a:xfrm>
            <a:off x="548640" y="1298448"/>
            <a:ext cx="5806440" cy="216407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900" b="0" i="0">
                <a:solidFill>
                  <a:srgbClr val="23232B"/>
                </a:solidFill>
                <a:latin typeface="Calibri"/>
              </a:rPr>
              <a:t>With R</a:t>
            </a:r>
            <a:r>
              <a:rPr sz="1900" b="0" i="0" baseline="-25000">
                <a:solidFill>
                  <a:srgbClr val="23232B"/>
                </a:solidFill>
                <a:latin typeface="Calibri"/>
              </a:rPr>
              <a:t>4</a:t>
            </a:r>
            <a:r>
              <a:rPr sz="1900" b="0" i="0">
                <a:solidFill>
                  <a:srgbClr val="23232B"/>
                </a:solidFill>
                <a:latin typeface="Calibri"/>
              </a:rPr>
              <a:t>/R</a:t>
            </a:r>
            <a:r>
              <a:rPr sz="1900" b="0" i="0" baseline="-25000">
                <a:solidFill>
                  <a:srgbClr val="23232B"/>
                </a:solidFill>
                <a:latin typeface="Calibri"/>
              </a:rPr>
              <a:t>3</a:t>
            </a:r>
            <a:r>
              <a:rPr sz="1900" b="0" i="0">
                <a:solidFill>
                  <a:srgbClr val="23232B"/>
                </a:solidFill>
                <a:latin typeface="Calibri"/>
              </a:rPr>
              <a:t> = R</a:t>
            </a:r>
            <a:r>
              <a:rPr sz="1900" b="0" i="0" baseline="-25000">
                <a:solidFill>
                  <a:srgbClr val="23232B"/>
                </a:solidFill>
                <a:latin typeface="Calibri"/>
              </a:rPr>
              <a:t>2</a:t>
            </a:r>
            <a:r>
              <a:rPr sz="1900" b="0" i="0">
                <a:solidFill>
                  <a:srgbClr val="23232B"/>
                </a:solidFill>
                <a:latin typeface="Calibri"/>
              </a:rPr>
              <a:t>/R</a:t>
            </a:r>
            <a:r>
              <a:rPr sz="1900" b="0" i="0" baseline="-25000">
                <a:solidFill>
                  <a:srgbClr val="23232B"/>
                </a:solidFill>
                <a:latin typeface="Calibri"/>
              </a:rPr>
              <a:t>1</a:t>
            </a:r>
            <a:r>
              <a:rPr sz="1900" b="0" i="0">
                <a:solidFill>
                  <a:srgbClr val="23232B"/>
                </a:solidFill>
                <a:latin typeface="Calibri"/>
              </a:rPr>
              <a:t>: V</a:t>
            </a:r>
            <a:r>
              <a:rPr sz="1900" b="0" i="0" baseline="-25000">
                <a:solidFill>
                  <a:srgbClr val="23232B"/>
                </a:solidFill>
                <a:latin typeface="Calibri"/>
              </a:rPr>
              <a:t>out</a:t>
            </a:r>
            <a:r>
              <a:rPr sz="1900" b="0" i="0">
                <a:solidFill>
                  <a:srgbClr val="23232B"/>
                </a:solidFill>
                <a:latin typeface="Calibri"/>
              </a:rPr>
              <a:t> = (R</a:t>
            </a:r>
            <a:r>
              <a:rPr sz="1900" b="0" i="0" baseline="-25000">
                <a:solidFill>
                  <a:srgbClr val="23232B"/>
                </a:solidFill>
                <a:latin typeface="Calibri"/>
              </a:rPr>
              <a:t>2</a:t>
            </a:r>
            <a:r>
              <a:rPr sz="1900" b="0" i="0">
                <a:solidFill>
                  <a:srgbClr val="23232B"/>
                </a:solidFill>
                <a:latin typeface="Calibri"/>
              </a:rPr>
              <a:t>/R</a:t>
            </a:r>
            <a:r>
              <a:rPr sz="1900" b="0" i="0" baseline="-25000">
                <a:solidFill>
                  <a:srgbClr val="23232B"/>
                </a:solidFill>
                <a:latin typeface="Calibri"/>
              </a:rPr>
              <a:t>1</a:t>
            </a:r>
            <a:r>
              <a:rPr sz="1900" b="0" i="0">
                <a:solidFill>
                  <a:srgbClr val="23232B"/>
                </a:solidFill>
                <a:latin typeface="Calibri"/>
              </a:rPr>
              <a:t>)·(V</a:t>
            </a:r>
            <a:r>
              <a:rPr sz="1900" b="0" i="0" baseline="-25000">
                <a:solidFill>
                  <a:srgbClr val="23232B"/>
                </a:solidFill>
                <a:latin typeface="Calibri"/>
              </a:rPr>
              <a:t>1</a:t>
            </a:r>
            <a:r>
              <a:rPr sz="1900" b="0" i="0">
                <a:solidFill>
                  <a:srgbClr val="23232B"/>
                </a:solidFill>
                <a:latin typeface="Calibri"/>
              </a:rPr>
              <a:t> − V</a:t>
            </a:r>
            <a:r>
              <a:rPr sz="1900" b="0" i="0" baseline="-25000">
                <a:solidFill>
                  <a:srgbClr val="23232B"/>
                </a:solidFill>
                <a:latin typeface="Calibri"/>
              </a:rPr>
              <a:t>2</a:t>
            </a:r>
            <a:r>
              <a:rPr sz="1900" b="0" i="0">
                <a:solidFill>
                  <a:srgbClr val="23232B"/>
                </a:solidFill>
                <a:latin typeface="Calibri"/>
              </a:rPr>
              <a:t>)</a:t>
            </a:r>
          </a:p>
          <a:p>
            <a:pPr algn="l" marL="274320" indent="-274320">
              <a:lnSpc>
                <a:spcPct val="100000"/>
              </a:lnSpc>
              <a:spcAft>
                <a:spcPts val="1000"/>
              </a:spcAft>
              <a:buClr>
                <a:srgbClr val="00A9CE"/>
              </a:buClr>
              <a:buFont typeface="Arial"/>
              <a:buChar char="•"/>
            </a:pPr>
            <a:r>
              <a:rPr sz="1900" b="0" i="0">
                <a:solidFill>
                  <a:srgbClr val="23232B"/>
                </a:solidFill>
                <a:latin typeface="Calibri"/>
              </a:rPr>
              <a:t>CMRR = A</a:t>
            </a:r>
            <a:r>
              <a:rPr sz="1900" b="0" i="0" baseline="-25000">
                <a:solidFill>
                  <a:srgbClr val="23232B"/>
                </a:solidFill>
                <a:latin typeface="Calibri"/>
              </a:rPr>
              <a:t>D</a:t>
            </a:r>
            <a:r>
              <a:rPr sz="1900" b="0" i="0">
                <a:solidFill>
                  <a:srgbClr val="23232B"/>
                </a:solidFill>
                <a:latin typeface="Calibri"/>
              </a:rPr>
              <a:t>/A</a:t>
            </a:r>
            <a:r>
              <a:rPr sz="1900" b="0" i="0" baseline="-25000">
                <a:solidFill>
                  <a:srgbClr val="23232B"/>
                </a:solidFill>
                <a:latin typeface="Calibri"/>
              </a:rPr>
              <a:t>CM</a:t>
            </a:r>
            <a:r>
              <a:rPr sz="1900" b="0" i="0">
                <a:solidFill>
                  <a:srgbClr val="23232B"/>
                </a:solidFill>
                <a:latin typeface="Calibri"/>
              </a:rPr>
              <a:t>; set by resistor matching, not the op-amp</a:t>
            </a:r>
          </a:p>
          <a:p>
            <a:pPr algn="l" marL="274320" indent="-274320">
              <a:lnSpc>
                <a:spcPct val="100000"/>
              </a:lnSpc>
              <a:spcAft>
                <a:spcPts val="1000"/>
              </a:spcAft>
              <a:buClr>
                <a:srgbClr val="00A9CE"/>
              </a:buClr>
              <a:buFont typeface="Arial"/>
              <a:buChar char="•"/>
            </a:pPr>
            <a:r>
              <a:rPr sz="1900" b="0" i="0">
                <a:solidFill>
                  <a:srgbClr val="23232B"/>
                </a:solidFill>
                <a:latin typeface="Calibri"/>
              </a:rPr>
              <a:t>G = 10, R</a:t>
            </a:r>
            <a:r>
              <a:rPr sz="1900" b="0" i="0" baseline="-25000">
                <a:solidFill>
                  <a:srgbClr val="23232B"/>
                </a:solidFill>
                <a:latin typeface="Calibri"/>
              </a:rPr>
              <a:t>4</a:t>
            </a:r>
            <a:r>
              <a:rPr sz="1900" b="0" i="0">
                <a:solidFill>
                  <a:srgbClr val="23232B"/>
                </a:solidFill>
                <a:latin typeface="Calibri"/>
              </a:rPr>
              <a:t> 1 % high: 72.6 mV instead of 50.0 mV (+45 %)</a:t>
            </a:r>
          </a:p>
          <a:p>
            <a:pPr algn="l" marL="274320" indent="-274320">
              <a:lnSpc>
                <a:spcPct val="100000"/>
              </a:lnSpc>
              <a:spcAft>
                <a:spcPts val="1000"/>
              </a:spcAft>
              <a:buClr>
                <a:srgbClr val="00A9CE"/>
              </a:buClr>
              <a:buFont typeface="Arial"/>
              <a:buChar char="•"/>
            </a:pPr>
            <a:r>
              <a:rPr sz="1900" b="0" i="0">
                <a:solidFill>
                  <a:srgbClr val="23232B"/>
                </a:solidFill>
                <a:latin typeface="Calibri"/>
              </a:rPr>
              <a:t>Remedy: 0.1 % or matched networks, trimmer, integrated diff. amp</a:t>
            </a:r>
          </a:p>
        </p:txBody>
      </p:sp>
      <p:sp>
        <p:nvSpPr>
          <p:cNvPr id="12" name="Key rule"/>
          <p:cNvSpPr/>
          <p:nvPr/>
        </p:nvSpPr>
        <p:spPr>
          <a:xfrm>
            <a:off x="548640" y="3782567"/>
            <a:ext cx="5806440" cy="1085087"/>
          </a:xfrm>
          <a:prstGeom prst="roundRect">
            <a:avLst>
              <a:gd name="adj" fmla="val 10112"/>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389229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166615"/>
            <a:ext cx="5349240" cy="53644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Worst case: CMRR ≈ (1 + G)/(4ε), 1 % parts, G = 10: ≈ 275 (49 dB)</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DIFFERENCE AND INSTRUMENTATION AMPLIFIERS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Instrumentation amplifier (INA)</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instrumentation-amplifier-three-op-amps-1.png"/>
          <p:cNvPicPr>
            <a:picLocks noChangeAspect="1"/>
          </p:cNvPicPr>
          <p:nvPr/>
        </p:nvPicPr>
        <p:blipFill>
          <a:blip r:embed="rId2"/>
          <a:stretch>
            <a:fillRect/>
          </a:stretch>
        </p:blipFill>
        <p:spPr>
          <a:xfrm>
            <a:off x="6876288" y="2577153"/>
            <a:ext cx="4565599" cy="2288908"/>
          </a:xfrm>
          <a:prstGeom prst="rect">
            <a:avLst/>
          </a:prstGeom>
        </p:spPr>
      </p:pic>
      <p:sp>
        <p:nvSpPr>
          <p:cNvPr id="6" name="Bullets"/>
          <p:cNvSpPr txBox="1"/>
          <p:nvPr/>
        </p:nvSpPr>
        <p:spPr>
          <a:xfrm>
            <a:off x="548640" y="1298448"/>
            <a:ext cx="5806440" cy="3296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A1, A2 non-inverting: inputs draw no current, bridge not loaded</a:t>
            </a:r>
          </a:p>
          <a:p>
            <a:pPr algn="l" marL="274320" indent="-274320">
              <a:lnSpc>
                <a:spcPct val="100000"/>
              </a:lnSpc>
              <a:spcAft>
                <a:spcPts val="1000"/>
              </a:spcAft>
              <a:buClr>
                <a:srgbClr val="00A9CE"/>
              </a:buClr>
              <a:buFont typeface="Arial"/>
              <a:buChar char="•"/>
            </a:pPr>
            <a:r>
              <a:rPr sz="2000" b="0" i="0">
                <a:solidFill>
                  <a:srgbClr val="23232B"/>
                </a:solidFill>
                <a:latin typeface="Calibri"/>
              </a:rPr>
              <a:t>Input stage: differential gain 1 + 2R/R</a:t>
            </a:r>
            <a:r>
              <a:rPr sz="2000" b="0" i="0" baseline="-25000">
                <a:solidFill>
                  <a:srgbClr val="23232B"/>
                </a:solidFill>
                <a:latin typeface="Calibri"/>
              </a:rPr>
              <a:t>G</a:t>
            </a:r>
            <a:r>
              <a:rPr sz="2000" b="0" i="0">
                <a:solidFill>
                  <a:srgbClr val="23232B"/>
                </a:solidFill>
                <a:latin typeface="Calibri"/>
              </a:rPr>
              <a:t>, common mode gain 1</a:t>
            </a:r>
          </a:p>
          <a:p>
            <a:pPr algn="l" marL="274320" indent="-274320">
              <a:lnSpc>
                <a:spcPct val="100000"/>
              </a:lnSpc>
              <a:spcAft>
                <a:spcPts val="1000"/>
              </a:spcAft>
              <a:buClr>
                <a:srgbClr val="00A9CE"/>
              </a:buClr>
              <a:buFont typeface="Arial"/>
              <a:buChar char="•"/>
            </a:pPr>
            <a:r>
              <a:rPr sz="2000" b="0" i="0">
                <a:solidFill>
                  <a:srgbClr val="23232B"/>
                </a:solidFill>
                <a:latin typeface="Calibri"/>
              </a:rPr>
              <a:t>A3 difference stage removes the common mode</a:t>
            </a:r>
          </a:p>
          <a:p>
            <a:pPr algn="l" marL="274320" indent="-274320">
              <a:lnSpc>
                <a:spcPct val="100000"/>
              </a:lnSpc>
              <a:spcAft>
                <a:spcPts val="1000"/>
              </a:spcAft>
              <a:buClr>
                <a:srgbClr val="00A9CE"/>
              </a:buClr>
              <a:buFont typeface="Arial"/>
              <a:buChar char="•"/>
            </a:pPr>
            <a:r>
              <a:rPr sz="2000" b="0" i="0">
                <a:solidFill>
                  <a:srgbClr val="23232B"/>
                </a:solidFill>
                <a:latin typeface="Calibri"/>
              </a:rPr>
              <a:t>One R</a:t>
            </a:r>
            <a:r>
              <a:rPr sz="2000" b="0" i="0" baseline="-25000">
                <a:solidFill>
                  <a:srgbClr val="23232B"/>
                </a:solidFill>
                <a:latin typeface="Calibri"/>
              </a:rPr>
              <a:t>G</a:t>
            </a:r>
            <a:r>
              <a:rPr sz="2000" b="0" i="0">
                <a:solidFill>
                  <a:srgbClr val="23232B"/>
                </a:solidFill>
                <a:latin typeface="Calibri"/>
              </a:rPr>
              <a:t> sets the gain: INA128, AD620, AD8221 (CMRR ≥ 100 dB)</a:t>
            </a:r>
          </a:p>
          <a:p>
            <a:pPr algn="l" marL="274320" indent="-274320">
              <a:lnSpc>
                <a:spcPct val="100000"/>
              </a:lnSpc>
              <a:spcAft>
                <a:spcPts val="1000"/>
              </a:spcAft>
              <a:buClr>
                <a:srgbClr val="00A9CE"/>
              </a:buClr>
              <a:buFont typeface="Arial"/>
              <a:buChar char="•"/>
            </a:pPr>
            <a:r>
              <a:rPr sz="2000" b="0" i="0">
                <a:solidFill>
                  <a:srgbClr val="23232B"/>
                </a:solidFill>
                <a:latin typeface="Calibri"/>
              </a:rPr>
              <a:t>Lab version: two followers + difference amp, all gain from R</a:t>
            </a:r>
            <a:r>
              <a:rPr sz="2000" b="0" i="0" baseline="-25000">
                <a:solidFill>
                  <a:srgbClr val="23232B"/>
                </a:solidFill>
                <a:latin typeface="Calibri"/>
              </a:rPr>
              <a:t>2</a:t>
            </a:r>
            <a:r>
              <a:rPr sz="2000" b="0" i="0">
                <a:solidFill>
                  <a:srgbClr val="23232B"/>
                </a:solidFill>
                <a:latin typeface="Calibri"/>
              </a:rPr>
              <a:t>/R</a:t>
            </a:r>
            <a:r>
              <a:rPr sz="2000" b="0" i="0" baseline="-25000">
                <a:solidFill>
                  <a:srgbClr val="23232B"/>
                </a:solidFill>
                <a:latin typeface="Calibri"/>
              </a:rPr>
              <a:t>1</a:t>
            </a:r>
          </a:p>
        </p:txBody>
      </p:sp>
      <p:sp>
        <p:nvSpPr>
          <p:cNvPr id="7" name="Key rule"/>
          <p:cNvSpPr/>
          <p:nvPr/>
        </p:nvSpPr>
        <p:spPr>
          <a:xfrm>
            <a:off x="548640" y="49154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50251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52994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out</a:t>
            </a:r>
            <a:r>
              <a:rPr sz="1700" b="1" i="0">
                <a:solidFill>
                  <a:srgbClr val="4E2A8C"/>
                </a:solidFill>
                <a:latin typeface="Calibri"/>
              </a:rPr>
              <a:t> = (1 + 2R/R</a:t>
            </a:r>
            <a:r>
              <a:rPr sz="1700" b="1" i="0" baseline="-25000">
                <a:solidFill>
                  <a:srgbClr val="4E2A8C"/>
                </a:solidFill>
                <a:latin typeface="Calibri"/>
              </a:rPr>
              <a:t>G</a:t>
            </a:r>
            <a:r>
              <a:rPr sz="1700" b="1" i="0">
                <a:solidFill>
                  <a:srgbClr val="4E2A8C"/>
                </a:solidFill>
                <a:latin typeface="Calibri"/>
              </a:rPr>
              <a:t>)·(R</a:t>
            </a:r>
            <a:r>
              <a:rPr sz="1700" b="1" i="0" baseline="-25000">
                <a:solidFill>
                  <a:srgbClr val="4E2A8C"/>
                </a:solidFill>
                <a:latin typeface="Calibri"/>
              </a:rPr>
              <a:t>2</a:t>
            </a:r>
            <a:r>
              <a:rPr sz="1700" b="1" i="0">
                <a:solidFill>
                  <a:srgbClr val="4E2A8C"/>
                </a:solidFill>
                <a:latin typeface="Calibri"/>
              </a:rPr>
              <a:t>/R</a:t>
            </a:r>
            <a:r>
              <a:rPr sz="1700" b="1" i="0" baseline="-25000">
                <a:solidFill>
                  <a:srgbClr val="4E2A8C"/>
                </a:solidFill>
                <a:latin typeface="Calibri"/>
              </a:rPr>
              <a:t>1</a:t>
            </a:r>
            <a:r>
              <a:rPr sz="1700" b="1" i="0">
                <a:solidFill>
                  <a:srgbClr val="4E2A8C"/>
                </a:solidFill>
                <a:latin typeface="Calibri"/>
              </a:rPr>
              <a:t>)·(V</a:t>
            </a:r>
            <a:r>
              <a:rPr sz="1700" b="1" i="0" baseline="-25000">
                <a:solidFill>
                  <a:srgbClr val="4E2A8C"/>
                </a:solidFill>
                <a:latin typeface="Calibri"/>
              </a:rPr>
              <a:t>1</a:t>
            </a:r>
            <a:r>
              <a:rPr sz="1700" b="1" i="0">
                <a:solidFill>
                  <a:srgbClr val="4E2A8C"/>
                </a:solidFill>
                <a:latin typeface="Calibri"/>
              </a:rPr>
              <a:t> − V</a:t>
            </a:r>
            <a:r>
              <a:rPr sz="1700" b="1" i="0" baseline="-25000">
                <a:solidFill>
                  <a:srgbClr val="4E2A8C"/>
                </a:solidFill>
                <a:latin typeface="Calibri"/>
              </a:rPr>
              <a:t>2</a:t>
            </a:r>
            <a:r>
              <a:rPr sz="1700" b="1" i="0">
                <a:solidFill>
                  <a:srgbClr val="4E2A8C"/>
                </a:solidFill>
                <a:latin typeface="Calibri"/>
              </a:rPr>
              <a:t>)</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LIMITS OF REAL OP-AMPS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Finite gain and bandwidth</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gain-bandwidth-product-1.png"/>
          <p:cNvPicPr>
            <a:picLocks noChangeAspect="1"/>
          </p:cNvPicPr>
          <p:nvPr/>
        </p:nvPicPr>
        <p:blipFill>
          <a:blip r:embed="rId2"/>
          <a:stretch>
            <a:fillRect/>
          </a:stretch>
        </p:blipFill>
        <p:spPr>
          <a:xfrm>
            <a:off x="6876288" y="2775474"/>
            <a:ext cx="4565599" cy="1892267"/>
          </a:xfrm>
          <a:prstGeom prst="rect">
            <a:avLst/>
          </a:prstGeom>
        </p:spPr>
      </p:pic>
      <p:sp>
        <p:nvSpPr>
          <p:cNvPr id="6" name="Falstad opamp_finite_gain">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opamp_finite_gain">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opamps/opamp_finite_gain</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One stage 0.990 V / 9.09 V vs. two stages 0.999 V / 9.98 V</a:t>
            </a:r>
          </a:p>
        </p:txBody>
      </p:sp>
      <p:sp>
        <p:nvSpPr>
          <p:cNvPr id="11" name="Bullets"/>
          <p:cNvSpPr txBox="1"/>
          <p:nvPr/>
        </p:nvSpPr>
        <p:spPr>
          <a:xfrm>
            <a:off x="548640" y="1298448"/>
            <a:ext cx="5806440" cy="22555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Gain error ≈ −G/A: A = 10</a:t>
            </a:r>
            <a:r>
              <a:rPr sz="2000" b="0" i="0" baseline="30000">
                <a:solidFill>
                  <a:srgbClr val="23232B"/>
                </a:solidFill>
                <a:latin typeface="Calibri"/>
              </a:rPr>
              <a:t>5</a:t>
            </a:r>
            <a:r>
              <a:rPr sz="2000" b="0" i="0">
                <a:solidFill>
                  <a:srgbClr val="23232B"/>
                </a:solidFill>
                <a:latin typeface="Calibri"/>
              </a:rPr>
              <a:t>, G = 1000 → −1 %, G = 10000 → −9.1 %</a:t>
            </a:r>
          </a:p>
          <a:p>
            <a:pPr algn="l" marL="274320" indent="-274320">
              <a:lnSpc>
                <a:spcPct val="100000"/>
              </a:lnSpc>
              <a:spcAft>
                <a:spcPts val="1000"/>
              </a:spcAft>
              <a:buClr>
                <a:srgbClr val="00A9CE"/>
              </a:buClr>
              <a:buFont typeface="Arial"/>
              <a:buChar char="•"/>
            </a:pPr>
            <a:r>
              <a:rPr sz="2000" b="0" i="0">
                <a:solidFill>
                  <a:srgbClr val="23232B"/>
                </a:solidFill>
                <a:latin typeface="Calibri"/>
              </a:rPr>
              <a:t>Split the gain: 10·100 → −0.11 %; rule of the lab: G &lt; 100 per stage</a:t>
            </a:r>
          </a:p>
          <a:p>
            <a:pPr algn="l" marL="274320" indent="-274320">
              <a:lnSpc>
                <a:spcPct val="100000"/>
              </a:lnSpc>
              <a:spcAft>
                <a:spcPts val="1000"/>
              </a:spcAft>
              <a:buClr>
                <a:srgbClr val="00A9CE"/>
              </a:buClr>
              <a:buFont typeface="Arial"/>
              <a:buChar char="•"/>
            </a:pPr>
            <a:r>
              <a:rPr sz="2000" b="0" i="0">
                <a:solidFill>
                  <a:srgbClr val="23232B"/>
                </a:solidFill>
                <a:latin typeface="Calibri"/>
              </a:rPr>
              <a:t>Bandwidth f</a:t>
            </a:r>
            <a:r>
              <a:rPr sz="2000" b="0" i="0" baseline="-25000">
                <a:solidFill>
                  <a:srgbClr val="23232B"/>
                </a:solidFill>
                <a:latin typeface="Calibri"/>
              </a:rPr>
              <a:t>c</a:t>
            </a:r>
            <a:r>
              <a:rPr sz="2000" b="0" i="0">
                <a:solidFill>
                  <a:srgbClr val="23232B"/>
                </a:solidFill>
                <a:latin typeface="Calibri"/>
              </a:rPr>
              <a:t> ≈ GBW/G: 1 MHz/100 = 10 kHz</a:t>
            </a:r>
          </a:p>
          <a:p>
            <a:pPr algn="l" marL="274320" indent="-274320">
              <a:lnSpc>
                <a:spcPct val="100000"/>
              </a:lnSpc>
              <a:spcAft>
                <a:spcPts val="1000"/>
              </a:spcAft>
              <a:buClr>
                <a:srgbClr val="00A9CE"/>
              </a:buClr>
              <a:buFont typeface="Arial"/>
              <a:buChar char="•"/>
            </a:pPr>
            <a:r>
              <a:rPr sz="2000" b="0" i="0">
                <a:solidFill>
                  <a:srgbClr val="23232B"/>
                </a:solidFill>
                <a:latin typeface="Calibri"/>
              </a:rPr>
              <a:t>Falstad has constant A = 10</a:t>
            </a:r>
            <a:r>
              <a:rPr sz="2000" b="0" i="0" baseline="30000">
                <a:solidFill>
                  <a:srgbClr val="23232B"/>
                </a:solidFill>
                <a:latin typeface="Calibri"/>
              </a:rPr>
              <a:t>5</a:t>
            </a:r>
            <a:r>
              <a:rPr sz="2000" b="0" i="0">
                <a:solidFill>
                  <a:srgbClr val="23232B"/>
                </a:solidFill>
                <a:latin typeface="Calibri"/>
              </a:rPr>
              <a:t>: no GBW, no slew rate</a:t>
            </a:r>
          </a:p>
        </p:txBody>
      </p:sp>
      <p:sp>
        <p:nvSpPr>
          <p:cNvPr id="12" name="Key rule"/>
          <p:cNvSpPr/>
          <p:nvPr/>
        </p:nvSpPr>
        <p:spPr>
          <a:xfrm>
            <a:off x="548640" y="38740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39837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2580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G</a:t>
            </a:r>
            <a:r>
              <a:rPr sz="1700" b="1" i="0" baseline="-25000">
                <a:solidFill>
                  <a:srgbClr val="4E2A8C"/>
                </a:solidFill>
                <a:latin typeface="Calibri"/>
              </a:rPr>
              <a:t>real</a:t>
            </a:r>
            <a:r>
              <a:rPr sz="1700" b="1" i="0">
                <a:solidFill>
                  <a:srgbClr val="4E2A8C"/>
                </a:solidFill>
                <a:latin typeface="Calibri"/>
              </a:rPr>
              <a:t> = G/(1 + G/A);  GBW = A(f)·f = G·f</a:t>
            </a:r>
            <a:r>
              <a:rPr sz="1700" b="1" i="0" baseline="-25000">
                <a:solidFill>
                  <a:srgbClr val="4E2A8C"/>
                </a:solidFill>
                <a:latin typeface="Calibri"/>
              </a:rPr>
              <a:t>c</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LIMITS OF REAL OP-AMPS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Output swing and single supply</a:t>
            </a:r>
          </a:p>
        </p:txBody>
      </p:sp>
      <p:sp>
        <p:nvSpPr>
          <p:cNvPr id="4" name="Falstad opamp_level_shift">
            <a:hlinkClick r:id="rId2"/>
          </p:cNvPr>
          <p:cNvSpPr/>
          <p:nvPr/>
        </p:nvSpPr>
        <p:spPr>
          <a:xfrm>
            <a:off x="548640" y="5434584"/>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lstad link opamp_level_shift">
            <a:hlinkClick r:id="rId2"/>
          </p:cNvPr>
          <p:cNvSpPr txBox="1"/>
          <p:nvPr/>
        </p:nvSpPr>
        <p:spPr>
          <a:xfrm>
            <a:off x="1234440" y="5544312"/>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opamps/opamp_level_shift</a:t>
            </a:r>
          </a:p>
        </p:txBody>
      </p:sp>
      <p:sp>
        <p:nvSpPr>
          <p:cNvPr id="8" name="Falstad hint"/>
          <p:cNvSpPr txBox="1"/>
          <p:nvPr/>
        </p:nvSpPr>
        <p:spPr>
          <a:xfrm>
            <a:off x="1234440" y="5818632"/>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Shifted output 0.5 … 4.5 V vs. the follower clipping below 0 V</a:t>
            </a:r>
          </a:p>
        </p:txBody>
      </p:sp>
      <p:sp>
        <p:nvSpPr>
          <p:cNvPr id="9" name="Bullets"/>
          <p:cNvSpPr txBox="1"/>
          <p:nvPr/>
        </p:nvSpPr>
        <p:spPr>
          <a:xfrm>
            <a:off x="548640" y="1298448"/>
            <a:ext cx="11094415" cy="3861815"/>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Classic op-amp stays 1 … 2 V from the rails (LM358 at 5 V: 0 … 3.5 V)</a:t>
            </a:r>
          </a:p>
          <a:p>
            <a:pPr algn="l" marL="274320" indent="-274320">
              <a:lnSpc>
                <a:spcPct val="100000"/>
              </a:lnSpc>
              <a:spcAft>
                <a:spcPts val="1000"/>
              </a:spcAft>
              <a:buClr>
                <a:srgbClr val="00A9CE"/>
              </a:buClr>
              <a:buFont typeface="Arial"/>
              <a:buChar char="•"/>
            </a:pPr>
            <a:r>
              <a:rPr sz="2000" b="0" i="0">
                <a:solidFill>
                  <a:srgbClr val="23232B"/>
                </a:solidFill>
                <a:latin typeface="Calibri"/>
              </a:rPr>
              <a:t>Rail-to-rail output: within 10 mV … a few 100 mV of the rails</a:t>
            </a:r>
          </a:p>
          <a:p>
            <a:pPr algn="l" marL="274320" indent="-274320">
              <a:lnSpc>
                <a:spcPct val="100000"/>
              </a:lnSpc>
              <a:spcAft>
                <a:spcPts val="1000"/>
              </a:spcAft>
              <a:buClr>
                <a:srgbClr val="00A9CE"/>
              </a:buClr>
              <a:buFont typeface="Arial"/>
              <a:buChar char="•"/>
            </a:pPr>
            <a:r>
              <a:rPr sz="2000" b="0" i="0">
                <a:solidFill>
                  <a:srgbClr val="23232B"/>
                </a:solidFill>
                <a:latin typeface="Calibri"/>
              </a:rPr>
              <a:t>Check input common-mode range too: capstone bridge sits at 0.1 V</a:t>
            </a:r>
          </a:p>
          <a:p>
            <a:pPr algn="l" marL="274320" indent="-274320">
              <a:lnSpc>
                <a:spcPct val="100000"/>
              </a:lnSpc>
              <a:spcAft>
                <a:spcPts val="1000"/>
              </a:spcAft>
              <a:buClr>
                <a:srgbClr val="00A9CE"/>
              </a:buClr>
              <a:buFont typeface="Arial"/>
              <a:buChar char="•"/>
            </a:pPr>
            <a:r>
              <a:rPr sz="2000" b="0" i="0">
                <a:solidFill>
                  <a:srgbClr val="23232B"/>
                </a:solidFill>
                <a:latin typeface="Calibri"/>
              </a:rPr>
              <a:t>Single supply: bias bipolar signals to V</a:t>
            </a:r>
            <a:r>
              <a:rPr sz="2000" b="0" i="0" baseline="-25000">
                <a:solidFill>
                  <a:srgbClr val="23232B"/>
                </a:solidFill>
                <a:latin typeface="Calibri"/>
              </a:rPr>
              <a:t>S</a:t>
            </a:r>
            <a:r>
              <a:rPr sz="2000" b="0" i="0">
                <a:solidFill>
                  <a:srgbClr val="23232B"/>
                </a:solidFill>
                <a:latin typeface="Calibri"/>
              </a:rPr>
              <a:t>/2, ±2 V → 0.5 … 4.5 V</a:t>
            </a:r>
          </a:p>
          <a:p>
            <a:pPr algn="l" marL="274320" indent="-274320">
              <a:lnSpc>
                <a:spcPct val="100000"/>
              </a:lnSpc>
              <a:spcAft>
                <a:spcPts val="1000"/>
              </a:spcAft>
              <a:buClr>
                <a:srgbClr val="00A9CE"/>
              </a:buClr>
              <a:buFont typeface="Arial"/>
              <a:buChar char="•"/>
            </a:pPr>
            <a:r>
              <a:rPr sz="2000" b="0" i="0">
                <a:solidFill>
                  <a:srgbClr val="23232B"/>
                </a:solidFill>
                <a:latin typeface="Calibri"/>
              </a:rPr>
              <a:t>Clipping cannot be repaired later: leave headroom for interference</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LIMITS OF REAL OP-AMPS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Offset voltage and bias current</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input-offset-voltage-and-bias-currents-1.png"/>
          <p:cNvPicPr>
            <a:picLocks noChangeAspect="1"/>
          </p:cNvPicPr>
          <p:nvPr/>
        </p:nvPicPr>
        <p:blipFill>
          <a:blip r:embed="rId2"/>
          <a:stretch>
            <a:fillRect/>
          </a:stretch>
        </p:blipFill>
        <p:spPr>
          <a:xfrm>
            <a:off x="6876288" y="2456441"/>
            <a:ext cx="4565599" cy="2530332"/>
          </a:xfrm>
          <a:prstGeom prst="rect">
            <a:avLst/>
          </a:prstGeom>
        </p:spPr>
      </p:pic>
      <p:sp>
        <p:nvSpPr>
          <p:cNvPr id="6" name="Falstad opamp_offset">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opamp_offset">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opamps/opamp_offset</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G = 101: 1 mV offset → 0.101 V; 100 nA via 100 kΩ → −1.01 V</a:t>
            </a:r>
          </a:p>
        </p:txBody>
      </p:sp>
      <p:sp>
        <p:nvSpPr>
          <p:cNvPr id="11" name="Bullets"/>
          <p:cNvSpPr txBox="1"/>
          <p:nvPr/>
        </p:nvSpPr>
        <p:spPr>
          <a:xfrm>
            <a:off x="548640" y="1298448"/>
            <a:ext cx="5806440" cy="22555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LM358: V</a:t>
            </a:r>
            <a:r>
              <a:rPr sz="2000" b="0" i="0" baseline="-25000">
                <a:solidFill>
                  <a:srgbClr val="23232B"/>
                </a:solidFill>
                <a:latin typeface="Calibri"/>
              </a:rPr>
              <a:t>OS</a:t>
            </a:r>
            <a:r>
              <a:rPr sz="2000" b="0" i="0">
                <a:solidFill>
                  <a:srgbClr val="23232B"/>
                </a:solidFill>
                <a:latin typeface="Calibri"/>
              </a:rPr>
              <a:t> ≈ 2 mV, I</a:t>
            </a:r>
            <a:r>
              <a:rPr sz="2000" b="0" i="0" baseline="-25000">
                <a:solidFill>
                  <a:srgbClr val="23232B"/>
                </a:solidFill>
                <a:latin typeface="Calibri"/>
              </a:rPr>
              <a:t>B</a:t>
            </a:r>
            <a:r>
              <a:rPr sz="2000" b="0" i="0">
                <a:solidFill>
                  <a:srgbClr val="23232B"/>
                </a:solidFill>
                <a:latin typeface="Calibri"/>
              </a:rPr>
              <a:t> ≈ 20 nA; CMOS: ≈ 1 mV, ≈ 1 pA</a:t>
            </a:r>
          </a:p>
          <a:p>
            <a:pPr algn="l" marL="274320" indent="-274320">
              <a:lnSpc>
                <a:spcPct val="100000"/>
              </a:lnSpc>
              <a:spcAft>
                <a:spcPts val="1000"/>
              </a:spcAft>
              <a:buClr>
                <a:srgbClr val="00A9CE"/>
              </a:buClr>
              <a:buFont typeface="Arial"/>
              <a:buChar char="•"/>
            </a:pPr>
            <a:r>
              <a:rPr sz="2000" b="0" i="0">
                <a:solidFill>
                  <a:srgbClr val="23232B"/>
                </a:solidFill>
                <a:latin typeface="Calibri"/>
              </a:rPr>
              <a:t>Zero-drift (OPA2333, MCP6V02): V</a:t>
            </a:r>
            <a:r>
              <a:rPr sz="2000" b="0" i="0" baseline="-25000">
                <a:solidFill>
                  <a:srgbClr val="23232B"/>
                </a:solidFill>
                <a:latin typeface="Calibri"/>
              </a:rPr>
              <a:t>OS</a:t>
            </a:r>
            <a:r>
              <a:rPr sz="2000" b="0" i="0">
                <a:solidFill>
                  <a:srgbClr val="23232B"/>
                </a:solidFill>
                <a:latin typeface="Calibri"/>
              </a:rPr>
              <a:t> &lt; 10 µV</a:t>
            </a:r>
          </a:p>
          <a:p>
            <a:pPr algn="l" marL="274320" indent="-274320">
              <a:lnSpc>
                <a:spcPct val="100000"/>
              </a:lnSpc>
              <a:spcAft>
                <a:spcPts val="1000"/>
              </a:spcAft>
              <a:buClr>
                <a:srgbClr val="00A9CE"/>
              </a:buClr>
              <a:buFont typeface="Arial"/>
              <a:buChar char="•"/>
            </a:pPr>
            <a:r>
              <a:rPr sz="2000" b="0" i="0">
                <a:solidFill>
                  <a:srgbClr val="23232B"/>
                </a:solidFill>
                <a:latin typeface="Calibri"/>
              </a:rPr>
              <a:t>Capstone: 2 mV × 107.6 = 0.22 V, 5 % of full scale, almost ½ LSB</a:t>
            </a:r>
          </a:p>
          <a:p>
            <a:pPr algn="l" marL="274320" indent="-274320">
              <a:lnSpc>
                <a:spcPct val="100000"/>
              </a:lnSpc>
              <a:spcAft>
                <a:spcPts val="1000"/>
              </a:spcAft>
              <a:buClr>
                <a:srgbClr val="00A9CE"/>
              </a:buClr>
              <a:buFont typeface="Arial"/>
              <a:buChar char="•"/>
            </a:pPr>
            <a:r>
              <a:rPr sz="2000" b="0" i="0">
                <a:solidFill>
                  <a:srgbClr val="23232B"/>
                </a:solidFill>
                <a:latin typeface="Calibri"/>
              </a:rPr>
              <a:t>Remedies: zero-drift or CMOS op-amp, low R</a:t>
            </a:r>
            <a:r>
              <a:rPr sz="2000" b="0" i="0" baseline="-25000">
                <a:solidFill>
                  <a:srgbClr val="23232B"/>
                </a:solidFill>
                <a:latin typeface="Calibri"/>
              </a:rPr>
              <a:t>S</a:t>
            </a:r>
            <a:r>
              <a:rPr sz="2000" b="0" i="0">
                <a:solidFill>
                  <a:srgbClr val="23232B"/>
                </a:solidFill>
                <a:latin typeface="Calibri"/>
              </a:rPr>
              <a:t>, offset trimming</a:t>
            </a:r>
          </a:p>
        </p:txBody>
      </p:sp>
      <p:sp>
        <p:nvSpPr>
          <p:cNvPr id="12" name="Key rule"/>
          <p:cNvSpPr/>
          <p:nvPr/>
        </p:nvSpPr>
        <p:spPr>
          <a:xfrm>
            <a:off x="548640" y="38740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39837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2580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out</a:t>
            </a:r>
            <a:r>
              <a:rPr sz="1700" b="1" i="0">
                <a:solidFill>
                  <a:srgbClr val="4E2A8C"/>
                </a:solidFill>
                <a:latin typeface="Calibri"/>
              </a:rPr>
              <a:t> = (1 + R</a:t>
            </a:r>
            <a:r>
              <a:rPr sz="1700" b="1" i="0" baseline="-25000">
                <a:solidFill>
                  <a:srgbClr val="4E2A8C"/>
                </a:solidFill>
                <a:latin typeface="Calibri"/>
              </a:rPr>
              <a:t>2</a:t>
            </a:r>
            <a:r>
              <a:rPr sz="1700" b="1" i="0">
                <a:solidFill>
                  <a:srgbClr val="4E2A8C"/>
                </a:solidFill>
                <a:latin typeface="Calibri"/>
              </a:rPr>
              <a:t>/R</a:t>
            </a:r>
            <a:r>
              <a:rPr sz="1700" b="1" i="0" baseline="-25000">
                <a:solidFill>
                  <a:srgbClr val="4E2A8C"/>
                </a:solidFill>
                <a:latin typeface="Calibri"/>
              </a:rPr>
              <a:t>1</a:t>
            </a:r>
            <a:r>
              <a:rPr sz="1700" b="1" i="0">
                <a:solidFill>
                  <a:srgbClr val="4E2A8C"/>
                </a:solidFill>
                <a:latin typeface="Calibri"/>
              </a:rPr>
              <a:t>)·(V</a:t>
            </a:r>
            <a:r>
              <a:rPr sz="1700" b="1" i="0" baseline="-25000">
                <a:solidFill>
                  <a:srgbClr val="4E2A8C"/>
                </a:solidFill>
                <a:latin typeface="Calibri"/>
              </a:rPr>
              <a:t>OS</a:t>
            </a:r>
            <a:r>
              <a:rPr sz="1700" b="1" i="0">
                <a:solidFill>
                  <a:srgbClr val="4E2A8C"/>
                </a:solidFill>
                <a:latin typeface="Calibri"/>
              </a:rPr>
              <a:t> + R</a:t>
            </a:r>
            <a:r>
              <a:rPr sz="1700" b="1" i="0" baseline="-25000">
                <a:solidFill>
                  <a:srgbClr val="4E2A8C"/>
                </a:solidFill>
                <a:latin typeface="Calibri"/>
              </a:rPr>
              <a:t>S</a:t>
            </a:r>
            <a:r>
              <a:rPr sz="1700" b="1" i="0">
                <a:solidFill>
                  <a:srgbClr val="4E2A8C"/>
                </a:solidFill>
                <a:latin typeface="Calibri"/>
              </a:rPr>
              <a:t>·I</a:t>
            </a:r>
            <a:r>
              <a:rPr sz="1700" b="1" i="0" baseline="-25000">
                <a:solidFill>
                  <a:srgbClr val="4E2A8C"/>
                </a:solidFill>
                <a:latin typeface="Calibri"/>
              </a:rPr>
              <a:t>B</a:t>
            </a:r>
            <a:r>
              <a:rPr sz="1700" b="1" i="0">
                <a:solidFill>
                  <a:srgbClr val="4E2A8C"/>
                </a:solidFill>
                <a:latin typeface="Calibri"/>
              </a:rPr>
              <a:t>)</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DESIGNING THE MEASUREMENT AMPLIFIER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Capstone signal chain</a:t>
            </a:r>
          </a:p>
        </p:txBody>
      </p:sp>
      <p:sp>
        <p:nvSpPr>
          <p:cNvPr id="4" name="Bullets"/>
          <p:cNvSpPr txBox="1"/>
          <p:nvPr/>
        </p:nvSpPr>
        <p:spPr>
          <a:xfrm>
            <a:off x="548640" y="1298448"/>
            <a:ext cx="11094415" cy="48463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Pt100 bridge at 4.00 V: V</a:t>
            </a:r>
            <a:r>
              <a:rPr sz="2000" b="0" i="0" baseline="-25000">
                <a:solidFill>
                  <a:srgbClr val="23232B"/>
                </a:solidFill>
                <a:latin typeface="Calibri"/>
              </a:rPr>
              <a:t>BR</a:t>
            </a:r>
            <a:r>
              <a:rPr sz="2000" b="0" i="0">
                <a:solidFill>
                  <a:srgbClr val="23232B"/>
                </a:solidFill>
                <a:latin typeface="Calibri"/>
              </a:rPr>
              <a:t> = 0 … 37.18 mV</a:t>
            </a:r>
          </a:p>
          <a:p>
            <a:pPr algn="l" marL="274320" indent="-274320">
              <a:lnSpc>
                <a:spcPct val="100000"/>
              </a:lnSpc>
              <a:spcAft>
                <a:spcPts val="1000"/>
              </a:spcAft>
              <a:buClr>
                <a:srgbClr val="00A9CE"/>
              </a:buClr>
              <a:buFont typeface="Arial"/>
              <a:buChar char="•"/>
            </a:pPr>
            <a:r>
              <a:rPr sz="2000" b="0" i="0">
                <a:solidFill>
                  <a:srgbClr val="23232B"/>
                </a:solidFill>
                <a:latin typeface="Calibri"/>
              </a:rPr>
              <a:t>Total gain G = 4.00 V/37.18 mV = 107.6 = 10 × 10.76</a:t>
            </a:r>
          </a:p>
          <a:p>
            <a:pPr algn="l" marL="274320" indent="-274320">
              <a:lnSpc>
                <a:spcPct val="100000"/>
              </a:lnSpc>
              <a:spcAft>
                <a:spcPts val="1000"/>
              </a:spcAft>
              <a:buClr>
                <a:srgbClr val="00A9CE"/>
              </a:buClr>
              <a:buFont typeface="Arial"/>
              <a:buChar char="•"/>
            </a:pPr>
            <a:r>
              <a:rPr sz="2000" b="0" i="0">
                <a:solidFill>
                  <a:srgbClr val="23232B"/>
                </a:solidFill>
                <a:latin typeface="Calibri"/>
              </a:rPr>
              <a:t>Stage 1: buffers + difference amp 100k/10k; stage 2: G</a:t>
            </a:r>
            <a:r>
              <a:rPr sz="2000" b="0" i="0" baseline="-25000">
                <a:solidFill>
                  <a:srgbClr val="23232B"/>
                </a:solidFill>
                <a:latin typeface="Calibri"/>
              </a:rPr>
              <a:t>2</a:t>
            </a:r>
            <a:r>
              <a:rPr sz="2000" b="0" i="0">
                <a:solidFill>
                  <a:srgbClr val="23232B"/>
                </a:solidFill>
                <a:latin typeface="Calibri"/>
              </a:rPr>
              <a:t> = 10.76</a:t>
            </a:r>
          </a:p>
          <a:p>
            <a:pPr algn="l" marL="274320" indent="-274320">
              <a:lnSpc>
                <a:spcPct val="100000"/>
              </a:lnSpc>
              <a:spcAft>
                <a:spcPts val="1000"/>
              </a:spcAft>
              <a:buClr>
                <a:srgbClr val="00A9CE"/>
              </a:buClr>
              <a:buFont typeface="Arial"/>
              <a:buChar char="•"/>
            </a:pPr>
            <a:r>
              <a:rPr sz="2000" b="0" i="0">
                <a:solidFill>
                  <a:srgbClr val="23232B"/>
                </a:solidFill>
                <a:latin typeface="Calibri"/>
              </a:rPr>
              <a:t>Zero set by the bridge (R</a:t>
            </a:r>
            <a:r>
              <a:rPr sz="2000" b="0" i="0" baseline="-25000">
                <a:solidFill>
                  <a:srgbClr val="23232B"/>
                </a:solidFill>
                <a:latin typeface="Calibri"/>
              </a:rPr>
              <a:t>4</a:t>
            </a:r>
            <a:r>
              <a:rPr sz="2000" b="0" i="0">
                <a:solidFill>
                  <a:srgbClr val="23232B"/>
                </a:solidFill>
                <a:latin typeface="Calibri"/>
              </a:rPr>
              <a:t> = 100 Ω), span by R</a:t>
            </a:r>
            <a:r>
              <a:rPr sz="2000" b="0" i="0" baseline="-25000">
                <a:solidFill>
                  <a:srgbClr val="23232B"/>
                </a:solidFill>
                <a:latin typeface="Calibri"/>
              </a:rPr>
              <a:t>F</a:t>
            </a:r>
            <a:r>
              <a:rPr sz="2000" b="0" i="0">
                <a:solidFill>
                  <a:srgbClr val="23232B"/>
                </a:solidFill>
                <a:latin typeface="Calibri"/>
              </a:rPr>
              <a:t> in stage 2</a:t>
            </a:r>
          </a:p>
          <a:p>
            <a:pPr algn="l" marL="274320" indent="-274320">
              <a:lnSpc>
                <a:spcPct val="100000"/>
              </a:lnSpc>
              <a:spcAft>
                <a:spcPts val="1000"/>
              </a:spcAft>
              <a:buClr>
                <a:srgbClr val="00A9CE"/>
              </a:buClr>
              <a:buFont typeface="Arial"/>
              <a:buChar char="•"/>
            </a:pPr>
            <a:r>
              <a:rPr sz="2000" b="0" i="0">
                <a:solidFill>
                  <a:srgbClr val="23232B"/>
                </a:solidFill>
                <a:latin typeface="Calibri"/>
              </a:rPr>
              <a:t>Common mode only 0.1 V: op-amp inputs must work near the low rail</a:t>
            </a:r>
          </a:p>
        </p:txBody>
      </p:sp>
      <p:pic>
        <p:nvPicPr>
          <p:cNvPr id="5"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DESIGNING THE MEASUREMENT AMPLIFIER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Design recipe: zero and span</a:t>
            </a:r>
          </a:p>
        </p:txBody>
      </p:sp>
      <p:sp>
        <p:nvSpPr>
          <p:cNvPr id="4" name="Figure panel"/>
          <p:cNvSpPr/>
          <p:nvPr/>
        </p:nvSpPr>
        <p:spPr>
          <a:xfrm>
            <a:off x="6903719" y="1298448"/>
            <a:ext cx="4739335" cy="4846320"/>
          </a:xfrm>
          <a:prstGeom prst="roundRect">
            <a:avLst>
              <a:gd name="adj" fmla="val 2315"/>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zero-adjustment-at-the-reference-input-1.png"/>
          <p:cNvPicPr>
            <a:picLocks noChangeAspect="1"/>
          </p:cNvPicPr>
          <p:nvPr/>
        </p:nvPicPr>
        <p:blipFill>
          <a:blip r:embed="rId2"/>
          <a:stretch>
            <a:fillRect/>
          </a:stretch>
        </p:blipFill>
        <p:spPr>
          <a:xfrm>
            <a:off x="7104888" y="2346228"/>
            <a:ext cx="4336999" cy="2750759"/>
          </a:xfrm>
          <a:prstGeom prst="rect">
            <a:avLst/>
          </a:prstGeom>
        </p:spPr>
      </p:pic>
      <p:sp>
        <p:nvSpPr>
          <p:cNvPr id="6" name="Step 1"/>
          <p:cNvSpPr/>
          <p:nvPr/>
        </p:nvSpPr>
        <p:spPr>
          <a:xfrm>
            <a:off x="548640" y="1344168"/>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44168"/>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1</a:t>
            </a:r>
          </a:p>
        </p:txBody>
      </p:sp>
      <p:sp>
        <p:nvSpPr>
          <p:cNvPr id="8" name="Step text 1"/>
          <p:cNvSpPr txBox="1"/>
          <p:nvPr/>
        </p:nvSpPr>
        <p:spPr>
          <a:xfrm>
            <a:off x="1280160" y="1298448"/>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Bridge span V</a:t>
            </a:r>
            <a:r>
              <a:rPr sz="2000" b="0" i="0" baseline="-25000">
                <a:solidFill>
                  <a:srgbClr val="23232B"/>
                </a:solidFill>
                <a:latin typeface="Calibri"/>
              </a:rPr>
              <a:t>BR,max</a:t>
            </a:r>
            <a:r>
              <a:rPr sz="2000" b="0" i="0">
                <a:solidFill>
                  <a:srgbClr val="23232B"/>
                </a:solidFill>
                <a:latin typeface="Calibri"/>
              </a:rPr>
              <a:t> and total gain G = V</a:t>
            </a:r>
            <a:r>
              <a:rPr sz="2000" b="0" i="0" baseline="-25000">
                <a:solidFill>
                  <a:srgbClr val="23232B"/>
                </a:solidFill>
                <a:latin typeface="Calibri"/>
              </a:rPr>
              <a:t>FS</a:t>
            </a:r>
            <a:r>
              <a:rPr sz="2000" b="0" i="0">
                <a:solidFill>
                  <a:srgbClr val="23232B"/>
                </a:solidFill>
                <a:latin typeface="Calibri"/>
              </a:rPr>
              <a:t>/V</a:t>
            </a:r>
            <a:r>
              <a:rPr sz="2000" b="0" i="0" baseline="-25000">
                <a:solidFill>
                  <a:srgbClr val="23232B"/>
                </a:solidFill>
                <a:latin typeface="Calibri"/>
              </a:rPr>
              <a:t>BR,max</a:t>
            </a:r>
            <a:r>
              <a:rPr sz="2000" b="0" i="0">
                <a:solidFill>
                  <a:srgbClr val="23232B"/>
                </a:solidFill>
                <a:latin typeface="Calibri"/>
              </a:rPr>
              <a:t> (107.6)</a:t>
            </a:r>
          </a:p>
        </p:txBody>
      </p:sp>
      <p:sp>
        <p:nvSpPr>
          <p:cNvPr id="9" name="Step 2"/>
          <p:cNvSpPr/>
          <p:nvPr/>
        </p:nvSpPr>
        <p:spPr>
          <a:xfrm>
            <a:off x="548640" y="2154936"/>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54936"/>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2</a:t>
            </a:r>
          </a:p>
        </p:txBody>
      </p:sp>
      <p:sp>
        <p:nvSpPr>
          <p:cNvPr id="11" name="Step text 2"/>
          <p:cNvSpPr txBox="1"/>
          <p:nvPr/>
        </p:nvSpPr>
        <p:spPr>
          <a:xfrm>
            <a:off x="1280160" y="2109216"/>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Split: G</a:t>
            </a:r>
            <a:r>
              <a:rPr sz="2000" b="0" i="0" baseline="-25000">
                <a:solidFill>
                  <a:srgbClr val="23232B"/>
                </a:solidFill>
                <a:latin typeface="Calibri"/>
              </a:rPr>
              <a:t>1</a:t>
            </a:r>
            <a:r>
              <a:rPr sz="2000" b="0" i="0">
                <a:solidFill>
                  <a:srgbClr val="23232B"/>
                </a:solidFill>
                <a:latin typeface="Calibri"/>
              </a:rPr>
              <a:t> = 10 (buffers + diff. amp), G</a:t>
            </a:r>
            <a:r>
              <a:rPr sz="2000" b="0" i="0" baseline="-25000">
                <a:solidFill>
                  <a:srgbClr val="23232B"/>
                </a:solidFill>
                <a:latin typeface="Calibri"/>
              </a:rPr>
              <a:t>2</a:t>
            </a:r>
            <a:r>
              <a:rPr sz="2000" b="0" i="0">
                <a:solidFill>
                  <a:srgbClr val="23232B"/>
                </a:solidFill>
                <a:latin typeface="Calibri"/>
              </a:rPr>
              <a:t> = G/G</a:t>
            </a:r>
            <a:r>
              <a:rPr sz="2000" b="0" i="0" baseline="-25000">
                <a:solidFill>
                  <a:srgbClr val="23232B"/>
                </a:solidFill>
                <a:latin typeface="Calibri"/>
              </a:rPr>
              <a:t>1</a:t>
            </a:r>
            <a:r>
              <a:rPr sz="2000" b="0" i="0">
                <a:solidFill>
                  <a:srgbClr val="23232B"/>
                </a:solidFill>
                <a:latin typeface="Calibri"/>
              </a:rPr>
              <a:t> = 10.76</a:t>
            </a:r>
          </a:p>
        </p:txBody>
      </p:sp>
      <p:sp>
        <p:nvSpPr>
          <p:cNvPr id="12" name="Step 3"/>
          <p:cNvSpPr/>
          <p:nvPr/>
        </p:nvSpPr>
        <p:spPr>
          <a:xfrm>
            <a:off x="548640" y="2965704"/>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65704"/>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3</a:t>
            </a:r>
          </a:p>
        </p:txBody>
      </p:sp>
      <p:sp>
        <p:nvSpPr>
          <p:cNvPr id="14" name="Step text 3"/>
          <p:cNvSpPr txBox="1"/>
          <p:nvPr/>
        </p:nvSpPr>
        <p:spPr>
          <a:xfrm>
            <a:off x="1280160" y="3051048"/>
            <a:ext cx="5166359"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R</a:t>
            </a:r>
            <a:r>
              <a:rPr sz="2000" b="0" i="0" baseline="-25000">
                <a:solidFill>
                  <a:srgbClr val="23232B"/>
                </a:solidFill>
                <a:latin typeface="Calibri"/>
              </a:rPr>
              <a:t>F</a:t>
            </a:r>
            <a:r>
              <a:rPr sz="2000" b="0" i="0">
                <a:solidFill>
                  <a:srgbClr val="23232B"/>
                </a:solidFill>
                <a:latin typeface="Calibri"/>
              </a:rPr>
              <a:t> = fixed part + trimmer: 91 kΩ + 10 kΩ</a:t>
            </a:r>
          </a:p>
        </p:txBody>
      </p:sp>
      <p:sp>
        <p:nvSpPr>
          <p:cNvPr id="15" name="Step 4"/>
          <p:cNvSpPr/>
          <p:nvPr/>
        </p:nvSpPr>
        <p:spPr>
          <a:xfrm>
            <a:off x="548640" y="3733799"/>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733799"/>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4</a:t>
            </a:r>
          </a:p>
        </p:txBody>
      </p:sp>
      <p:sp>
        <p:nvSpPr>
          <p:cNvPr id="17" name="Step text 4"/>
          <p:cNvSpPr txBox="1"/>
          <p:nvPr/>
        </p:nvSpPr>
        <p:spPr>
          <a:xfrm>
            <a:off x="1280160" y="3688080"/>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Zero: sensor at 100 Ω, check 0.00 V; correct via R</a:t>
            </a:r>
            <a:r>
              <a:rPr sz="2000" b="0" i="0" baseline="-25000">
                <a:solidFill>
                  <a:srgbClr val="23232B"/>
                </a:solidFill>
                <a:latin typeface="Calibri"/>
              </a:rPr>
              <a:t>4</a:t>
            </a:r>
            <a:r>
              <a:rPr sz="2000" b="0" i="0">
                <a:solidFill>
                  <a:srgbClr val="23232B"/>
                </a:solidFill>
                <a:latin typeface="Calibri"/>
              </a:rPr>
              <a:t> or V</a:t>
            </a:r>
            <a:r>
              <a:rPr sz="2000" b="0" i="0" baseline="-25000">
                <a:solidFill>
                  <a:srgbClr val="23232B"/>
                </a:solidFill>
                <a:latin typeface="Calibri"/>
              </a:rPr>
              <a:t>REF</a:t>
            </a:r>
          </a:p>
        </p:txBody>
      </p:sp>
      <p:sp>
        <p:nvSpPr>
          <p:cNvPr id="18" name="Step 5"/>
          <p:cNvSpPr/>
          <p:nvPr/>
        </p:nvSpPr>
        <p:spPr>
          <a:xfrm>
            <a:off x="548640" y="4544568"/>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44568"/>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5</a:t>
            </a:r>
          </a:p>
        </p:txBody>
      </p:sp>
      <p:sp>
        <p:nvSpPr>
          <p:cNvPr id="20" name="Step text 5"/>
          <p:cNvSpPr txBox="1"/>
          <p:nvPr/>
        </p:nvSpPr>
        <p:spPr>
          <a:xfrm>
            <a:off x="1280160" y="4498848"/>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Span: sensor at 138.5 Ω, trim to 4.00 V; then check the zero again</a:t>
            </a:r>
          </a:p>
        </p:txBody>
      </p:sp>
      <p:pic>
        <p:nvPicPr>
          <p:cNvPr id="21"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22"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23"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DESIGNING THE MEASUREMENT AMPLIFIER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the complete front end</a:t>
            </a:r>
          </a:p>
        </p:txBody>
      </p:sp>
      <p:sp>
        <p:nvSpPr>
          <p:cNvPr id="4" name="Label"/>
          <p:cNvSpPr txBox="1"/>
          <p:nvPr/>
        </p:nvSpPr>
        <p:spPr>
          <a:xfrm>
            <a:off x="548640" y="1298448"/>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5" name="Falstad opamp_ina">
            <a:hlinkClick r:id="rId2"/>
          </p:cNvPr>
          <p:cNvSpPr/>
          <p:nvPr/>
        </p:nvSpPr>
        <p:spPr>
          <a:xfrm>
            <a:off x="548640" y="17099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a:off x="694944"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rot="5400000">
            <a:off x="832103"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lstad link opamp_ina">
            <a:hlinkClick r:id="rId2"/>
          </p:cNvPr>
          <p:cNvSpPr txBox="1"/>
          <p:nvPr/>
        </p:nvSpPr>
        <p:spPr>
          <a:xfrm>
            <a:off x="1234440" y="1819655"/>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opamps/opamp_ina</a:t>
            </a:r>
          </a:p>
        </p:txBody>
      </p:sp>
      <p:sp>
        <p:nvSpPr>
          <p:cNvPr id="9" name="Falstad hint"/>
          <p:cNvSpPr txBox="1"/>
          <p:nvPr/>
        </p:nvSpPr>
        <p:spPr>
          <a:xfrm>
            <a:off x="1234440" y="20939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Pt100 at 100 Ω → 0.00 V; at 138.5 Ω → V_diff 372 mV, Vout 4.00 V</a:t>
            </a:r>
          </a:p>
        </p:txBody>
      </p:sp>
      <p:sp>
        <p:nvSpPr>
          <p:cNvPr id="10" name="Label"/>
          <p:cNvSpPr txBox="1"/>
          <p:nvPr/>
        </p:nvSpPr>
        <p:spPr>
          <a:xfrm>
            <a:off x="548640" y="2785872"/>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1" name="Observe"/>
          <p:cNvSpPr txBox="1"/>
          <p:nvPr/>
        </p:nvSpPr>
        <p:spPr>
          <a:xfrm>
            <a:off x="548640" y="3197352"/>
            <a:ext cx="1109441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V</a:t>
            </a:r>
            <a:r>
              <a:rPr sz="1800" b="0" i="0" baseline="-25000">
                <a:solidFill>
                  <a:srgbClr val="23232B"/>
                </a:solidFill>
                <a:latin typeface="Calibri"/>
              </a:rPr>
              <a:t>R</a:t>
            </a:r>
            <a:r>
              <a:rPr sz="1800" b="0" i="0">
                <a:solidFill>
                  <a:srgbClr val="23232B"/>
                </a:solidFill>
                <a:latin typeface="Calibri"/>
              </a:rPr>
              <a:t> = 0.100 V, V</a:t>
            </a:r>
            <a:r>
              <a:rPr sz="1800" b="0" i="0" baseline="-25000">
                <a:solidFill>
                  <a:srgbClr val="23232B"/>
                </a:solidFill>
                <a:latin typeface="Calibri"/>
              </a:rPr>
              <a:t>BR</a:t>
            </a:r>
            <a:r>
              <a:rPr sz="1800" b="0" i="0">
                <a:solidFill>
                  <a:srgbClr val="23232B"/>
                </a:solidFill>
                <a:latin typeface="Calibri"/>
              </a:rPr>
              <a:t> = 37.18 mV, V</a:t>
            </a:r>
            <a:r>
              <a:rPr sz="1800" b="0" i="0" baseline="-25000">
                <a:solidFill>
                  <a:srgbClr val="23232B"/>
                </a:solidFill>
                <a:latin typeface="Calibri"/>
              </a:rPr>
              <a:t>diff</a:t>
            </a:r>
            <a:r>
              <a:rPr sz="1800" b="0" i="0">
                <a:solidFill>
                  <a:srgbClr val="23232B"/>
                </a:solidFill>
                <a:latin typeface="Calibri"/>
              </a:rPr>
              <a:t> = 372 mV at 138.5 Ω</a:t>
            </a:r>
          </a:p>
          <a:p>
            <a:pPr algn="l" marL="274320" indent="-274320">
              <a:lnSpc>
                <a:spcPct val="100000"/>
              </a:lnSpc>
              <a:spcAft>
                <a:spcPts val="1000"/>
              </a:spcAft>
              <a:buClr>
                <a:srgbClr val="00A9CE"/>
              </a:buClr>
              <a:buFont typeface="Arial"/>
              <a:buChar char="•"/>
            </a:pPr>
            <a:r>
              <a:rPr sz="1800" b="0" i="0">
                <a:solidFill>
                  <a:srgbClr val="23232B"/>
                </a:solidFill>
                <a:latin typeface="Calibri"/>
              </a:rPr>
              <a:t>50 Hz, 5 mV in series: 0.52 V at the output, no CMRR helps</a:t>
            </a:r>
          </a:p>
          <a:p>
            <a:pPr algn="l" marL="274320" indent="-274320">
              <a:lnSpc>
                <a:spcPct val="100000"/>
              </a:lnSpc>
              <a:spcAft>
                <a:spcPts val="1000"/>
              </a:spcAft>
              <a:buClr>
                <a:srgbClr val="00A9CE"/>
              </a:buClr>
              <a:buFont typeface="Arial"/>
              <a:buChar char="•"/>
            </a:pPr>
            <a:r>
              <a:rPr sz="1800" b="0" i="0">
                <a:solidFill>
                  <a:srgbClr val="23232B"/>
                </a:solidFill>
                <a:latin typeface="Calibri"/>
              </a:rPr>
              <a:t>Output needs headroom: 4 V + 0.52 V peak; low-pass must remove it</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EXERCISES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Now work it out in the script</a:t>
            </a:r>
          </a:p>
        </p:txBody>
      </p:sp>
      <p:sp>
        <p:nvSpPr>
          <p:cNvPr id="4" name="Intro"/>
          <p:cNvSpPr txBox="1"/>
          <p:nvPr/>
        </p:nvSpPr>
        <p:spPr>
          <a:xfrm>
            <a:off x="548640" y="1298448"/>
            <a:ext cx="11094415" cy="640080"/>
          </a:xfrm>
          <a:prstGeom prst="rect">
            <a:avLst/>
          </a:prstGeom>
          <a:noFill/>
        </p:spPr>
        <p:txBody>
          <a:bodyPr wrap="square" lIns="0" rIns="0" tIns="0" bIns="0" anchor="t">
            <a:noAutofit/>
          </a:bodyPr>
          <a:lstStyle/>
          <a:p>
            <a:pPr algn="l">
              <a:lnSpc>
                <a:spcPct val="100000"/>
              </a:lnSpc>
              <a:spcAft>
                <a:spcPts val="600"/>
              </a:spcAft>
              <a:buNone/>
            </a:pPr>
            <a:r>
              <a:rPr sz="1800" b="0" i="0">
                <a:solidFill>
                  <a:srgbClr val="62626E"/>
                </a:solidFill>
                <a:latin typeface="Calibri"/>
              </a:rPr>
              <a:t>Derivations, worked numbers and solutions: script, chapter 6 “Operational Amplifiers”. Check each result in the Falstad examples.</a:t>
            </a:r>
          </a:p>
        </p:txBody>
      </p:sp>
      <p:sp>
        <p:nvSpPr>
          <p:cNvPr id="5" name="Exercise card"/>
          <p:cNvSpPr/>
          <p:nvPr/>
        </p:nvSpPr>
        <p:spPr>
          <a:xfrm>
            <a:off x="548640"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rcise number"/>
          <p:cNvSpPr/>
          <p:nvPr/>
        </p:nvSpPr>
        <p:spPr>
          <a:xfrm>
            <a:off x="548640"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6.1</a:t>
            </a:r>
          </a:p>
        </p:txBody>
      </p:sp>
      <p:sp>
        <p:nvSpPr>
          <p:cNvPr id="8" name="Exercise title"/>
          <p:cNvSpPr txBox="1"/>
          <p:nvPr/>
        </p:nvSpPr>
        <p:spPr>
          <a:xfrm>
            <a:off x="1645919"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Non-inverting and inverting amplifier</a:t>
            </a:r>
          </a:p>
        </p:txBody>
      </p:sp>
      <p:sp>
        <p:nvSpPr>
          <p:cNvPr id="9" name="Exercise card"/>
          <p:cNvSpPr/>
          <p:nvPr/>
        </p:nvSpPr>
        <p:spPr>
          <a:xfrm>
            <a:off x="548640"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ercise number"/>
          <p:cNvSpPr/>
          <p:nvPr/>
        </p:nvSpPr>
        <p:spPr>
          <a:xfrm>
            <a:off x="548640"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6.2</a:t>
            </a:r>
          </a:p>
        </p:txBody>
      </p:sp>
      <p:sp>
        <p:nvSpPr>
          <p:cNvPr id="12" name="Exercise title"/>
          <p:cNvSpPr txBox="1"/>
          <p:nvPr/>
        </p:nvSpPr>
        <p:spPr>
          <a:xfrm>
            <a:off x="1645919"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Summing amplifier</a:t>
            </a:r>
          </a:p>
        </p:txBody>
      </p:sp>
      <p:sp>
        <p:nvSpPr>
          <p:cNvPr id="13" name="Exercise card"/>
          <p:cNvSpPr/>
          <p:nvPr/>
        </p:nvSpPr>
        <p:spPr>
          <a:xfrm>
            <a:off x="548640"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xercise number"/>
          <p:cNvSpPr/>
          <p:nvPr/>
        </p:nvSpPr>
        <p:spPr>
          <a:xfrm>
            <a:off x="548640"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6.3</a:t>
            </a:r>
          </a:p>
        </p:txBody>
      </p:sp>
      <p:sp>
        <p:nvSpPr>
          <p:cNvPr id="16" name="Exercise title"/>
          <p:cNvSpPr txBox="1"/>
          <p:nvPr/>
        </p:nvSpPr>
        <p:spPr>
          <a:xfrm>
            <a:off x="1645919"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Difference amplifier and resistor matching</a:t>
            </a:r>
          </a:p>
        </p:txBody>
      </p:sp>
      <p:sp>
        <p:nvSpPr>
          <p:cNvPr id="17" name="Exercise card"/>
          <p:cNvSpPr/>
          <p:nvPr/>
        </p:nvSpPr>
        <p:spPr>
          <a:xfrm>
            <a:off x="6233007"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xercise number"/>
          <p:cNvSpPr/>
          <p:nvPr/>
        </p:nvSpPr>
        <p:spPr>
          <a:xfrm>
            <a:off x="6233007"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6.4</a:t>
            </a:r>
          </a:p>
        </p:txBody>
      </p:sp>
      <p:sp>
        <p:nvSpPr>
          <p:cNvPr id="20" name="Exercise title"/>
          <p:cNvSpPr txBox="1"/>
          <p:nvPr/>
        </p:nvSpPr>
        <p:spPr>
          <a:xfrm>
            <a:off x="7330287"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Finite open-loop gain</a:t>
            </a:r>
          </a:p>
        </p:txBody>
      </p:sp>
      <p:sp>
        <p:nvSpPr>
          <p:cNvPr id="21" name="Exercise card"/>
          <p:cNvSpPr/>
          <p:nvPr/>
        </p:nvSpPr>
        <p:spPr>
          <a:xfrm>
            <a:off x="6233007"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xercise number"/>
          <p:cNvSpPr/>
          <p:nvPr/>
        </p:nvSpPr>
        <p:spPr>
          <a:xfrm>
            <a:off x="6233007"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3007"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6.5</a:t>
            </a:r>
          </a:p>
        </p:txBody>
      </p:sp>
      <p:sp>
        <p:nvSpPr>
          <p:cNvPr id="24" name="Exercise title"/>
          <p:cNvSpPr txBox="1"/>
          <p:nvPr/>
        </p:nvSpPr>
        <p:spPr>
          <a:xfrm>
            <a:off x="7330287"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Offset voltage and bias current</a:t>
            </a:r>
          </a:p>
        </p:txBody>
      </p:sp>
      <p:sp>
        <p:nvSpPr>
          <p:cNvPr id="25" name="Exercise card"/>
          <p:cNvSpPr/>
          <p:nvPr/>
        </p:nvSpPr>
        <p:spPr>
          <a:xfrm>
            <a:off x="6233007"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xercise number"/>
          <p:cNvSpPr/>
          <p:nvPr/>
        </p:nvSpPr>
        <p:spPr>
          <a:xfrm>
            <a:off x="6233007"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33007"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6.6</a:t>
            </a:r>
          </a:p>
        </p:txBody>
      </p:sp>
      <p:sp>
        <p:nvSpPr>
          <p:cNvPr id="28" name="Exercise title"/>
          <p:cNvSpPr txBox="1"/>
          <p:nvPr/>
        </p:nvSpPr>
        <p:spPr>
          <a:xfrm>
            <a:off x="7330287"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Capstone: instrumentation amplifier with 4.00 V full scale</a:t>
            </a:r>
          </a:p>
        </p:txBody>
      </p:sp>
      <p:pic>
        <p:nvPicPr>
          <p:cNvPr id="29"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3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Operational Amplifiers</a:t>
            </a:r>
          </a:p>
        </p:txBody>
      </p:sp>
      <p:sp>
        <p:nvSpPr>
          <p:cNvPr id="3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6638B6"/>
        </a:solidFill>
        <a:effectLst/>
      </p:bgPr>
    </p:bg>
    <p:spTree>
      <p:nvGrpSpPr>
        <p:cNvPr id="1" name=""/>
        <p:cNvGrpSpPr/>
        <p:nvPr/>
      </p:nvGrpSpPr>
      <p:grpSpPr/>
      <p:sp>
        <p:nvSpPr>
          <p:cNvPr id="2" name="Chapter number"/>
          <p:cNvSpPr txBox="1"/>
          <p:nvPr/>
        </p:nvSpPr>
        <p:spPr>
          <a:xfrm>
            <a:off x="548640" y="822960"/>
            <a:ext cx="2743200" cy="1463040"/>
          </a:xfrm>
          <a:prstGeom prst="rect">
            <a:avLst/>
          </a:prstGeom>
          <a:noFill/>
        </p:spPr>
        <p:txBody>
          <a:bodyPr wrap="square" lIns="0" rIns="0" tIns="0" bIns="0" anchor="t">
            <a:noAutofit/>
          </a:bodyPr>
          <a:lstStyle/>
          <a:p>
            <a:pPr algn="l">
              <a:lnSpc>
                <a:spcPct val="100000"/>
              </a:lnSpc>
              <a:spcAft>
                <a:spcPts val="600"/>
              </a:spcAft>
              <a:buNone/>
            </a:pPr>
            <a:r>
              <a:rPr sz="9600" b="1" i="0">
                <a:solidFill>
                  <a:srgbClr val="9B7DD4"/>
                </a:solidFill>
                <a:latin typeface="Calibri"/>
              </a:rPr>
              <a:t>07</a:t>
            </a:r>
          </a:p>
        </p:txBody>
      </p:sp>
      <p:sp>
        <p:nvSpPr>
          <p:cNvPr id="3" name="Chapter title"/>
          <p:cNvSpPr txBox="1"/>
          <p:nvPr/>
        </p:nvSpPr>
        <p:spPr>
          <a:xfrm>
            <a:off x="548640" y="2331720"/>
            <a:ext cx="11094415" cy="914400"/>
          </a:xfrm>
          <a:prstGeom prst="rect">
            <a:avLst/>
          </a:prstGeom>
          <a:noFill/>
        </p:spPr>
        <p:txBody>
          <a:bodyPr wrap="square" lIns="0" rIns="0" tIns="0" bIns="0" anchor="ctr">
            <a:noAutofit/>
          </a:bodyPr>
          <a:lstStyle/>
          <a:p>
            <a:pPr algn="l">
              <a:lnSpc>
                <a:spcPct val="100000"/>
              </a:lnSpc>
              <a:spcAft>
                <a:spcPts val="600"/>
              </a:spcAft>
              <a:buNone/>
            </a:pPr>
            <a:r>
              <a:rPr sz="4400" b="1" i="0">
                <a:solidFill>
                  <a:srgbClr val="FFFFFF"/>
                </a:solidFill>
                <a:latin typeface="Calibri"/>
              </a:rPr>
              <a:t>Active Filters</a:t>
            </a:r>
          </a:p>
        </p:txBody>
      </p:sp>
      <p:sp>
        <p:nvSpPr>
          <p:cNvPr id="4" name="Chapter subtitle"/>
          <p:cNvSpPr txBox="1"/>
          <p:nvPr/>
        </p:nvSpPr>
        <p:spPr>
          <a:xfrm>
            <a:off x="548640" y="3246120"/>
            <a:ext cx="11094415" cy="4572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CFE9F3"/>
                </a:solidFill>
                <a:latin typeface="Calibri"/>
              </a:rPr>
              <a:t>Remove interference before sampling: RC, active and Sallen-Key low-passes</a:t>
            </a:r>
          </a:p>
        </p:txBody>
      </p:sp>
      <p:sp>
        <p:nvSpPr>
          <p:cNvPr id="5" name="Takeaway card"/>
          <p:cNvSpPr/>
          <p:nvPr/>
        </p:nvSpPr>
        <p:spPr>
          <a:xfrm>
            <a:off x="548640"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1</a:t>
            </a:r>
          </a:p>
        </p:txBody>
      </p:sp>
      <p:sp>
        <p:nvSpPr>
          <p:cNvPr id="7" name="Takeaway"/>
          <p:cNvSpPr txBox="1"/>
          <p:nvPr/>
        </p:nvSpPr>
        <p:spPr>
          <a:xfrm>
            <a:off x="822959"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f</a:t>
            </a:r>
            <a:r>
              <a:rPr sz="1800" b="1" i="0" baseline="-25000">
                <a:solidFill>
                  <a:srgbClr val="FFFFFF"/>
                </a:solidFill>
                <a:latin typeface="Calibri"/>
              </a:rPr>
              <a:t>c</a:t>
            </a:r>
            <a:r>
              <a:rPr sz="1800" b="1" i="0">
                <a:solidFill>
                  <a:srgbClr val="FFFFFF"/>
                </a:solidFill>
                <a:latin typeface="Calibri"/>
              </a:rPr>
              <a:t> = 1/(2πRC): −3 dB, −20 dB per decade per order</a:t>
            </a:r>
          </a:p>
        </p:txBody>
      </p:sp>
      <p:sp>
        <p:nvSpPr>
          <p:cNvPr id="8" name="Takeaway card"/>
          <p:cNvSpPr/>
          <p:nvPr/>
        </p:nvSpPr>
        <p:spPr>
          <a:xfrm>
            <a:off x="4338218"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2538"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2</a:t>
            </a:r>
          </a:p>
        </p:txBody>
      </p:sp>
      <p:sp>
        <p:nvSpPr>
          <p:cNvPr id="10" name="Takeaway"/>
          <p:cNvSpPr txBox="1"/>
          <p:nvPr/>
        </p:nvSpPr>
        <p:spPr>
          <a:xfrm>
            <a:off x="4612538"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Op-amp buffers the filter: no loading, optional gain</a:t>
            </a:r>
          </a:p>
        </p:txBody>
      </p:sp>
      <p:sp>
        <p:nvSpPr>
          <p:cNvPr id="11" name="Takeaway card"/>
          <p:cNvSpPr/>
          <p:nvPr/>
        </p:nvSpPr>
        <p:spPr>
          <a:xfrm>
            <a:off x="8127796"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2116"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3</a:t>
            </a:r>
          </a:p>
        </p:txBody>
      </p:sp>
      <p:sp>
        <p:nvSpPr>
          <p:cNvPr id="13" name="Takeaway"/>
          <p:cNvSpPr txBox="1"/>
          <p:nvPr/>
        </p:nvSpPr>
        <p:spPr>
          <a:xfrm>
            <a:off x="8402116"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Anti-aliasing low-pass with f</a:t>
            </a:r>
            <a:r>
              <a:rPr sz="1800" b="1" i="0" baseline="-25000">
                <a:solidFill>
                  <a:srgbClr val="FFFFFF"/>
                </a:solidFill>
                <a:latin typeface="Calibri"/>
              </a:rPr>
              <a:t>c</a:t>
            </a:r>
            <a:r>
              <a:rPr sz="1800" b="1" i="0">
                <a:solidFill>
                  <a:srgbClr val="FFFFFF"/>
                </a:solidFill>
                <a:latin typeface="Calibri"/>
              </a:rPr>
              <a:t> ≤ f</a:t>
            </a:r>
            <a:r>
              <a:rPr sz="1800" b="1" i="0" baseline="-25000">
                <a:solidFill>
                  <a:srgbClr val="FFFFFF"/>
                </a:solidFill>
                <a:latin typeface="Calibri"/>
              </a:rPr>
              <a:t>s</a:t>
            </a:r>
            <a:r>
              <a:rPr sz="1800" b="1" i="0">
                <a:solidFill>
                  <a:srgbClr val="FFFFFF"/>
                </a:solidFill>
                <a:latin typeface="Calibri"/>
              </a:rPr>
              <a:t>/2 before the S&amp;H</a:t>
            </a:r>
          </a:p>
        </p:txBody>
      </p:sp>
      <p:sp>
        <p:nvSpPr>
          <p:cNvPr id="14" name="Footer"/>
          <p:cNvSpPr txBox="1"/>
          <p:nvPr/>
        </p:nvSpPr>
        <p:spPr>
          <a:xfrm>
            <a:off x="548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FFFFFF"/>
                </a:solidFill>
                <a:latin typeface="Calibri"/>
              </a:rPr>
              <a:t>Electronic Circuit Design  ·  Active Filters</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FFFFFF"/>
                </a:solidFill>
                <a:latin typeface="Calibri"/>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PASSIVE RC FILTERS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RC low-pass and high-pass</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bode-plot-of-the-rc-low-pass-1.png"/>
          <p:cNvPicPr>
            <a:picLocks noChangeAspect="1"/>
          </p:cNvPicPr>
          <p:nvPr/>
        </p:nvPicPr>
        <p:blipFill>
          <a:blip r:embed="rId2"/>
          <a:stretch>
            <a:fillRect/>
          </a:stretch>
        </p:blipFill>
        <p:spPr>
          <a:xfrm>
            <a:off x="6876288" y="2713021"/>
            <a:ext cx="4565599" cy="2017172"/>
          </a:xfrm>
          <a:prstGeom prst="rect">
            <a:avLst/>
          </a:prstGeom>
        </p:spPr>
      </p:pic>
      <p:sp>
        <p:nvSpPr>
          <p:cNvPr id="6" name="Bullets"/>
          <p:cNvSpPr txBox="1"/>
          <p:nvPr/>
        </p:nvSpPr>
        <p:spPr>
          <a:xfrm>
            <a:off x="548640" y="1298448"/>
            <a:ext cx="5806440" cy="3296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Low-pass: frequency-dependent divider, C shorts high frequencies</a:t>
            </a:r>
          </a:p>
          <a:p>
            <a:pPr algn="l" marL="274320" indent="-274320">
              <a:lnSpc>
                <a:spcPct val="100000"/>
              </a:lnSpc>
              <a:spcAft>
                <a:spcPts val="1000"/>
              </a:spcAft>
              <a:buClr>
                <a:srgbClr val="00A9CE"/>
              </a:buClr>
              <a:buFont typeface="Arial"/>
              <a:buChar char="•"/>
            </a:pPr>
            <a:r>
              <a:rPr sz="2000" b="0" i="0">
                <a:solidFill>
                  <a:srgbClr val="23232B"/>
                </a:solidFill>
                <a:latin typeface="Calibri"/>
              </a:rPr>
              <a:t>At f</a:t>
            </a:r>
            <a:r>
              <a:rPr sz="2000" b="0" i="0" baseline="-25000">
                <a:solidFill>
                  <a:srgbClr val="23232B"/>
                </a:solidFill>
                <a:latin typeface="Calibri"/>
              </a:rPr>
              <a:t>c</a:t>
            </a:r>
            <a:r>
              <a:rPr sz="2000" b="0" i="0">
                <a:solidFill>
                  <a:srgbClr val="23232B"/>
                </a:solidFill>
                <a:latin typeface="Calibri"/>
              </a:rPr>
              <a:t>: |H| = 0.707 (−3 dB), phase −45° (high-pass: +45°)</a:t>
            </a:r>
          </a:p>
          <a:p>
            <a:pPr algn="l" marL="274320" indent="-274320">
              <a:lnSpc>
                <a:spcPct val="100000"/>
              </a:lnSpc>
              <a:spcAft>
                <a:spcPts val="1000"/>
              </a:spcAft>
              <a:buClr>
                <a:srgbClr val="00A9CE"/>
              </a:buClr>
              <a:buFont typeface="Arial"/>
              <a:buChar char="•"/>
            </a:pPr>
            <a:r>
              <a:rPr sz="2000" b="0" i="0">
                <a:solidFill>
                  <a:srgbClr val="23232B"/>
                </a:solidFill>
                <a:latin typeface="Calibri"/>
              </a:rPr>
              <a:t>Above f</a:t>
            </a:r>
            <a:r>
              <a:rPr sz="2000" b="0" i="0" baseline="-25000">
                <a:solidFill>
                  <a:srgbClr val="23232B"/>
                </a:solidFill>
                <a:latin typeface="Calibri"/>
              </a:rPr>
              <a:t>c</a:t>
            </a:r>
            <a:r>
              <a:rPr sz="2000" b="0" i="0">
                <a:solidFill>
                  <a:srgbClr val="23232B"/>
                </a:solidFill>
                <a:latin typeface="Calibri"/>
              </a:rPr>
              <a:t>: −20 dB per decade (10× frequency → 1/10 amplitude)</a:t>
            </a:r>
          </a:p>
          <a:p>
            <a:pPr algn="l" marL="274320" indent="-274320">
              <a:lnSpc>
                <a:spcPct val="100000"/>
              </a:lnSpc>
              <a:spcAft>
                <a:spcPts val="1000"/>
              </a:spcAft>
              <a:buClr>
                <a:srgbClr val="00A9CE"/>
              </a:buClr>
              <a:buFont typeface="Arial"/>
              <a:buChar char="•"/>
            </a:pPr>
            <a:r>
              <a:rPr sz="2000" b="0" i="0">
                <a:solidFill>
                  <a:srgbClr val="23232B"/>
                </a:solidFill>
                <a:latin typeface="Calibri"/>
              </a:rPr>
              <a:t>High-pass blocks DC: coupling capacitor, +20 dB/decade below f</a:t>
            </a:r>
            <a:r>
              <a:rPr sz="2000" b="0" i="0" baseline="-25000">
                <a:solidFill>
                  <a:srgbClr val="23232B"/>
                </a:solidFill>
                <a:latin typeface="Calibri"/>
              </a:rPr>
              <a:t>c</a:t>
            </a:r>
          </a:p>
          <a:p>
            <a:pPr algn="l" marL="274320" indent="-274320">
              <a:lnSpc>
                <a:spcPct val="100000"/>
              </a:lnSpc>
              <a:spcAft>
                <a:spcPts val="1000"/>
              </a:spcAft>
              <a:buClr>
                <a:srgbClr val="00A9CE"/>
              </a:buClr>
              <a:buFont typeface="Arial"/>
              <a:buChar char="•"/>
            </a:pPr>
            <a:r>
              <a:rPr sz="2000" b="0" i="0">
                <a:solidFill>
                  <a:srgbClr val="23232B"/>
                </a:solidFill>
                <a:latin typeface="Calibri"/>
              </a:rPr>
              <a:t>dB = 20·log</a:t>
            </a:r>
            <a:r>
              <a:rPr sz="2000" b="0" i="0" baseline="-25000">
                <a:solidFill>
                  <a:srgbClr val="23232B"/>
                </a:solidFill>
                <a:latin typeface="Calibri"/>
              </a:rPr>
              <a:t>10</a:t>
            </a:r>
            <a:r>
              <a:rPr sz="2000" b="0" i="0">
                <a:solidFill>
                  <a:srgbClr val="23232B"/>
                </a:solidFill>
                <a:latin typeface="Calibri"/>
              </a:rPr>
              <a:t>|H|: cascaded gains add in dB</a:t>
            </a:r>
          </a:p>
        </p:txBody>
      </p:sp>
      <p:sp>
        <p:nvSpPr>
          <p:cNvPr id="7" name="Key rule"/>
          <p:cNvSpPr/>
          <p:nvPr/>
        </p:nvSpPr>
        <p:spPr>
          <a:xfrm>
            <a:off x="548640" y="49154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50251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52994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f</a:t>
            </a:r>
            <a:r>
              <a:rPr sz="1700" b="1" i="0" baseline="-25000">
                <a:solidFill>
                  <a:srgbClr val="4E2A8C"/>
                </a:solidFill>
                <a:latin typeface="Calibri"/>
              </a:rPr>
              <a:t>c</a:t>
            </a:r>
            <a:r>
              <a:rPr sz="1700" b="1" i="0">
                <a:solidFill>
                  <a:srgbClr val="4E2A8C"/>
                </a:solidFill>
                <a:latin typeface="Calibri"/>
              </a:rPr>
              <a:t> = 1/(2πRC),   |H| = 1/√(1 + (f/f</a:t>
            </a:r>
            <a:r>
              <a:rPr sz="1700" b="1" i="0" baseline="-25000">
                <a:solidFill>
                  <a:srgbClr val="4E2A8C"/>
                </a:solidFill>
                <a:latin typeface="Calibri"/>
              </a:rPr>
              <a:t>c</a:t>
            </a:r>
            <a:r>
              <a:rPr sz="1700" b="1" i="0">
                <a:solidFill>
                  <a:srgbClr val="4E2A8C"/>
                </a:solidFill>
                <a:latin typeface="Calibri"/>
              </a:rPr>
              <a:t>)</a:t>
            </a:r>
            <a:r>
              <a:rPr sz="1700" b="1" i="0" baseline="30000">
                <a:solidFill>
                  <a:srgbClr val="4E2A8C"/>
                </a:solidFill>
                <a:latin typeface="Calibri"/>
              </a:rPr>
              <a:t>2</a:t>
            </a:r>
            <a:r>
              <a:rPr sz="1700" b="1" i="0">
                <a:solidFill>
                  <a:srgbClr val="4E2A8C"/>
                </a:solidFill>
                <a:latin typeface="Calibri"/>
              </a:rPr>
              <a:t>)</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PASSIVE RC FILTERS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RC low-pass and high-pass</a:t>
            </a:r>
          </a:p>
        </p:txBody>
      </p:sp>
      <p:sp>
        <p:nvSpPr>
          <p:cNvPr id="4" name="Label"/>
          <p:cNvSpPr txBox="1"/>
          <p:nvPr/>
        </p:nvSpPr>
        <p:spPr>
          <a:xfrm>
            <a:off x="548640" y="1298448"/>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5" name="Falstad filter_rc_lowpass">
            <a:hlinkClick r:id="rId2"/>
          </p:cNvPr>
          <p:cNvSpPr/>
          <p:nvPr/>
        </p:nvSpPr>
        <p:spPr>
          <a:xfrm>
            <a:off x="548640" y="17099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a:off x="694944"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rot="5400000">
            <a:off x="832103"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lstad link filter_rc_lowpass">
            <a:hlinkClick r:id="rId2"/>
          </p:cNvPr>
          <p:cNvSpPr txBox="1"/>
          <p:nvPr/>
        </p:nvSpPr>
        <p:spPr>
          <a:xfrm>
            <a:off x="1234440" y="1819655"/>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filters/filter_rc_lowpass</a:t>
            </a:r>
          </a:p>
        </p:txBody>
      </p:sp>
      <p:sp>
        <p:nvSpPr>
          <p:cNvPr id="9" name="Falstad hint"/>
          <p:cNvSpPr txBox="1"/>
          <p:nvPr/>
        </p:nvSpPr>
        <p:spPr>
          <a:xfrm>
            <a:off x="1234440" y="20939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Compare amplitudes at 100 Hz, 1 kHz, 10 kHz (f</a:t>
            </a:r>
            <a:r>
              <a:rPr sz="1300" b="0" i="0" baseline="-25000">
                <a:solidFill>
                  <a:srgbClr val="23232B"/>
                </a:solidFill>
                <a:latin typeface="Calibri"/>
              </a:rPr>
              <a:t>c</a:t>
            </a:r>
            <a:r>
              <a:rPr sz="1300" b="0" i="0">
                <a:solidFill>
                  <a:srgbClr val="23232B"/>
                </a:solidFill>
                <a:latin typeface="Calibri"/>
              </a:rPr>
              <a:t> = 995 Hz)</a:t>
            </a:r>
          </a:p>
        </p:txBody>
      </p:sp>
      <p:sp>
        <p:nvSpPr>
          <p:cNvPr id="10" name="Falstad filter_rc_highpass">
            <a:hlinkClick r:id="rId3"/>
          </p:cNvPr>
          <p:cNvSpPr/>
          <p:nvPr/>
        </p:nvSpPr>
        <p:spPr>
          <a:xfrm>
            <a:off x="548640" y="25481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lay icon"/>
          <p:cNvSpPr/>
          <p:nvPr/>
        </p:nvSpPr>
        <p:spPr>
          <a:xfrm>
            <a:off x="694944" y="27020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ay icon"/>
          <p:cNvSpPr/>
          <p:nvPr/>
        </p:nvSpPr>
        <p:spPr>
          <a:xfrm rot="5400000">
            <a:off x="832103" y="28209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alstad link filter_rc_highpass">
            <a:hlinkClick r:id="rId3"/>
          </p:cNvPr>
          <p:cNvSpPr txBox="1"/>
          <p:nvPr/>
        </p:nvSpPr>
        <p:spPr>
          <a:xfrm>
            <a:off x="1234440" y="2657856"/>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filters/filter_rc_highpass</a:t>
            </a:r>
          </a:p>
        </p:txBody>
      </p:sp>
      <p:sp>
        <p:nvSpPr>
          <p:cNvPr id="14" name="Falstad hint"/>
          <p:cNvSpPr txBox="1"/>
          <p:nvPr/>
        </p:nvSpPr>
        <p:spPr>
          <a:xfrm>
            <a:off x="1234440" y="29321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Same R, C swapped: watch the phase lead of +45° at 1 kHz</a:t>
            </a:r>
          </a:p>
        </p:txBody>
      </p:sp>
      <p:sp>
        <p:nvSpPr>
          <p:cNvPr id="15" name="Label"/>
          <p:cNvSpPr txBox="1"/>
          <p:nvPr/>
        </p:nvSpPr>
        <p:spPr>
          <a:xfrm>
            <a:off x="548640" y="3624072"/>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6" name="Observe"/>
          <p:cNvSpPr txBox="1"/>
          <p:nvPr/>
        </p:nvSpPr>
        <p:spPr>
          <a:xfrm>
            <a:off x="548640" y="4035552"/>
            <a:ext cx="11094415" cy="2109215"/>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Low-pass: 0.995 V, 0.705 V, 0.099 V at 100 Hz, 1 kHz, 10 kHz</a:t>
            </a:r>
          </a:p>
          <a:p>
            <a:pPr algn="l" marL="274320" indent="-274320">
              <a:lnSpc>
                <a:spcPct val="100000"/>
              </a:lnSpc>
              <a:spcAft>
                <a:spcPts val="1000"/>
              </a:spcAft>
              <a:buClr>
                <a:srgbClr val="00A9CE"/>
              </a:buClr>
              <a:buFont typeface="Arial"/>
              <a:buChar char="•"/>
            </a:pPr>
            <a:r>
              <a:rPr sz="1800" b="0" i="0">
                <a:solidFill>
                  <a:srgbClr val="23232B"/>
                </a:solidFill>
                <a:latin typeface="Calibri"/>
              </a:rPr>
              <a:t>High-pass mirrors it: 0.100 V, 0.709 V, 0.995 V</a:t>
            </a:r>
          </a:p>
          <a:p>
            <a:pPr algn="l" marL="274320" indent="-274320">
              <a:lnSpc>
                <a:spcPct val="100000"/>
              </a:lnSpc>
              <a:spcAft>
                <a:spcPts val="1000"/>
              </a:spcAft>
              <a:buClr>
                <a:srgbClr val="00A9CE"/>
              </a:buClr>
              <a:buFont typeface="Arial"/>
              <a:buChar char="•"/>
            </a:pPr>
            <a:r>
              <a:rPr sz="1800" b="0" i="0">
                <a:solidFill>
                  <a:srgbClr val="23232B"/>
                </a:solidFill>
                <a:latin typeface="Calibri"/>
              </a:rPr>
              <a:t>Add a load resistor at the output: f</a:t>
            </a:r>
            <a:r>
              <a:rPr sz="1800" b="0" i="0" baseline="-25000">
                <a:solidFill>
                  <a:srgbClr val="23232B"/>
                </a:solidFill>
                <a:latin typeface="Calibri"/>
              </a:rPr>
              <a:t>c</a:t>
            </a:r>
            <a:r>
              <a:rPr sz="1800" b="0" i="0">
                <a:solidFill>
                  <a:srgbClr val="23232B"/>
                </a:solidFill>
                <a:latin typeface="Calibri"/>
              </a:rPr>
              <a:t> and amplitude shift</a:t>
            </a:r>
          </a:p>
        </p:txBody>
      </p:sp>
      <p:pic>
        <p:nvPicPr>
          <p:cNvPr id="17"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8"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19"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FIRST-ORDER ACTIVE FILTERS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First-order active filters</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non-inverting-first-order-low-pass-1.png"/>
          <p:cNvPicPr>
            <a:picLocks noChangeAspect="1"/>
          </p:cNvPicPr>
          <p:nvPr/>
        </p:nvPicPr>
        <p:blipFill>
          <a:blip r:embed="rId2"/>
          <a:stretch>
            <a:fillRect/>
          </a:stretch>
        </p:blipFill>
        <p:spPr>
          <a:xfrm>
            <a:off x="6876288" y="2075665"/>
            <a:ext cx="4565599" cy="3291884"/>
          </a:xfrm>
          <a:prstGeom prst="rect">
            <a:avLst/>
          </a:prstGeom>
        </p:spPr>
      </p:pic>
      <p:sp>
        <p:nvSpPr>
          <p:cNvPr id="6" name="Falstad filter_active_first_order">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filter_active_first_order">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filters/filter_active_first_order</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Three filters, 0.1 V at 1 kHz: compare Vout_a, Vout_b, Vout_c</a:t>
            </a:r>
          </a:p>
        </p:txBody>
      </p:sp>
      <p:sp>
        <p:nvSpPr>
          <p:cNvPr id="11" name="Bullets"/>
          <p:cNvSpPr txBox="1"/>
          <p:nvPr/>
        </p:nvSpPr>
        <p:spPr>
          <a:xfrm>
            <a:off x="548640" y="1298448"/>
            <a:ext cx="5806440" cy="245363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900" b="0" i="0">
                <a:solidFill>
                  <a:srgbClr val="23232B"/>
                </a:solidFill>
                <a:latin typeface="Calibri"/>
              </a:rPr>
              <a:t>Non-inverting: RC low-pass, then follower or amplifier G = 1 + R</a:t>
            </a:r>
            <a:r>
              <a:rPr sz="1900" b="0" i="0" baseline="-25000">
                <a:solidFill>
                  <a:srgbClr val="23232B"/>
                </a:solidFill>
                <a:latin typeface="Calibri"/>
              </a:rPr>
              <a:t>2</a:t>
            </a:r>
            <a:r>
              <a:rPr sz="1900" b="0" i="0">
                <a:solidFill>
                  <a:srgbClr val="23232B"/>
                </a:solidFill>
                <a:latin typeface="Calibri"/>
              </a:rPr>
              <a:t>/R</a:t>
            </a:r>
            <a:r>
              <a:rPr sz="1900" b="0" i="0" baseline="-25000">
                <a:solidFill>
                  <a:srgbClr val="23232B"/>
                </a:solidFill>
                <a:latin typeface="Calibri"/>
              </a:rPr>
              <a:t>1</a:t>
            </a:r>
          </a:p>
          <a:p>
            <a:pPr algn="l" marL="274320" indent="-274320">
              <a:lnSpc>
                <a:spcPct val="100000"/>
              </a:lnSpc>
              <a:spcAft>
                <a:spcPts val="1000"/>
              </a:spcAft>
              <a:buClr>
                <a:srgbClr val="00A9CE"/>
              </a:buClr>
              <a:buFont typeface="Arial"/>
              <a:buChar char="•"/>
            </a:pPr>
            <a:r>
              <a:rPr sz="1900" b="0" i="0">
                <a:solidFill>
                  <a:srgbClr val="23232B"/>
                </a:solidFill>
                <a:latin typeface="Calibri"/>
              </a:rPr>
              <a:t>Op-amp input does not load C; output drives the next stage</a:t>
            </a:r>
          </a:p>
          <a:p>
            <a:pPr algn="l" marL="274320" indent="-274320">
              <a:lnSpc>
                <a:spcPct val="100000"/>
              </a:lnSpc>
              <a:spcAft>
                <a:spcPts val="1000"/>
              </a:spcAft>
              <a:buClr>
                <a:srgbClr val="00A9CE"/>
              </a:buClr>
              <a:buFont typeface="Arial"/>
              <a:buChar char="•"/>
            </a:pPr>
            <a:r>
              <a:rPr sz="1900" b="0" i="0">
                <a:solidFill>
                  <a:srgbClr val="23232B"/>
                </a:solidFill>
                <a:latin typeface="Calibri"/>
              </a:rPr>
              <a:t>Inverting low-pass: C parallel to R</a:t>
            </a:r>
            <a:r>
              <a:rPr sz="1900" b="0" i="0" baseline="-25000">
                <a:solidFill>
                  <a:srgbClr val="23232B"/>
                </a:solidFill>
                <a:latin typeface="Calibri"/>
              </a:rPr>
              <a:t>2</a:t>
            </a:r>
            <a:r>
              <a:rPr sz="1900" b="0" i="0">
                <a:solidFill>
                  <a:srgbClr val="23232B"/>
                </a:solidFill>
                <a:latin typeface="Calibri"/>
              </a:rPr>
              <a:t>, f</a:t>
            </a:r>
            <a:r>
              <a:rPr sz="1900" b="0" i="0" baseline="-25000">
                <a:solidFill>
                  <a:srgbClr val="23232B"/>
                </a:solidFill>
                <a:latin typeface="Calibri"/>
              </a:rPr>
              <a:t>c</a:t>
            </a:r>
            <a:r>
              <a:rPr sz="1900" b="0" i="0">
                <a:solidFill>
                  <a:srgbClr val="23232B"/>
                </a:solidFill>
                <a:latin typeface="Calibri"/>
              </a:rPr>
              <a:t> = 1/(2πR</a:t>
            </a:r>
            <a:r>
              <a:rPr sz="1900" b="0" i="0" baseline="-25000">
                <a:solidFill>
                  <a:srgbClr val="23232B"/>
                </a:solidFill>
                <a:latin typeface="Calibri"/>
              </a:rPr>
              <a:t>2</a:t>
            </a:r>
            <a:r>
              <a:rPr sz="1900" b="0" i="0">
                <a:solidFill>
                  <a:srgbClr val="23232B"/>
                </a:solidFill>
                <a:latin typeface="Calibri"/>
              </a:rPr>
              <a:t>C), gain −R</a:t>
            </a:r>
            <a:r>
              <a:rPr sz="1900" b="0" i="0" baseline="-25000">
                <a:solidFill>
                  <a:srgbClr val="23232B"/>
                </a:solidFill>
                <a:latin typeface="Calibri"/>
              </a:rPr>
              <a:t>2</a:t>
            </a:r>
            <a:r>
              <a:rPr sz="1900" b="0" i="0">
                <a:solidFill>
                  <a:srgbClr val="23232B"/>
                </a:solidFill>
                <a:latin typeface="Calibri"/>
              </a:rPr>
              <a:t>/R</a:t>
            </a:r>
            <a:r>
              <a:rPr sz="1900" b="0" i="0" baseline="-25000">
                <a:solidFill>
                  <a:srgbClr val="23232B"/>
                </a:solidFill>
                <a:latin typeface="Calibri"/>
              </a:rPr>
              <a:t>1</a:t>
            </a:r>
          </a:p>
          <a:p>
            <a:pPr algn="l" marL="274320" indent="-274320">
              <a:lnSpc>
                <a:spcPct val="100000"/>
              </a:lnSpc>
              <a:spcAft>
                <a:spcPts val="1000"/>
              </a:spcAft>
              <a:buClr>
                <a:srgbClr val="00A9CE"/>
              </a:buClr>
              <a:buFont typeface="Arial"/>
              <a:buChar char="•"/>
            </a:pPr>
            <a:r>
              <a:rPr sz="1900" b="0" i="0">
                <a:solidFill>
                  <a:srgbClr val="23232B"/>
                </a:solidFill>
                <a:latin typeface="Calibri"/>
              </a:rPr>
              <a:t>Inverting high-pass: C</a:t>
            </a:r>
            <a:r>
              <a:rPr sz="1900" b="0" i="0" baseline="-25000">
                <a:solidFill>
                  <a:srgbClr val="23232B"/>
                </a:solidFill>
                <a:latin typeface="Calibri"/>
              </a:rPr>
              <a:t>1</a:t>
            </a:r>
            <a:r>
              <a:rPr sz="1900" b="0" i="0">
                <a:solidFill>
                  <a:srgbClr val="23232B"/>
                </a:solidFill>
                <a:latin typeface="Calibri"/>
              </a:rPr>
              <a:t> in series with R</a:t>
            </a:r>
            <a:r>
              <a:rPr sz="1900" b="0" i="0" baseline="-25000">
                <a:solidFill>
                  <a:srgbClr val="23232B"/>
                </a:solidFill>
                <a:latin typeface="Calibri"/>
              </a:rPr>
              <a:t>1</a:t>
            </a:r>
            <a:r>
              <a:rPr sz="1900" b="0" i="0">
                <a:solidFill>
                  <a:srgbClr val="23232B"/>
                </a:solidFill>
                <a:latin typeface="Calibri"/>
              </a:rPr>
              <a:t>, f</a:t>
            </a:r>
            <a:r>
              <a:rPr sz="1900" b="0" i="0" baseline="-25000">
                <a:solidFill>
                  <a:srgbClr val="23232B"/>
                </a:solidFill>
                <a:latin typeface="Calibri"/>
              </a:rPr>
              <a:t>c</a:t>
            </a:r>
            <a:r>
              <a:rPr sz="1900" b="0" i="0">
                <a:solidFill>
                  <a:srgbClr val="23232B"/>
                </a:solidFill>
                <a:latin typeface="Calibri"/>
              </a:rPr>
              <a:t> = 1/(2πR</a:t>
            </a:r>
            <a:r>
              <a:rPr sz="1900" b="0" i="0" baseline="-25000">
                <a:solidFill>
                  <a:srgbClr val="23232B"/>
                </a:solidFill>
                <a:latin typeface="Calibri"/>
              </a:rPr>
              <a:t>1</a:t>
            </a:r>
            <a:r>
              <a:rPr sz="1900" b="0" i="0">
                <a:solidFill>
                  <a:srgbClr val="23232B"/>
                </a:solidFill>
                <a:latin typeface="Calibri"/>
              </a:rPr>
              <a:t>C</a:t>
            </a:r>
            <a:r>
              <a:rPr sz="1900" b="0" i="0" baseline="-25000">
                <a:solidFill>
                  <a:srgbClr val="23232B"/>
                </a:solidFill>
                <a:latin typeface="Calibri"/>
              </a:rPr>
              <a:t>1</a:t>
            </a:r>
            <a:r>
              <a:rPr sz="1900" b="0" i="0">
                <a:solidFill>
                  <a:srgbClr val="23232B"/>
                </a:solidFill>
                <a:latin typeface="Calibri"/>
              </a:rPr>
              <a:t>)</a:t>
            </a:r>
          </a:p>
        </p:txBody>
      </p:sp>
      <p:sp>
        <p:nvSpPr>
          <p:cNvPr id="12" name="Key rule"/>
          <p:cNvSpPr/>
          <p:nvPr/>
        </p:nvSpPr>
        <p:spPr>
          <a:xfrm>
            <a:off x="548640" y="407212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418185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45617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f</a:t>
            </a:r>
            <a:r>
              <a:rPr sz="1700" b="1" i="0" baseline="-25000">
                <a:solidFill>
                  <a:srgbClr val="4E2A8C"/>
                </a:solidFill>
                <a:latin typeface="Calibri"/>
              </a:rPr>
              <a:t>c</a:t>
            </a:r>
            <a:r>
              <a:rPr sz="1700" b="1" i="0">
                <a:solidFill>
                  <a:srgbClr val="4E2A8C"/>
                </a:solidFill>
                <a:latin typeface="Calibri"/>
              </a:rPr>
              <a:t> is set by the R and C that form the filter</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FIRST-ORDER ACTIVE FILTERS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The integrator</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integrator-1.png"/>
          <p:cNvPicPr>
            <a:picLocks noChangeAspect="1"/>
          </p:cNvPicPr>
          <p:nvPr/>
        </p:nvPicPr>
        <p:blipFill>
          <a:blip r:embed="rId2"/>
          <a:stretch>
            <a:fillRect/>
          </a:stretch>
        </p:blipFill>
        <p:spPr>
          <a:xfrm>
            <a:off x="6876288" y="2323614"/>
            <a:ext cx="4565599" cy="2795987"/>
          </a:xfrm>
          <a:prstGeom prst="rect">
            <a:avLst/>
          </a:prstGeom>
        </p:spPr>
      </p:pic>
      <p:sp>
        <p:nvSpPr>
          <p:cNvPr id="6" name="Falstad filter_integrator">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filter_integrator">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filters/filter_integrator</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±1 V square at 500 Hz: triangle of 1 V p-p; watch R</a:t>
            </a:r>
            <a:r>
              <a:rPr sz="1300" b="0" i="0" baseline="-25000">
                <a:solidFill>
                  <a:srgbClr val="23232B"/>
                </a:solidFill>
                <a:latin typeface="Calibri"/>
              </a:rPr>
              <a:t>p</a:t>
            </a:r>
            <a:r>
              <a:rPr sz="1300" b="0" i="0">
                <a:solidFill>
                  <a:srgbClr val="23232B"/>
                </a:solidFill>
                <a:latin typeface="Calibri"/>
              </a:rPr>
              <a:t> centre it</a:t>
            </a:r>
          </a:p>
        </p:txBody>
      </p:sp>
      <p:sp>
        <p:nvSpPr>
          <p:cNvPr id="11" name="Bullets"/>
          <p:cNvSpPr txBox="1"/>
          <p:nvPr/>
        </p:nvSpPr>
        <p:spPr>
          <a:xfrm>
            <a:off x="548640" y="1298448"/>
            <a:ext cx="5806440" cy="1645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C in the feedback path: V</a:t>
            </a:r>
            <a:r>
              <a:rPr sz="2000" b="0" i="0" baseline="-25000">
                <a:solidFill>
                  <a:srgbClr val="23232B"/>
                </a:solidFill>
                <a:latin typeface="Calibri"/>
              </a:rPr>
              <a:t>out</a:t>
            </a:r>
            <a:r>
              <a:rPr sz="2000" b="0" i="0">
                <a:solidFill>
                  <a:srgbClr val="23232B"/>
                </a:solidFill>
                <a:latin typeface="Calibri"/>
              </a:rPr>
              <a:t> = −(1/RC)·∫V</a:t>
            </a:r>
            <a:r>
              <a:rPr sz="2000" b="0" i="0" baseline="-25000">
                <a:solidFill>
                  <a:srgbClr val="23232B"/>
                </a:solidFill>
                <a:latin typeface="Calibri"/>
              </a:rPr>
              <a:t>in</a:t>
            </a:r>
            <a:r>
              <a:rPr sz="2000" b="0" i="0">
                <a:solidFill>
                  <a:srgbClr val="23232B"/>
                </a:solidFill>
                <a:latin typeface="Calibri"/>
              </a:rPr>
              <a:t> dt</a:t>
            </a:r>
          </a:p>
          <a:p>
            <a:pPr algn="l" marL="274320" indent="-274320">
              <a:lnSpc>
                <a:spcPct val="100000"/>
              </a:lnSpc>
              <a:spcAft>
                <a:spcPts val="1000"/>
              </a:spcAft>
              <a:buClr>
                <a:srgbClr val="00A9CE"/>
              </a:buClr>
              <a:buFont typeface="Arial"/>
              <a:buChar char="•"/>
            </a:pPr>
            <a:r>
              <a:rPr sz="2000" b="0" i="0">
                <a:solidFill>
                  <a:srgbClr val="23232B"/>
                </a:solidFill>
                <a:latin typeface="Calibri"/>
              </a:rPr>
              <a:t>−20 dB per decade at all frequencies, DC gain infinite</a:t>
            </a:r>
          </a:p>
          <a:p>
            <a:pPr algn="l" marL="274320" indent="-274320">
              <a:lnSpc>
                <a:spcPct val="100000"/>
              </a:lnSpc>
              <a:spcAft>
                <a:spcPts val="1000"/>
              </a:spcAft>
              <a:buClr>
                <a:srgbClr val="00A9CE"/>
              </a:buClr>
              <a:buFont typeface="Arial"/>
              <a:buChar char="•"/>
            </a:pPr>
            <a:r>
              <a:rPr sz="2000" b="0" i="0">
                <a:solidFill>
                  <a:srgbClr val="23232B"/>
                </a:solidFill>
                <a:latin typeface="Calibri"/>
              </a:rPr>
              <a:t>Any offset drives a pure integrator into saturation</a:t>
            </a:r>
          </a:p>
          <a:p>
            <a:pPr algn="l" marL="274320" indent="-274320">
              <a:lnSpc>
                <a:spcPct val="100000"/>
              </a:lnSpc>
              <a:spcAft>
                <a:spcPts val="1000"/>
              </a:spcAft>
              <a:buClr>
                <a:srgbClr val="00A9CE"/>
              </a:buClr>
              <a:buFont typeface="Arial"/>
              <a:buChar char="•"/>
            </a:pPr>
            <a:r>
              <a:rPr sz="2000" b="0" i="0">
                <a:solidFill>
                  <a:srgbClr val="23232B"/>
                </a:solidFill>
                <a:latin typeface="Calibri"/>
              </a:rPr>
              <a:t>Practical: R</a:t>
            </a:r>
            <a:r>
              <a:rPr sz="2000" b="0" i="0" baseline="-25000">
                <a:solidFill>
                  <a:srgbClr val="23232B"/>
                </a:solidFill>
                <a:latin typeface="Calibri"/>
              </a:rPr>
              <a:t>p</a:t>
            </a:r>
            <a:r>
              <a:rPr sz="2000" b="0" i="0">
                <a:solidFill>
                  <a:srgbClr val="23232B"/>
                </a:solidFill>
                <a:latin typeface="Calibri"/>
              </a:rPr>
              <a:t> parallel to C limits DC gain to −R</a:t>
            </a:r>
            <a:r>
              <a:rPr sz="2000" b="0" i="0" baseline="-25000">
                <a:solidFill>
                  <a:srgbClr val="23232B"/>
                </a:solidFill>
                <a:latin typeface="Calibri"/>
              </a:rPr>
              <a:t>p</a:t>
            </a:r>
            <a:r>
              <a:rPr sz="2000" b="0" i="0">
                <a:solidFill>
                  <a:srgbClr val="23232B"/>
                </a:solidFill>
                <a:latin typeface="Calibri"/>
              </a:rPr>
              <a:t>/R</a:t>
            </a:r>
          </a:p>
        </p:txBody>
      </p:sp>
      <p:sp>
        <p:nvSpPr>
          <p:cNvPr id="12" name="Key rule"/>
          <p:cNvSpPr/>
          <p:nvPr/>
        </p:nvSpPr>
        <p:spPr>
          <a:xfrm>
            <a:off x="548640" y="3264408"/>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33741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36484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Square wave in → triangle out, slope V</a:t>
            </a:r>
            <a:r>
              <a:rPr sz="1700" b="1" i="0" baseline="-25000">
                <a:solidFill>
                  <a:srgbClr val="4E2A8C"/>
                </a:solidFill>
                <a:latin typeface="Calibri"/>
              </a:rPr>
              <a:t>in</a:t>
            </a:r>
            <a:r>
              <a:rPr sz="1700" b="1" i="0">
                <a:solidFill>
                  <a:srgbClr val="4E2A8C"/>
                </a:solidFill>
                <a:latin typeface="Calibri"/>
              </a:rPr>
              <a:t>/(RC)</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SECOND-ORDER FILTERS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Sallen-Key low-pass (unity gain)</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sallen-key-low-pass-unity-gain-1.png"/>
          <p:cNvPicPr>
            <a:picLocks noChangeAspect="1"/>
          </p:cNvPicPr>
          <p:nvPr/>
        </p:nvPicPr>
        <p:blipFill>
          <a:blip r:embed="rId2"/>
          <a:stretch>
            <a:fillRect/>
          </a:stretch>
        </p:blipFill>
        <p:spPr>
          <a:xfrm>
            <a:off x="6876288" y="2616228"/>
            <a:ext cx="4565599" cy="2210758"/>
          </a:xfrm>
          <a:prstGeom prst="rect">
            <a:avLst/>
          </a:prstGeom>
        </p:spPr>
      </p:pic>
      <p:sp>
        <p:nvSpPr>
          <p:cNvPr id="6" name="Bullets"/>
          <p:cNvSpPr txBox="1"/>
          <p:nvPr/>
        </p:nvSpPr>
        <p:spPr>
          <a:xfrm>
            <a:off x="548640" y="1298448"/>
            <a:ext cx="5806440" cy="22555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Order n: −20·n dB per decade; 2nd order with one op-amp</a:t>
            </a:r>
          </a:p>
          <a:p>
            <a:pPr algn="l" marL="274320" indent="-274320">
              <a:lnSpc>
                <a:spcPct val="100000"/>
              </a:lnSpc>
              <a:spcAft>
                <a:spcPts val="1000"/>
              </a:spcAft>
              <a:buClr>
                <a:srgbClr val="00A9CE"/>
              </a:buClr>
              <a:buFont typeface="Arial"/>
              <a:buChar char="•"/>
            </a:pPr>
            <a:r>
              <a:rPr sz="2000" b="0" i="0">
                <a:solidFill>
                  <a:srgbClr val="23232B"/>
                </a:solidFill>
                <a:latin typeface="Calibri"/>
              </a:rPr>
              <a:t>C</a:t>
            </a:r>
            <a:r>
              <a:rPr sz="2000" b="0" i="0" baseline="-25000">
                <a:solidFill>
                  <a:srgbClr val="23232B"/>
                </a:solidFill>
                <a:latin typeface="Calibri"/>
              </a:rPr>
              <a:t>1</a:t>
            </a:r>
            <a:r>
              <a:rPr sz="2000" b="0" i="0">
                <a:solidFill>
                  <a:srgbClr val="23232B"/>
                </a:solidFill>
                <a:latin typeface="Calibri"/>
              </a:rPr>
              <a:t> to the output gives positive feedback near f</a:t>
            </a:r>
            <a:r>
              <a:rPr sz="2000" b="0" i="0" baseline="-25000">
                <a:solidFill>
                  <a:srgbClr val="23232B"/>
                </a:solidFill>
                <a:latin typeface="Calibri"/>
              </a:rPr>
              <a:t>0</a:t>
            </a:r>
          </a:p>
          <a:p>
            <a:pPr algn="l" marL="274320" indent="-274320">
              <a:lnSpc>
                <a:spcPct val="100000"/>
              </a:lnSpc>
              <a:spcAft>
                <a:spcPts val="1000"/>
              </a:spcAft>
              <a:buClr>
                <a:srgbClr val="00A9CE"/>
              </a:buClr>
              <a:buFont typeface="Arial"/>
              <a:buChar char="•"/>
            </a:pPr>
            <a:r>
              <a:rPr sz="2000" b="0" i="0">
                <a:solidFill>
                  <a:srgbClr val="23232B"/>
                </a:solidFill>
                <a:latin typeface="Calibri"/>
              </a:rPr>
              <a:t>Q sets the corner: 0.707 Butterworth = maximally flat, −3 dB at f</a:t>
            </a:r>
            <a:r>
              <a:rPr sz="2000" b="0" i="0" baseline="-25000">
                <a:solidFill>
                  <a:srgbClr val="23232B"/>
                </a:solidFill>
                <a:latin typeface="Calibri"/>
              </a:rPr>
              <a:t>0</a:t>
            </a:r>
          </a:p>
          <a:p>
            <a:pPr algn="l" marL="274320" indent="-274320">
              <a:lnSpc>
                <a:spcPct val="100000"/>
              </a:lnSpc>
              <a:spcAft>
                <a:spcPts val="1000"/>
              </a:spcAft>
              <a:buClr>
                <a:srgbClr val="00A9CE"/>
              </a:buClr>
              <a:buFont typeface="Arial"/>
              <a:buChar char="•"/>
            </a:pPr>
            <a:r>
              <a:rPr sz="2000" b="0" i="0">
                <a:solidFill>
                  <a:srgbClr val="23232B"/>
                </a:solidFill>
                <a:latin typeface="Calibri"/>
              </a:rPr>
              <a:t>Higher Q: peaking and ringing; |H(f</a:t>
            </a:r>
            <a:r>
              <a:rPr sz="2000" b="0" i="0" baseline="-25000">
                <a:solidFill>
                  <a:srgbClr val="23232B"/>
                </a:solidFill>
                <a:latin typeface="Calibri"/>
              </a:rPr>
              <a:t>0</a:t>
            </a:r>
            <a:r>
              <a:rPr sz="2000" b="0" i="0">
                <a:solidFill>
                  <a:srgbClr val="23232B"/>
                </a:solidFill>
                <a:latin typeface="Calibri"/>
              </a:rPr>
              <a:t>)| = Q</a:t>
            </a:r>
          </a:p>
        </p:txBody>
      </p:sp>
      <p:sp>
        <p:nvSpPr>
          <p:cNvPr id="7" name="Key rule"/>
          <p:cNvSpPr/>
          <p:nvPr/>
        </p:nvSpPr>
        <p:spPr>
          <a:xfrm>
            <a:off x="548640" y="38740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39837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42580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f</a:t>
            </a:r>
            <a:r>
              <a:rPr sz="1700" b="1" i="0" baseline="-25000">
                <a:solidFill>
                  <a:srgbClr val="4E2A8C"/>
                </a:solidFill>
                <a:latin typeface="Calibri"/>
              </a:rPr>
              <a:t>0</a:t>
            </a:r>
            <a:r>
              <a:rPr sz="1700" b="1" i="0">
                <a:solidFill>
                  <a:srgbClr val="4E2A8C"/>
                </a:solidFill>
                <a:latin typeface="Calibri"/>
              </a:rPr>
              <a:t> = 1/(2π√(R</a:t>
            </a:r>
            <a:r>
              <a:rPr sz="1700" b="1" i="0" baseline="-25000">
                <a:solidFill>
                  <a:srgbClr val="4E2A8C"/>
                </a:solidFill>
                <a:latin typeface="Calibri"/>
              </a:rPr>
              <a:t>1</a:t>
            </a:r>
            <a:r>
              <a:rPr sz="1700" b="1" i="0">
                <a:solidFill>
                  <a:srgbClr val="4E2A8C"/>
                </a:solidFill>
                <a:latin typeface="Calibri"/>
              </a:rPr>
              <a:t>R</a:t>
            </a:r>
            <a:r>
              <a:rPr sz="1700" b="1" i="0" baseline="-25000">
                <a:solidFill>
                  <a:srgbClr val="4E2A8C"/>
                </a:solidFill>
                <a:latin typeface="Calibri"/>
              </a:rPr>
              <a:t>2</a:t>
            </a:r>
            <a:r>
              <a:rPr sz="1700" b="1" i="0">
                <a:solidFill>
                  <a:srgbClr val="4E2A8C"/>
                </a:solidFill>
                <a:latin typeface="Calibri"/>
              </a:rPr>
              <a:t>C</a:t>
            </a:r>
            <a:r>
              <a:rPr sz="1700" b="1" i="0" baseline="-25000">
                <a:solidFill>
                  <a:srgbClr val="4E2A8C"/>
                </a:solidFill>
                <a:latin typeface="Calibri"/>
              </a:rPr>
              <a:t>1</a:t>
            </a:r>
            <a:r>
              <a:rPr sz="1700" b="1" i="0">
                <a:solidFill>
                  <a:srgbClr val="4E2A8C"/>
                </a:solidFill>
                <a:latin typeface="Calibri"/>
              </a:rPr>
              <a:t>C</a:t>
            </a:r>
            <a:r>
              <a:rPr sz="1700" b="1" i="0" baseline="-25000">
                <a:solidFill>
                  <a:srgbClr val="4E2A8C"/>
                </a:solidFill>
                <a:latin typeface="Calibri"/>
              </a:rPr>
              <a:t>2</a:t>
            </a:r>
            <a:r>
              <a:rPr sz="1700" b="1" i="0">
                <a:solidFill>
                  <a:srgbClr val="4E2A8C"/>
                </a:solidFill>
                <a:latin typeface="Calibri"/>
              </a:rPr>
              <a:t>)),   Q = ½·√(C</a:t>
            </a:r>
            <a:r>
              <a:rPr sz="1700" b="1" i="0" baseline="-25000">
                <a:solidFill>
                  <a:srgbClr val="4E2A8C"/>
                </a:solidFill>
                <a:latin typeface="Calibri"/>
              </a:rPr>
              <a:t>1</a:t>
            </a:r>
            <a:r>
              <a:rPr sz="1700" b="1" i="0">
                <a:solidFill>
                  <a:srgbClr val="4E2A8C"/>
                </a:solidFill>
                <a:latin typeface="Calibri"/>
              </a:rPr>
              <a:t>/C</a:t>
            </a:r>
            <a:r>
              <a:rPr sz="1700" b="1" i="0" baseline="-25000">
                <a:solidFill>
                  <a:srgbClr val="4E2A8C"/>
                </a:solidFill>
                <a:latin typeface="Calibri"/>
              </a:rPr>
              <a:t>2</a:t>
            </a:r>
            <a:r>
              <a:rPr sz="1700" b="1" i="0">
                <a:solidFill>
                  <a:srgbClr val="4E2A8C"/>
                </a:solidFill>
                <a:latin typeface="Calibri"/>
              </a:rPr>
              <a:t>) for R</a:t>
            </a:r>
            <a:r>
              <a:rPr sz="1700" b="1" i="0" baseline="-25000">
                <a:solidFill>
                  <a:srgbClr val="4E2A8C"/>
                </a:solidFill>
                <a:latin typeface="Calibri"/>
              </a:rPr>
              <a:t>1</a:t>
            </a:r>
            <a:r>
              <a:rPr sz="1700" b="1" i="0">
                <a:solidFill>
                  <a:srgbClr val="4E2A8C"/>
                </a:solidFill>
                <a:latin typeface="Calibri"/>
              </a:rPr>
              <a:t> = R</a:t>
            </a:r>
            <a:r>
              <a:rPr sz="1700" b="1" i="0" baseline="-25000">
                <a:solidFill>
                  <a:srgbClr val="4E2A8C"/>
                </a:solidFill>
                <a:latin typeface="Calibri"/>
              </a:rPr>
              <a:t>2</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SECOND-ORDER FILTERS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Design recipe: Butterworth Sallen-Key</a:t>
            </a:r>
          </a:p>
        </p:txBody>
      </p:sp>
      <p:sp>
        <p:nvSpPr>
          <p:cNvPr id="4" name="Figure panel"/>
          <p:cNvSpPr/>
          <p:nvPr/>
        </p:nvSpPr>
        <p:spPr>
          <a:xfrm>
            <a:off x="6903719" y="1298448"/>
            <a:ext cx="4739335" cy="4846320"/>
          </a:xfrm>
          <a:prstGeom prst="roundRect">
            <a:avLst>
              <a:gd name="adj" fmla="val 2315"/>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unity-gain-sallen-key-low-pass-1.png"/>
          <p:cNvPicPr>
            <a:picLocks noChangeAspect="1"/>
          </p:cNvPicPr>
          <p:nvPr/>
        </p:nvPicPr>
        <p:blipFill>
          <a:blip r:embed="rId2"/>
          <a:stretch>
            <a:fillRect/>
          </a:stretch>
        </p:blipFill>
        <p:spPr>
          <a:xfrm>
            <a:off x="7104888" y="3051578"/>
            <a:ext cx="4336999" cy="1340059"/>
          </a:xfrm>
          <a:prstGeom prst="rect">
            <a:avLst/>
          </a:prstGeom>
        </p:spPr>
      </p:pic>
      <p:sp>
        <p:nvSpPr>
          <p:cNvPr id="6" name="Step 1"/>
          <p:cNvSpPr/>
          <p:nvPr/>
        </p:nvSpPr>
        <p:spPr>
          <a:xfrm>
            <a:off x="548640" y="1344168"/>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44168"/>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1</a:t>
            </a:r>
          </a:p>
        </p:txBody>
      </p:sp>
      <p:sp>
        <p:nvSpPr>
          <p:cNvPr id="8" name="Step text 1"/>
          <p:cNvSpPr txBox="1"/>
          <p:nvPr/>
        </p:nvSpPr>
        <p:spPr>
          <a:xfrm>
            <a:off x="1280160" y="1298448"/>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Choose R</a:t>
            </a:r>
            <a:r>
              <a:rPr sz="2000" b="0" i="0" baseline="-25000">
                <a:solidFill>
                  <a:srgbClr val="23232B"/>
                </a:solidFill>
                <a:latin typeface="Calibri"/>
              </a:rPr>
              <a:t>1</a:t>
            </a:r>
            <a:r>
              <a:rPr sz="2000" b="0" i="0">
                <a:solidFill>
                  <a:srgbClr val="23232B"/>
                </a:solidFill>
                <a:latin typeface="Calibri"/>
              </a:rPr>
              <a:t> = R</a:t>
            </a:r>
            <a:r>
              <a:rPr sz="2000" b="0" i="0" baseline="-25000">
                <a:solidFill>
                  <a:srgbClr val="23232B"/>
                </a:solidFill>
                <a:latin typeface="Calibri"/>
              </a:rPr>
              <a:t>2</a:t>
            </a:r>
            <a:r>
              <a:rPr sz="2000" b="0" i="0">
                <a:solidFill>
                  <a:srgbClr val="23232B"/>
                </a:solidFill>
                <a:latin typeface="Calibri"/>
              </a:rPr>
              <a:t> = R; Q = 0.707 needs C</a:t>
            </a:r>
            <a:r>
              <a:rPr sz="2000" b="0" i="0" baseline="-25000">
                <a:solidFill>
                  <a:srgbClr val="23232B"/>
                </a:solidFill>
                <a:latin typeface="Calibri"/>
              </a:rPr>
              <a:t>1</a:t>
            </a:r>
            <a:r>
              <a:rPr sz="2000" b="0" i="0">
                <a:solidFill>
                  <a:srgbClr val="23232B"/>
                </a:solidFill>
                <a:latin typeface="Calibri"/>
              </a:rPr>
              <a:t> = 2·C</a:t>
            </a:r>
            <a:r>
              <a:rPr sz="2000" b="0" i="0" baseline="-25000">
                <a:solidFill>
                  <a:srgbClr val="23232B"/>
                </a:solidFill>
                <a:latin typeface="Calibri"/>
              </a:rPr>
              <a:t>2</a:t>
            </a:r>
            <a:r>
              <a:rPr sz="2000" b="0" i="0">
                <a:solidFill>
                  <a:srgbClr val="23232B"/>
                </a:solidFill>
                <a:latin typeface="Calibri"/>
              </a:rPr>
              <a:t> (C</a:t>
            </a:r>
            <a:r>
              <a:rPr sz="2000" b="0" i="0" baseline="-25000">
                <a:solidFill>
                  <a:srgbClr val="23232B"/>
                </a:solidFill>
                <a:latin typeface="Calibri"/>
              </a:rPr>
              <a:t>1</a:t>
            </a:r>
            <a:r>
              <a:rPr sz="2000" b="0" i="0">
                <a:solidFill>
                  <a:srgbClr val="23232B"/>
                </a:solidFill>
                <a:latin typeface="Calibri"/>
              </a:rPr>
              <a:t> to the output)</a:t>
            </a:r>
          </a:p>
        </p:txBody>
      </p:sp>
      <p:sp>
        <p:nvSpPr>
          <p:cNvPr id="9" name="Step 2"/>
          <p:cNvSpPr/>
          <p:nvPr/>
        </p:nvSpPr>
        <p:spPr>
          <a:xfrm>
            <a:off x="548640" y="2154936"/>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54936"/>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2</a:t>
            </a:r>
          </a:p>
        </p:txBody>
      </p:sp>
      <p:sp>
        <p:nvSpPr>
          <p:cNvPr id="11" name="Step text 2"/>
          <p:cNvSpPr txBox="1"/>
          <p:nvPr/>
        </p:nvSpPr>
        <p:spPr>
          <a:xfrm>
            <a:off x="1280160" y="2109216"/>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Pick C</a:t>
            </a:r>
            <a:r>
              <a:rPr sz="2000" b="0" i="0" baseline="-25000">
                <a:solidFill>
                  <a:srgbClr val="23232B"/>
                </a:solidFill>
                <a:latin typeface="Calibri"/>
              </a:rPr>
              <a:t>2</a:t>
            </a:r>
            <a:r>
              <a:rPr sz="2000" b="0" i="0">
                <a:solidFill>
                  <a:srgbClr val="23232B"/>
                </a:solidFill>
                <a:latin typeface="Calibri"/>
              </a:rPr>
              <a:t> from E6, C</a:t>
            </a:r>
            <a:r>
              <a:rPr sz="2000" b="0" i="0" baseline="-25000">
                <a:solidFill>
                  <a:srgbClr val="23232B"/>
                </a:solidFill>
                <a:latin typeface="Calibri"/>
              </a:rPr>
              <a:t>1</a:t>
            </a:r>
            <a:r>
              <a:rPr sz="2000" b="0" i="0">
                <a:solidFill>
                  <a:srgbClr val="23232B"/>
                </a:solidFill>
                <a:latin typeface="Calibri"/>
              </a:rPr>
              <a:t> ≈ 2·C</a:t>
            </a:r>
            <a:r>
              <a:rPr sz="2000" b="0" i="0" baseline="-25000">
                <a:solidFill>
                  <a:srgbClr val="23232B"/>
                </a:solidFill>
                <a:latin typeface="Calibri"/>
              </a:rPr>
              <a:t>2</a:t>
            </a:r>
            <a:r>
              <a:rPr sz="2000" b="0" i="0">
                <a:solidFill>
                  <a:srgbClr val="23232B"/>
                </a:solidFill>
                <a:latin typeface="Calibri"/>
              </a:rPr>
              <a:t> (e.g. 10 nF and 22 nF: Q = 0.74)</a:t>
            </a:r>
          </a:p>
        </p:txBody>
      </p:sp>
      <p:sp>
        <p:nvSpPr>
          <p:cNvPr id="12" name="Step 3"/>
          <p:cNvSpPr/>
          <p:nvPr/>
        </p:nvSpPr>
        <p:spPr>
          <a:xfrm>
            <a:off x="548640" y="2965704"/>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65704"/>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3</a:t>
            </a:r>
          </a:p>
        </p:txBody>
      </p:sp>
      <p:sp>
        <p:nvSpPr>
          <p:cNvPr id="14" name="Step text 3"/>
          <p:cNvSpPr txBox="1"/>
          <p:nvPr/>
        </p:nvSpPr>
        <p:spPr>
          <a:xfrm>
            <a:off x="1280160" y="3051048"/>
            <a:ext cx="5166359"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Calculate R = 1/(2πf</a:t>
            </a:r>
            <a:r>
              <a:rPr sz="2000" b="0" i="0" baseline="-25000">
                <a:solidFill>
                  <a:srgbClr val="23232B"/>
                </a:solidFill>
                <a:latin typeface="Calibri"/>
              </a:rPr>
              <a:t>0</a:t>
            </a:r>
            <a:r>
              <a:rPr sz="2000" b="0" i="0">
                <a:solidFill>
                  <a:srgbClr val="23232B"/>
                </a:solidFill>
                <a:latin typeface="Calibri"/>
              </a:rPr>
              <a:t>√(C</a:t>
            </a:r>
            <a:r>
              <a:rPr sz="2000" b="0" i="0" baseline="-25000">
                <a:solidFill>
                  <a:srgbClr val="23232B"/>
                </a:solidFill>
                <a:latin typeface="Calibri"/>
              </a:rPr>
              <a:t>1</a:t>
            </a:r>
            <a:r>
              <a:rPr sz="2000" b="0" i="0">
                <a:solidFill>
                  <a:srgbClr val="23232B"/>
                </a:solidFill>
                <a:latin typeface="Calibri"/>
              </a:rPr>
              <a:t>C</a:t>
            </a:r>
            <a:r>
              <a:rPr sz="2000" b="0" i="0" baseline="-25000">
                <a:solidFill>
                  <a:srgbClr val="23232B"/>
                </a:solidFill>
                <a:latin typeface="Calibri"/>
              </a:rPr>
              <a:t>2</a:t>
            </a:r>
            <a:r>
              <a:rPr sz="2000" b="0" i="0">
                <a:solidFill>
                  <a:srgbClr val="23232B"/>
                </a:solidFill>
                <a:latin typeface="Calibri"/>
              </a:rPr>
              <a:t>)), round to E24 or E96</a:t>
            </a:r>
          </a:p>
        </p:txBody>
      </p:sp>
      <p:sp>
        <p:nvSpPr>
          <p:cNvPr id="15" name="Step 4"/>
          <p:cNvSpPr/>
          <p:nvPr/>
        </p:nvSpPr>
        <p:spPr>
          <a:xfrm>
            <a:off x="548640" y="3733799"/>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733799"/>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4</a:t>
            </a:r>
          </a:p>
        </p:txBody>
      </p:sp>
      <p:sp>
        <p:nvSpPr>
          <p:cNvPr id="17" name="Step text 4"/>
          <p:cNvSpPr txBox="1"/>
          <p:nvPr/>
        </p:nvSpPr>
        <p:spPr>
          <a:xfrm>
            <a:off x="1280160" y="3688080"/>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Check f</a:t>
            </a:r>
            <a:r>
              <a:rPr sz="2000" b="0" i="0" baseline="-25000">
                <a:solidFill>
                  <a:srgbClr val="23232B"/>
                </a:solidFill>
                <a:latin typeface="Calibri"/>
              </a:rPr>
              <a:t>0</a:t>
            </a:r>
            <a:r>
              <a:rPr sz="2000" b="0" i="0">
                <a:solidFill>
                  <a:srgbClr val="23232B"/>
                </a:solidFill>
                <a:latin typeface="Calibri"/>
              </a:rPr>
              <a:t> and Q with rounded values; use film or C0G capacitors</a:t>
            </a:r>
          </a:p>
        </p:txBody>
      </p:sp>
      <p:pic>
        <p:nvPicPr>
          <p:cNvPr id="18"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9"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20"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SECOND-ORDER FILTERS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first vs. second order</a:t>
            </a:r>
          </a:p>
        </p:txBody>
      </p:sp>
      <p:sp>
        <p:nvSpPr>
          <p:cNvPr id="4" name="Label"/>
          <p:cNvSpPr txBox="1"/>
          <p:nvPr/>
        </p:nvSpPr>
        <p:spPr>
          <a:xfrm>
            <a:off x="548640" y="1298448"/>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5" name="Falstad filter_sallen_key">
            <a:hlinkClick r:id="rId2"/>
          </p:cNvPr>
          <p:cNvSpPr/>
          <p:nvPr/>
        </p:nvSpPr>
        <p:spPr>
          <a:xfrm>
            <a:off x="548640" y="17099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a:off x="694944"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rot="5400000">
            <a:off x="832103"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lstad link filter_sallen_key">
            <a:hlinkClick r:id="rId2"/>
          </p:cNvPr>
          <p:cNvSpPr txBox="1"/>
          <p:nvPr/>
        </p:nvSpPr>
        <p:spPr>
          <a:xfrm>
            <a:off x="1234440" y="1819655"/>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filters/filter_sallen_key</a:t>
            </a:r>
          </a:p>
        </p:txBody>
      </p:sp>
      <p:sp>
        <p:nvSpPr>
          <p:cNvPr id="9" name="Falstad hint"/>
          <p:cNvSpPr txBox="1"/>
          <p:nvPr/>
        </p:nvSpPr>
        <p:spPr>
          <a:xfrm>
            <a:off x="1234440" y="20939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At 10 kHz: RC passes 99 mV, Sallen-Key only 10 mV</a:t>
            </a:r>
          </a:p>
        </p:txBody>
      </p:sp>
      <p:sp>
        <p:nvSpPr>
          <p:cNvPr id="10" name="Label"/>
          <p:cNvSpPr txBox="1"/>
          <p:nvPr/>
        </p:nvSpPr>
        <p:spPr>
          <a:xfrm>
            <a:off x="548640" y="2785872"/>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1" name="Observe"/>
          <p:cNvSpPr txBox="1"/>
          <p:nvPr/>
        </p:nvSpPr>
        <p:spPr>
          <a:xfrm>
            <a:off x="548640" y="3197352"/>
            <a:ext cx="1109441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Near the corner (1 kHz) both are similar: 0.705 V vs. 0.744 V</a:t>
            </a:r>
          </a:p>
          <a:p>
            <a:pPr algn="l" marL="274320" indent="-274320">
              <a:lnSpc>
                <a:spcPct val="100000"/>
              </a:lnSpc>
              <a:spcAft>
                <a:spcPts val="1000"/>
              </a:spcAft>
              <a:buClr>
                <a:srgbClr val="00A9CE"/>
              </a:buClr>
              <a:buFont typeface="Arial"/>
              <a:buChar char="•"/>
            </a:pPr>
            <a:r>
              <a:rPr sz="1800" b="0" i="0">
                <a:solidFill>
                  <a:srgbClr val="23232B"/>
                </a:solidFill>
                <a:latin typeface="Calibri"/>
              </a:rPr>
              <a:t>One decade above: −20 dB vs. −40 dB</a:t>
            </a:r>
          </a:p>
          <a:p>
            <a:pPr algn="l" marL="274320" indent="-274320">
              <a:lnSpc>
                <a:spcPct val="100000"/>
              </a:lnSpc>
              <a:spcAft>
                <a:spcPts val="1000"/>
              </a:spcAft>
              <a:buClr>
                <a:srgbClr val="00A9CE"/>
              </a:buClr>
              <a:buFont typeface="Arial"/>
              <a:buChar char="•"/>
            </a:pPr>
            <a:r>
              <a:rPr sz="1800" b="0" i="0">
                <a:solidFill>
                  <a:srgbClr val="23232B"/>
                </a:solidFill>
                <a:latin typeface="Calibri"/>
              </a:rPr>
              <a:t>Change C</a:t>
            </a:r>
            <a:r>
              <a:rPr sz="1800" b="0" i="0" baseline="-25000">
                <a:solidFill>
                  <a:srgbClr val="23232B"/>
                </a:solidFill>
                <a:latin typeface="Calibri"/>
              </a:rPr>
              <a:t>1</a:t>
            </a:r>
            <a:r>
              <a:rPr sz="1800" b="0" i="0">
                <a:solidFill>
                  <a:srgbClr val="23232B"/>
                </a:solidFill>
                <a:latin typeface="Calibri"/>
              </a:rPr>
              <a:t> to raise Q and watch the peaking</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ANTI-ALIASING FILTER OF THE CAPSTONE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Why filter before sampling?</a:t>
            </a:r>
          </a:p>
        </p:txBody>
      </p:sp>
      <p:sp>
        <p:nvSpPr>
          <p:cNvPr id="4" name="Bullets"/>
          <p:cNvSpPr txBox="1"/>
          <p:nvPr/>
        </p:nvSpPr>
        <p:spPr>
          <a:xfrm>
            <a:off x="548640" y="1298448"/>
            <a:ext cx="11094415" cy="20777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Only frequencies below f</a:t>
            </a:r>
            <a:r>
              <a:rPr sz="2000" b="0" i="0" baseline="-25000">
                <a:solidFill>
                  <a:srgbClr val="23232B"/>
                </a:solidFill>
                <a:latin typeface="Calibri"/>
              </a:rPr>
              <a:t>s</a:t>
            </a:r>
            <a:r>
              <a:rPr sz="2000" b="0" i="0">
                <a:solidFill>
                  <a:srgbClr val="23232B"/>
                </a:solidFill>
                <a:latin typeface="Calibri"/>
              </a:rPr>
              <a:t>/2 are reproduced correctly</a:t>
            </a:r>
          </a:p>
          <a:p>
            <a:pPr algn="l" marL="274320" indent="-274320">
              <a:lnSpc>
                <a:spcPct val="100000"/>
              </a:lnSpc>
              <a:spcAft>
                <a:spcPts val="1000"/>
              </a:spcAft>
              <a:buClr>
                <a:srgbClr val="00A9CE"/>
              </a:buClr>
              <a:buFont typeface="Arial"/>
              <a:buChar char="•"/>
            </a:pPr>
            <a:r>
              <a:rPr sz="2000" b="0" i="0">
                <a:solidFill>
                  <a:srgbClr val="23232B"/>
                </a:solidFill>
                <a:latin typeface="Calibri"/>
              </a:rPr>
              <a:t>Capstone: f</a:t>
            </a:r>
            <a:r>
              <a:rPr sz="2000" b="0" i="0" baseline="-25000">
                <a:solidFill>
                  <a:srgbClr val="23232B"/>
                </a:solidFill>
                <a:latin typeface="Calibri"/>
              </a:rPr>
              <a:t>s</a:t>
            </a:r>
            <a:r>
              <a:rPr sz="2000" b="0" i="0">
                <a:solidFill>
                  <a:srgbClr val="23232B"/>
                </a:solidFill>
                <a:latin typeface="Calibri"/>
              </a:rPr>
              <a:t> = 5 Hz → f</a:t>
            </a:r>
            <a:r>
              <a:rPr sz="2000" b="0" i="0" baseline="-25000">
                <a:solidFill>
                  <a:srgbClr val="23232B"/>
                </a:solidFill>
                <a:latin typeface="Calibri"/>
              </a:rPr>
              <a:t>c</a:t>
            </a:r>
            <a:r>
              <a:rPr sz="2000" b="0" i="0">
                <a:solidFill>
                  <a:srgbClr val="23232B"/>
                </a:solidFill>
                <a:latin typeface="Calibri"/>
              </a:rPr>
              <a:t> ≤ 2.5 Hz (2.34 Hz chosen)</a:t>
            </a:r>
          </a:p>
          <a:p>
            <a:pPr algn="l" marL="274320" indent="-274320">
              <a:lnSpc>
                <a:spcPct val="100000"/>
              </a:lnSpc>
              <a:spcAft>
                <a:spcPts val="1000"/>
              </a:spcAft>
              <a:buClr>
                <a:srgbClr val="00A9CE"/>
              </a:buClr>
              <a:buFont typeface="Arial"/>
              <a:buChar char="•"/>
            </a:pPr>
            <a:r>
              <a:rPr sz="2000" b="0" i="0">
                <a:solidFill>
                  <a:srgbClr val="23232B"/>
                </a:solidFill>
                <a:latin typeface="Calibri"/>
              </a:rPr>
              <a:t>Above f</a:t>
            </a:r>
            <a:r>
              <a:rPr sz="2000" b="0" i="0" baseline="-25000">
                <a:solidFill>
                  <a:srgbClr val="23232B"/>
                </a:solidFill>
                <a:latin typeface="Calibri"/>
              </a:rPr>
              <a:t>s</a:t>
            </a:r>
            <a:r>
              <a:rPr sz="2000" b="0" i="0">
                <a:solidFill>
                  <a:srgbClr val="23232B"/>
                </a:solidFill>
                <a:latin typeface="Calibri"/>
              </a:rPr>
              <a:t>/2 a component reappears at a wrong low frequency (aliasing)</a:t>
            </a:r>
          </a:p>
          <a:p>
            <a:pPr algn="l" marL="274320" indent="-274320">
              <a:lnSpc>
                <a:spcPct val="100000"/>
              </a:lnSpc>
              <a:spcAft>
                <a:spcPts val="1000"/>
              </a:spcAft>
              <a:buClr>
                <a:srgbClr val="00A9CE"/>
              </a:buClr>
              <a:buFont typeface="Arial"/>
              <a:buChar char="•"/>
            </a:pPr>
            <a:r>
              <a:rPr sz="2000" b="0" i="0">
                <a:solidFill>
                  <a:srgbClr val="23232B"/>
                </a:solidFill>
                <a:latin typeface="Calibri"/>
              </a:rPr>
              <a:t>50 Hz hum: 4.9 mV at the bridge × 107.6 = 0.52 V at the INA output</a:t>
            </a:r>
          </a:p>
          <a:p>
            <a:pPr algn="l" marL="274320" indent="-274320">
              <a:lnSpc>
                <a:spcPct val="100000"/>
              </a:lnSpc>
              <a:spcAft>
                <a:spcPts val="1000"/>
              </a:spcAft>
              <a:buClr>
                <a:srgbClr val="00A9CE"/>
              </a:buClr>
              <a:buFont typeface="Arial"/>
              <a:buChar char="•"/>
            </a:pPr>
            <a:r>
              <a:rPr sz="2000" b="0" i="0">
                <a:solidFill>
                  <a:srgbClr val="23232B"/>
                </a:solidFill>
                <a:latin typeface="Calibri"/>
              </a:rPr>
              <a:t>After sampling nothing separates alias from signal: filter first</a:t>
            </a:r>
          </a:p>
        </p:txBody>
      </p:sp>
      <p:sp>
        <p:nvSpPr>
          <p:cNvPr id="5" name="Key rule"/>
          <p:cNvSpPr/>
          <p:nvPr/>
        </p:nvSpPr>
        <p:spPr>
          <a:xfrm>
            <a:off x="548640" y="3696207"/>
            <a:ext cx="11094415"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ey rule label"/>
          <p:cNvSpPr txBox="1"/>
          <p:nvPr/>
        </p:nvSpPr>
        <p:spPr>
          <a:xfrm>
            <a:off x="777240" y="3805935"/>
            <a:ext cx="10637215"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7" name="Key rule text"/>
          <p:cNvSpPr txBox="1"/>
          <p:nvPr/>
        </p:nvSpPr>
        <p:spPr>
          <a:xfrm>
            <a:off x="777240" y="4080255"/>
            <a:ext cx="10637215"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f</a:t>
            </a:r>
            <a:r>
              <a:rPr sz="1700" b="1" i="0" baseline="-25000">
                <a:solidFill>
                  <a:srgbClr val="4E2A8C"/>
                </a:solidFill>
                <a:latin typeface="Calibri"/>
              </a:rPr>
              <a:t>c</a:t>
            </a:r>
            <a:r>
              <a:rPr sz="1700" b="1" i="0">
                <a:solidFill>
                  <a:srgbClr val="4E2A8C"/>
                </a:solidFill>
                <a:latin typeface="Calibri"/>
              </a:rPr>
              <a:t> ≤ f</a:t>
            </a:r>
            <a:r>
              <a:rPr sz="1700" b="1" i="0" baseline="-25000">
                <a:solidFill>
                  <a:srgbClr val="4E2A8C"/>
                </a:solidFill>
                <a:latin typeface="Calibri"/>
              </a:rPr>
              <a:t>s</a:t>
            </a:r>
            <a:r>
              <a:rPr sz="1700" b="1" i="0">
                <a:solidFill>
                  <a:srgbClr val="4E2A8C"/>
                </a:solidFill>
                <a:latin typeface="Calibri"/>
              </a:rPr>
              <a:t>/2, filter before the S&amp;H</a:t>
            </a:r>
          </a:p>
        </p:txBody>
      </p:sp>
      <p:pic>
        <p:nvPicPr>
          <p:cNvPr id="8"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9"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10"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ANTI-ALIASING FILTER OF THE CAPSTONE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Capstone filter: 1st vs. 2nd order</a:t>
            </a:r>
          </a:p>
        </p:txBody>
      </p:sp>
      <p:sp>
        <p:nvSpPr>
          <p:cNvPr id="4" name="Figure panel"/>
          <p:cNvSpPr/>
          <p:nvPr/>
        </p:nvSpPr>
        <p:spPr>
          <a:xfrm>
            <a:off x="6903719" y="1298448"/>
            <a:ext cx="4739335" cy="4846320"/>
          </a:xfrm>
          <a:prstGeom prst="roundRect">
            <a:avLst>
              <a:gd name="adj" fmla="val 2315"/>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first-order-anti-aliasing-filter-with-e--1.png"/>
          <p:cNvPicPr>
            <a:picLocks noChangeAspect="1"/>
          </p:cNvPicPr>
          <p:nvPr/>
        </p:nvPicPr>
        <p:blipFill>
          <a:blip r:embed="rId2"/>
          <a:stretch>
            <a:fillRect/>
          </a:stretch>
        </p:blipFill>
        <p:spPr>
          <a:xfrm>
            <a:off x="7086599" y="1524130"/>
            <a:ext cx="4373575" cy="1971794"/>
          </a:xfrm>
          <a:prstGeom prst="rect">
            <a:avLst/>
          </a:prstGeom>
        </p:spPr>
      </p:pic>
      <p:pic>
        <p:nvPicPr>
          <p:cNvPr id="6" name="Circuit figure" descr="second-order-version-sallen-key-1.png"/>
          <p:cNvPicPr>
            <a:picLocks noChangeAspect="1"/>
          </p:cNvPicPr>
          <p:nvPr/>
        </p:nvPicPr>
        <p:blipFill>
          <a:blip r:embed="rId3"/>
          <a:stretch>
            <a:fillRect/>
          </a:stretch>
        </p:blipFill>
        <p:spPr>
          <a:xfrm>
            <a:off x="7242140" y="3904488"/>
            <a:ext cx="4062493" cy="2057400"/>
          </a:xfrm>
          <a:prstGeom prst="rect">
            <a:avLst/>
          </a:prstGeom>
        </p:spPr>
      </p:pic>
      <p:sp>
        <p:nvSpPr>
          <p:cNvPr id="7" name="Compare card"/>
          <p:cNvSpPr/>
          <p:nvPr/>
        </p:nvSpPr>
        <p:spPr>
          <a:xfrm>
            <a:off x="548640" y="1298448"/>
            <a:ext cx="6035040" cy="2286000"/>
          </a:xfrm>
          <a:prstGeom prst="roundRect">
            <a:avLst>
              <a:gd name="adj" fmla="val 5600"/>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868680" y="1572768"/>
            <a:ext cx="5394959"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6638B6"/>
                </a:solidFill>
                <a:latin typeface="Calibri"/>
              </a:rPr>
              <a:t>1st order + follower</a:t>
            </a:r>
          </a:p>
        </p:txBody>
      </p:sp>
      <p:sp>
        <p:nvSpPr>
          <p:cNvPr id="9" name="Card bullets"/>
          <p:cNvSpPr txBox="1"/>
          <p:nvPr/>
        </p:nvSpPr>
        <p:spPr>
          <a:xfrm>
            <a:off x="868680" y="2167128"/>
            <a:ext cx="5394959" cy="123444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6.8 kΩ, 10 µF: f</a:t>
            </a:r>
            <a:r>
              <a:rPr sz="2000" b="0" i="0" baseline="-25000">
                <a:solidFill>
                  <a:srgbClr val="23232B"/>
                </a:solidFill>
                <a:latin typeface="Calibri"/>
              </a:rPr>
              <a:t>c</a:t>
            </a:r>
            <a:r>
              <a:rPr sz="2000" b="0" i="0">
                <a:solidFill>
                  <a:srgbClr val="23232B"/>
                </a:solidFill>
                <a:latin typeface="Calibri"/>
              </a:rPr>
              <a:t> = 2.34 Hz</a:t>
            </a:r>
          </a:p>
          <a:p>
            <a:pPr algn="l" marL="274320" indent="-274320">
              <a:lnSpc>
                <a:spcPct val="100000"/>
              </a:lnSpc>
              <a:spcAft>
                <a:spcPts val="1000"/>
              </a:spcAft>
              <a:buClr>
                <a:srgbClr val="00A9CE"/>
              </a:buClr>
              <a:buFont typeface="Arial"/>
              <a:buChar char="•"/>
            </a:pPr>
            <a:r>
              <a:rPr sz="2000" b="0" i="0">
                <a:solidFill>
                  <a:srgbClr val="23232B"/>
                </a:solidFill>
                <a:latin typeface="Calibri"/>
              </a:rPr>
              <a:t>−26.6 dB at 50 Hz: 25 mV ≈ 0.05 LSB</a:t>
            </a:r>
          </a:p>
          <a:p>
            <a:pPr algn="l" marL="274320" indent="-274320">
              <a:lnSpc>
                <a:spcPct val="100000"/>
              </a:lnSpc>
              <a:spcAft>
                <a:spcPts val="1000"/>
              </a:spcAft>
              <a:buClr>
                <a:srgbClr val="00A9CE"/>
              </a:buClr>
              <a:buFont typeface="Arial"/>
              <a:buChar char="•"/>
            </a:pPr>
            <a:r>
              <a:rPr sz="2000" b="0" i="0">
                <a:solidFill>
                  <a:srgbClr val="23232B"/>
                </a:solidFill>
                <a:latin typeface="Calibri"/>
              </a:rPr>
              <a:t>Sufficient for the 3-bit ADC</a:t>
            </a:r>
          </a:p>
        </p:txBody>
      </p:sp>
      <p:sp>
        <p:nvSpPr>
          <p:cNvPr id="10" name="Compare card"/>
          <p:cNvSpPr/>
          <p:nvPr/>
        </p:nvSpPr>
        <p:spPr>
          <a:xfrm>
            <a:off x="548640" y="3858768"/>
            <a:ext cx="6035040" cy="2286000"/>
          </a:xfrm>
          <a:prstGeom prst="roundRect">
            <a:avLst>
              <a:gd name="adj" fmla="val 5600"/>
            </a:avLst>
          </a:prstGeom>
          <a:solidFill>
            <a:srgbClr val="E5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head"/>
          <p:cNvSpPr txBox="1"/>
          <p:nvPr/>
        </p:nvSpPr>
        <p:spPr>
          <a:xfrm>
            <a:off x="868680" y="4133087"/>
            <a:ext cx="5394959"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007F9B"/>
                </a:solidFill>
                <a:latin typeface="Calibri"/>
              </a:rPr>
              <a:t>Sallen-Key</a:t>
            </a:r>
          </a:p>
        </p:txBody>
      </p:sp>
      <p:sp>
        <p:nvSpPr>
          <p:cNvPr id="12" name="Card bullets"/>
          <p:cNvSpPr txBox="1"/>
          <p:nvPr/>
        </p:nvSpPr>
        <p:spPr>
          <a:xfrm>
            <a:off x="868680" y="4727448"/>
            <a:ext cx="5394959" cy="123444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91 kΩ, 91 kΩ, 1 µF, 470 nF: f</a:t>
            </a:r>
            <a:r>
              <a:rPr sz="2000" b="0" i="0" baseline="-25000">
                <a:solidFill>
                  <a:srgbClr val="23232B"/>
                </a:solidFill>
                <a:latin typeface="Calibri"/>
              </a:rPr>
              <a:t>0</a:t>
            </a:r>
            <a:r>
              <a:rPr sz="2000" b="0" i="0">
                <a:solidFill>
                  <a:srgbClr val="23232B"/>
                </a:solidFill>
                <a:latin typeface="Calibri"/>
              </a:rPr>
              <a:t> = 2.55 Hz</a:t>
            </a:r>
          </a:p>
          <a:p>
            <a:pPr algn="l" marL="274320" indent="-274320">
              <a:lnSpc>
                <a:spcPct val="100000"/>
              </a:lnSpc>
              <a:spcAft>
                <a:spcPts val="1000"/>
              </a:spcAft>
              <a:buClr>
                <a:srgbClr val="00A9CE"/>
              </a:buClr>
              <a:buFont typeface="Arial"/>
              <a:buChar char="•"/>
            </a:pPr>
            <a:r>
              <a:rPr sz="2000" b="0" i="0">
                <a:solidFill>
                  <a:srgbClr val="23232B"/>
                </a:solidFill>
                <a:latin typeface="Calibri"/>
              </a:rPr>
              <a:t>−52 dB at 50 Hz: 1.4 mV ≈ 0.003 LSB</a:t>
            </a:r>
          </a:p>
          <a:p>
            <a:pPr algn="l" marL="274320" indent="-274320">
              <a:lnSpc>
                <a:spcPct val="100000"/>
              </a:lnSpc>
              <a:spcAft>
                <a:spcPts val="1000"/>
              </a:spcAft>
              <a:buClr>
                <a:srgbClr val="00A9CE"/>
              </a:buClr>
              <a:buFont typeface="Arial"/>
              <a:buChar char="•"/>
            </a:pPr>
            <a:r>
              <a:rPr sz="2000" b="0" i="0">
                <a:solidFill>
                  <a:srgbClr val="23232B"/>
                </a:solidFill>
                <a:latin typeface="Calibri"/>
              </a:rPr>
              <a:t>Margin for a higher-resolution ADC</a:t>
            </a:r>
          </a:p>
        </p:txBody>
      </p:sp>
      <p:pic>
        <p:nvPicPr>
          <p:cNvPr id="13"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4"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ANTI-ALIASING FILTER OF THE CAPSTONE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anti-aliasing filters</a:t>
            </a:r>
          </a:p>
        </p:txBody>
      </p:sp>
      <p:sp>
        <p:nvSpPr>
          <p:cNvPr id="4" name="Label"/>
          <p:cNvSpPr txBox="1"/>
          <p:nvPr/>
        </p:nvSpPr>
        <p:spPr>
          <a:xfrm>
            <a:off x="548640" y="1298448"/>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5" name="Falstad filter_antialias">
            <a:hlinkClick r:id="rId2"/>
          </p:cNvPr>
          <p:cNvSpPr/>
          <p:nvPr/>
        </p:nvSpPr>
        <p:spPr>
          <a:xfrm>
            <a:off x="548640" y="17099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a:off x="694944"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rot="5400000">
            <a:off x="832103"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lstad link filter_antialias">
            <a:hlinkClick r:id="rId2"/>
          </p:cNvPr>
          <p:cNvSpPr txBox="1"/>
          <p:nvPr/>
        </p:nvSpPr>
        <p:spPr>
          <a:xfrm>
            <a:off x="1234440" y="1819655"/>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filters/filter_antialias</a:t>
            </a:r>
          </a:p>
        </p:txBody>
      </p:sp>
      <p:sp>
        <p:nvSpPr>
          <p:cNvPr id="9" name="Falstad hint"/>
          <p:cNvSpPr txBox="1"/>
          <p:nvPr/>
        </p:nvSpPr>
        <p:spPr>
          <a:xfrm>
            <a:off x="1234440" y="20939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2 V DC + 0.52 V at 50 Hz: compare the 50 Hz residue of both</a:t>
            </a:r>
          </a:p>
        </p:txBody>
      </p:sp>
      <p:sp>
        <p:nvSpPr>
          <p:cNvPr id="10" name="Label"/>
          <p:cNvSpPr txBox="1"/>
          <p:nvPr/>
        </p:nvSpPr>
        <p:spPr>
          <a:xfrm>
            <a:off x="548640" y="2785872"/>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1" name="Observe"/>
          <p:cNvSpPr txBox="1"/>
          <p:nvPr/>
        </p:nvSpPr>
        <p:spPr>
          <a:xfrm>
            <a:off x="548640" y="3197352"/>
            <a:ext cx="1109441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Both outputs settle to 2.00 V in about 0.3 s</a:t>
            </a:r>
          </a:p>
          <a:p>
            <a:pPr algn="l" marL="274320" indent="-274320">
              <a:lnSpc>
                <a:spcPct val="100000"/>
              </a:lnSpc>
              <a:spcAft>
                <a:spcPts val="1000"/>
              </a:spcAft>
              <a:buClr>
                <a:srgbClr val="00A9CE"/>
              </a:buClr>
              <a:buFont typeface="Arial"/>
              <a:buChar char="•"/>
            </a:pPr>
            <a:r>
              <a:rPr sz="1800" b="0" i="0">
                <a:solidFill>
                  <a:srgbClr val="23232B"/>
                </a:solidFill>
                <a:latin typeface="Calibri"/>
              </a:rPr>
              <a:t>Residual 50 Hz: 25 mV (1st order), 1.4 mV (Sallen-Key)</a:t>
            </a:r>
          </a:p>
          <a:p>
            <a:pPr algn="l" marL="274320" indent="-274320">
              <a:lnSpc>
                <a:spcPct val="100000"/>
              </a:lnSpc>
              <a:spcAft>
                <a:spcPts val="1000"/>
              </a:spcAft>
              <a:buClr>
                <a:srgbClr val="00A9CE"/>
              </a:buClr>
              <a:buFont typeface="Arial"/>
              <a:buChar char="•"/>
            </a:pPr>
            <a:r>
              <a:rPr sz="1800" b="0" i="0">
                <a:solidFill>
                  <a:srgbClr val="23232B"/>
                </a:solidFill>
                <a:latin typeface="Calibri"/>
              </a:rPr>
              <a:t>Settling time stays short against the 200 ms sample period</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ANTI-ALIASING FILTER OF THE CAPSTONE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Twin-T notch at 50 Hz</a:t>
            </a:r>
          </a:p>
        </p:txBody>
      </p:sp>
      <p:sp>
        <p:nvSpPr>
          <p:cNvPr id="4" name="Falstad filter_twin_t">
            <a:hlinkClick r:id="rId2"/>
          </p:cNvPr>
          <p:cNvSpPr/>
          <p:nvPr/>
        </p:nvSpPr>
        <p:spPr>
          <a:xfrm>
            <a:off x="548640" y="5434584"/>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lstad link filter_twin_t">
            <a:hlinkClick r:id="rId2"/>
          </p:cNvPr>
          <p:cNvSpPr txBox="1"/>
          <p:nvPr/>
        </p:nvSpPr>
        <p:spPr>
          <a:xfrm>
            <a:off x="1234440" y="5544312"/>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filters/filter_twin_t</a:t>
            </a:r>
          </a:p>
        </p:txBody>
      </p:sp>
      <p:sp>
        <p:nvSpPr>
          <p:cNvPr id="8" name="Falstad hint"/>
          <p:cNvSpPr txBox="1"/>
          <p:nvPr/>
        </p:nvSpPr>
        <p:spPr>
          <a:xfrm>
            <a:off x="1234440" y="5818632"/>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Compare Vout_5Hz and Vout_50Hz; detune one C and watch 50 Hz return</a:t>
            </a:r>
          </a:p>
        </p:txBody>
      </p:sp>
      <p:sp>
        <p:nvSpPr>
          <p:cNvPr id="9" name="Bullets"/>
          <p:cNvSpPr txBox="1"/>
          <p:nvPr/>
        </p:nvSpPr>
        <p:spPr>
          <a:xfrm>
            <a:off x="548640" y="1298448"/>
            <a:ext cx="11094415" cy="3861815"/>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Zero transmission at f</a:t>
            </a:r>
            <a:r>
              <a:rPr sz="2000" b="0" i="0" baseline="-25000">
                <a:solidFill>
                  <a:srgbClr val="23232B"/>
                </a:solidFill>
                <a:latin typeface="Calibri"/>
              </a:rPr>
              <a:t>0</a:t>
            </a:r>
            <a:r>
              <a:rPr sz="2000" b="0" i="0">
                <a:solidFill>
                  <a:srgbClr val="23232B"/>
                </a:solidFill>
                <a:latin typeface="Calibri"/>
              </a:rPr>
              <a:t> = 1/(2πRC): 31.8 kΩ, 100 nF → 50 Hz</a:t>
            </a:r>
          </a:p>
          <a:p>
            <a:pPr algn="l" marL="274320" indent="-274320">
              <a:lnSpc>
                <a:spcPct val="100000"/>
              </a:lnSpc>
              <a:spcAft>
                <a:spcPts val="1000"/>
              </a:spcAft>
              <a:buClr>
                <a:srgbClr val="00A9CE"/>
              </a:buClr>
              <a:buFont typeface="Arial"/>
              <a:buChar char="•"/>
            </a:pPr>
            <a:r>
              <a:rPr sz="2000" b="0" i="0">
                <a:solidFill>
                  <a:srgbClr val="23232B"/>
                </a:solidFill>
                <a:latin typeface="Calibri"/>
              </a:rPr>
              <a:t>Removes 50 Hz almost completely (1 V → 0.45 mV)</a:t>
            </a:r>
          </a:p>
          <a:p>
            <a:pPr algn="l" marL="274320" indent="-274320">
              <a:lnSpc>
                <a:spcPct val="100000"/>
              </a:lnSpc>
              <a:spcAft>
                <a:spcPts val="1000"/>
              </a:spcAft>
              <a:buClr>
                <a:srgbClr val="00A9CE"/>
              </a:buClr>
              <a:buFont typeface="Arial"/>
              <a:buChar char="•"/>
            </a:pPr>
            <a:r>
              <a:rPr sz="2000" b="0" i="0">
                <a:solidFill>
                  <a:srgbClr val="23232B"/>
                </a:solidFill>
                <a:latin typeface="Calibri"/>
              </a:rPr>
              <a:t>Also attenuates 5 Hz (0.927), needs precise parts</a:t>
            </a:r>
          </a:p>
          <a:p>
            <a:pPr algn="l" marL="274320" indent="-274320">
              <a:lnSpc>
                <a:spcPct val="100000"/>
              </a:lnSpc>
              <a:spcAft>
                <a:spcPts val="1000"/>
              </a:spcAft>
              <a:buClr>
                <a:srgbClr val="00A9CE"/>
              </a:buClr>
              <a:buFont typeface="Arial"/>
              <a:buChar char="•"/>
            </a:pPr>
            <a:r>
              <a:rPr sz="2000" b="0" i="0">
                <a:solidFill>
                  <a:srgbClr val="23232B"/>
                </a:solidFill>
                <a:latin typeface="Calibri"/>
              </a:rPr>
              <a:t>Removes one frequency only: no replacement for the low-pass</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ANTI-ALIASING FILTER OF THE CAPSTONE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Design recipe: anti-aliasing low-pass</a:t>
            </a:r>
          </a:p>
        </p:txBody>
      </p:sp>
      <p:sp>
        <p:nvSpPr>
          <p:cNvPr id="4" name="Step 1"/>
          <p:cNvSpPr/>
          <p:nvPr/>
        </p:nvSpPr>
        <p:spPr>
          <a:xfrm>
            <a:off x="548640" y="1344168"/>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44168"/>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1</a:t>
            </a:r>
          </a:p>
        </p:txBody>
      </p:sp>
      <p:sp>
        <p:nvSpPr>
          <p:cNvPr id="6" name="Step text 1"/>
          <p:cNvSpPr txBox="1"/>
          <p:nvPr/>
        </p:nvSpPr>
        <p:spPr>
          <a:xfrm>
            <a:off x="1280160" y="1429512"/>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Cutoff from the sample rate: f</a:t>
            </a:r>
            <a:r>
              <a:rPr sz="2000" b="0" i="0" baseline="-25000">
                <a:solidFill>
                  <a:srgbClr val="23232B"/>
                </a:solidFill>
                <a:latin typeface="Calibri"/>
              </a:rPr>
              <a:t>c</a:t>
            </a:r>
            <a:r>
              <a:rPr sz="2000" b="0" i="0">
                <a:solidFill>
                  <a:srgbClr val="23232B"/>
                </a:solidFill>
                <a:latin typeface="Calibri"/>
              </a:rPr>
              <a:t> ≤ f</a:t>
            </a:r>
            <a:r>
              <a:rPr sz="2000" b="0" i="0" baseline="-25000">
                <a:solidFill>
                  <a:srgbClr val="23232B"/>
                </a:solidFill>
                <a:latin typeface="Calibri"/>
              </a:rPr>
              <a:t>s</a:t>
            </a:r>
            <a:r>
              <a:rPr sz="2000" b="0" i="0">
                <a:solidFill>
                  <a:srgbClr val="23232B"/>
                </a:solidFill>
                <a:latin typeface="Calibri"/>
              </a:rPr>
              <a:t>/2 (capstone: 2.34 Hz at f</a:t>
            </a:r>
            <a:r>
              <a:rPr sz="2000" b="0" i="0" baseline="-25000">
                <a:solidFill>
                  <a:srgbClr val="23232B"/>
                </a:solidFill>
                <a:latin typeface="Calibri"/>
              </a:rPr>
              <a:t>s</a:t>
            </a:r>
            <a:r>
              <a:rPr sz="2000" b="0" i="0">
                <a:solidFill>
                  <a:srgbClr val="23232B"/>
                </a:solidFill>
                <a:latin typeface="Calibri"/>
              </a:rPr>
              <a:t> = 5 Hz)</a:t>
            </a:r>
          </a:p>
        </p:txBody>
      </p:sp>
      <p:sp>
        <p:nvSpPr>
          <p:cNvPr id="7" name="Step 2"/>
          <p:cNvSpPr/>
          <p:nvPr/>
        </p:nvSpPr>
        <p:spPr>
          <a:xfrm>
            <a:off x="548640" y="2112263"/>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12263"/>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2</a:t>
            </a:r>
          </a:p>
        </p:txBody>
      </p:sp>
      <p:sp>
        <p:nvSpPr>
          <p:cNvPr id="9" name="Step text 2"/>
          <p:cNvSpPr txBox="1"/>
          <p:nvPr/>
        </p:nvSpPr>
        <p:spPr>
          <a:xfrm>
            <a:off x="1280160" y="2197608"/>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Attenuation: interference at the ADC must stay below LSB/2</a:t>
            </a:r>
          </a:p>
        </p:txBody>
      </p:sp>
      <p:sp>
        <p:nvSpPr>
          <p:cNvPr id="10" name="Step 3"/>
          <p:cNvSpPr/>
          <p:nvPr/>
        </p:nvSpPr>
        <p:spPr>
          <a:xfrm>
            <a:off x="548640" y="2880359"/>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880359"/>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3</a:t>
            </a:r>
          </a:p>
        </p:txBody>
      </p:sp>
      <p:sp>
        <p:nvSpPr>
          <p:cNvPr id="12" name="Step text 3"/>
          <p:cNvSpPr txBox="1"/>
          <p:nvPr/>
        </p:nvSpPr>
        <p:spPr>
          <a:xfrm>
            <a:off x="1280160" y="2965704"/>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1st order: choose C, R = 1/(2πf</a:t>
            </a:r>
            <a:r>
              <a:rPr sz="2000" b="0" i="0" baseline="-25000">
                <a:solidFill>
                  <a:srgbClr val="23232B"/>
                </a:solidFill>
                <a:latin typeface="Calibri"/>
              </a:rPr>
              <a:t>c</a:t>
            </a:r>
            <a:r>
              <a:rPr sz="2000" b="0" i="0">
                <a:solidFill>
                  <a:srgbClr val="23232B"/>
                </a:solidFill>
                <a:latin typeface="Calibri"/>
              </a:rPr>
              <a:t>C), round so f</a:t>
            </a:r>
            <a:r>
              <a:rPr sz="2000" b="0" i="0" baseline="-25000">
                <a:solidFill>
                  <a:srgbClr val="23232B"/>
                </a:solidFill>
                <a:latin typeface="Calibri"/>
              </a:rPr>
              <a:t>c</a:t>
            </a:r>
            <a:r>
              <a:rPr sz="2000" b="0" i="0">
                <a:solidFill>
                  <a:srgbClr val="23232B"/>
                </a:solidFill>
                <a:latin typeface="Calibri"/>
              </a:rPr>
              <a:t> ≤ f</a:t>
            </a:r>
            <a:r>
              <a:rPr sz="2000" b="0" i="0" baseline="-25000">
                <a:solidFill>
                  <a:srgbClr val="23232B"/>
                </a:solidFill>
                <a:latin typeface="Calibri"/>
              </a:rPr>
              <a:t>s</a:t>
            </a:r>
            <a:r>
              <a:rPr sz="2000" b="0" i="0">
                <a:solidFill>
                  <a:srgbClr val="23232B"/>
                </a:solidFill>
                <a:latin typeface="Calibri"/>
              </a:rPr>
              <a:t>/2, buffer it</a:t>
            </a:r>
          </a:p>
        </p:txBody>
      </p:sp>
      <p:sp>
        <p:nvSpPr>
          <p:cNvPr id="13" name="Step 4"/>
          <p:cNvSpPr/>
          <p:nvPr/>
        </p:nvSpPr>
        <p:spPr>
          <a:xfrm>
            <a:off x="548640" y="3648455"/>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48455"/>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4</a:t>
            </a:r>
          </a:p>
        </p:txBody>
      </p:sp>
      <p:sp>
        <p:nvSpPr>
          <p:cNvPr id="15" name="Step text 4"/>
          <p:cNvSpPr txBox="1"/>
          <p:nvPr/>
        </p:nvSpPr>
        <p:spPr>
          <a:xfrm>
            <a:off x="1280160" y="3733799"/>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2nd order: unity-gain Sallen-Key with C</a:t>
            </a:r>
            <a:r>
              <a:rPr sz="2000" b="0" i="0" baseline="-25000">
                <a:solidFill>
                  <a:srgbClr val="23232B"/>
                </a:solidFill>
                <a:latin typeface="Calibri"/>
              </a:rPr>
              <a:t>1</a:t>
            </a:r>
            <a:r>
              <a:rPr sz="2000" b="0" i="0">
                <a:solidFill>
                  <a:srgbClr val="23232B"/>
                </a:solidFill>
                <a:latin typeface="Calibri"/>
              </a:rPr>
              <a:t> ≈ 2·C</a:t>
            </a:r>
            <a:r>
              <a:rPr sz="2000" b="0" i="0" baseline="-25000">
                <a:solidFill>
                  <a:srgbClr val="23232B"/>
                </a:solidFill>
                <a:latin typeface="Calibri"/>
              </a:rPr>
              <a:t>2</a:t>
            </a:r>
          </a:p>
        </p:txBody>
      </p:sp>
      <p:sp>
        <p:nvSpPr>
          <p:cNvPr id="16" name="Step 5"/>
          <p:cNvSpPr/>
          <p:nvPr/>
        </p:nvSpPr>
        <p:spPr>
          <a:xfrm>
            <a:off x="548640" y="4416551"/>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416551"/>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5</a:t>
            </a:r>
          </a:p>
        </p:txBody>
      </p:sp>
      <p:sp>
        <p:nvSpPr>
          <p:cNvPr id="18" name="Step text 5"/>
          <p:cNvSpPr txBox="1"/>
          <p:nvPr/>
        </p:nvSpPr>
        <p:spPr>
          <a:xfrm>
            <a:off x="1280160" y="4501896"/>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Check settling (≈ 5τ) and headroom: signal + hum must not clip</a:t>
            </a:r>
          </a:p>
        </p:txBody>
      </p:sp>
      <p:pic>
        <p:nvPicPr>
          <p:cNvPr id="19"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2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2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EXERCISES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Now work it out in the script</a:t>
            </a:r>
          </a:p>
        </p:txBody>
      </p:sp>
      <p:sp>
        <p:nvSpPr>
          <p:cNvPr id="4" name="Intro"/>
          <p:cNvSpPr txBox="1"/>
          <p:nvPr/>
        </p:nvSpPr>
        <p:spPr>
          <a:xfrm>
            <a:off x="548640" y="1298448"/>
            <a:ext cx="11094415" cy="640080"/>
          </a:xfrm>
          <a:prstGeom prst="rect">
            <a:avLst/>
          </a:prstGeom>
          <a:noFill/>
        </p:spPr>
        <p:txBody>
          <a:bodyPr wrap="square" lIns="0" rIns="0" tIns="0" bIns="0" anchor="t">
            <a:noAutofit/>
          </a:bodyPr>
          <a:lstStyle/>
          <a:p>
            <a:pPr algn="l">
              <a:lnSpc>
                <a:spcPct val="100000"/>
              </a:lnSpc>
              <a:spcAft>
                <a:spcPts val="600"/>
              </a:spcAft>
              <a:buNone/>
            </a:pPr>
            <a:r>
              <a:rPr sz="1800" b="0" i="0">
                <a:solidFill>
                  <a:srgbClr val="62626E"/>
                </a:solidFill>
                <a:latin typeface="Calibri"/>
              </a:rPr>
              <a:t>Derivations, worked numbers and solutions: script, chapter 7 “Active Filters”. Check each result in the Falstad examples.</a:t>
            </a:r>
          </a:p>
        </p:txBody>
      </p:sp>
      <p:sp>
        <p:nvSpPr>
          <p:cNvPr id="5" name="Exercise card"/>
          <p:cNvSpPr/>
          <p:nvPr/>
        </p:nvSpPr>
        <p:spPr>
          <a:xfrm>
            <a:off x="548640"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rcise number"/>
          <p:cNvSpPr/>
          <p:nvPr/>
        </p:nvSpPr>
        <p:spPr>
          <a:xfrm>
            <a:off x="548640"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7.1</a:t>
            </a:r>
          </a:p>
        </p:txBody>
      </p:sp>
      <p:sp>
        <p:nvSpPr>
          <p:cNvPr id="8" name="Exercise title"/>
          <p:cNvSpPr txBox="1"/>
          <p:nvPr/>
        </p:nvSpPr>
        <p:spPr>
          <a:xfrm>
            <a:off x="1645919"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RC low-pass</a:t>
            </a:r>
          </a:p>
        </p:txBody>
      </p:sp>
      <p:sp>
        <p:nvSpPr>
          <p:cNvPr id="9" name="Exercise card"/>
          <p:cNvSpPr/>
          <p:nvPr/>
        </p:nvSpPr>
        <p:spPr>
          <a:xfrm>
            <a:off x="548640"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ercise number"/>
          <p:cNvSpPr/>
          <p:nvPr/>
        </p:nvSpPr>
        <p:spPr>
          <a:xfrm>
            <a:off x="548640"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7.2</a:t>
            </a:r>
          </a:p>
        </p:txBody>
      </p:sp>
      <p:sp>
        <p:nvSpPr>
          <p:cNvPr id="12" name="Exercise title"/>
          <p:cNvSpPr txBox="1"/>
          <p:nvPr/>
        </p:nvSpPr>
        <p:spPr>
          <a:xfrm>
            <a:off x="1645919"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First-order active filters</a:t>
            </a:r>
          </a:p>
        </p:txBody>
      </p:sp>
      <p:sp>
        <p:nvSpPr>
          <p:cNvPr id="13" name="Exercise card"/>
          <p:cNvSpPr/>
          <p:nvPr/>
        </p:nvSpPr>
        <p:spPr>
          <a:xfrm>
            <a:off x="548640"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xercise number"/>
          <p:cNvSpPr/>
          <p:nvPr/>
        </p:nvSpPr>
        <p:spPr>
          <a:xfrm>
            <a:off x="548640"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7.3</a:t>
            </a:r>
          </a:p>
        </p:txBody>
      </p:sp>
      <p:sp>
        <p:nvSpPr>
          <p:cNvPr id="16" name="Exercise title"/>
          <p:cNvSpPr txBox="1"/>
          <p:nvPr/>
        </p:nvSpPr>
        <p:spPr>
          <a:xfrm>
            <a:off x="1645919"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Integrator</a:t>
            </a:r>
          </a:p>
        </p:txBody>
      </p:sp>
      <p:sp>
        <p:nvSpPr>
          <p:cNvPr id="17" name="Exercise card"/>
          <p:cNvSpPr/>
          <p:nvPr/>
        </p:nvSpPr>
        <p:spPr>
          <a:xfrm>
            <a:off x="6233007"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xercise number"/>
          <p:cNvSpPr/>
          <p:nvPr/>
        </p:nvSpPr>
        <p:spPr>
          <a:xfrm>
            <a:off x="6233007"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7.4</a:t>
            </a:r>
          </a:p>
        </p:txBody>
      </p:sp>
      <p:sp>
        <p:nvSpPr>
          <p:cNvPr id="20" name="Exercise title"/>
          <p:cNvSpPr txBox="1"/>
          <p:nvPr/>
        </p:nvSpPr>
        <p:spPr>
          <a:xfrm>
            <a:off x="7330287"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Sallen-Key low-pass</a:t>
            </a:r>
          </a:p>
        </p:txBody>
      </p:sp>
      <p:sp>
        <p:nvSpPr>
          <p:cNvPr id="21" name="Exercise card"/>
          <p:cNvSpPr/>
          <p:nvPr/>
        </p:nvSpPr>
        <p:spPr>
          <a:xfrm>
            <a:off x="6233007"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xercise number"/>
          <p:cNvSpPr/>
          <p:nvPr/>
        </p:nvSpPr>
        <p:spPr>
          <a:xfrm>
            <a:off x="6233007"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3007"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7.5</a:t>
            </a:r>
          </a:p>
        </p:txBody>
      </p:sp>
      <p:sp>
        <p:nvSpPr>
          <p:cNvPr id="24" name="Exercise title"/>
          <p:cNvSpPr txBox="1"/>
          <p:nvPr/>
        </p:nvSpPr>
        <p:spPr>
          <a:xfrm>
            <a:off x="7330287"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Capstone: anti-aliasing low-pass</a:t>
            </a:r>
          </a:p>
        </p:txBody>
      </p:sp>
      <p:sp>
        <p:nvSpPr>
          <p:cNvPr id="25" name="Exercise card"/>
          <p:cNvSpPr/>
          <p:nvPr/>
        </p:nvSpPr>
        <p:spPr>
          <a:xfrm>
            <a:off x="6233007"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xercise number"/>
          <p:cNvSpPr/>
          <p:nvPr/>
        </p:nvSpPr>
        <p:spPr>
          <a:xfrm>
            <a:off x="6233007"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33007"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7.6</a:t>
            </a:r>
          </a:p>
        </p:txBody>
      </p:sp>
      <p:sp>
        <p:nvSpPr>
          <p:cNvPr id="28" name="Exercise title"/>
          <p:cNvSpPr txBox="1"/>
          <p:nvPr/>
        </p:nvSpPr>
        <p:spPr>
          <a:xfrm>
            <a:off x="7330287"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Twin-T notch</a:t>
            </a:r>
          </a:p>
        </p:txBody>
      </p:sp>
      <p:pic>
        <p:nvPicPr>
          <p:cNvPr id="29"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3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Active Filters</a:t>
            </a:r>
          </a:p>
        </p:txBody>
      </p:sp>
      <p:sp>
        <p:nvSpPr>
          <p:cNvPr id="3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6638B6"/>
        </a:solidFill>
        <a:effectLst/>
      </p:bgPr>
    </p:bg>
    <p:spTree>
      <p:nvGrpSpPr>
        <p:cNvPr id="1" name=""/>
        <p:cNvGrpSpPr/>
        <p:nvPr/>
      </p:nvGrpSpPr>
      <p:grpSpPr/>
      <p:sp>
        <p:nvSpPr>
          <p:cNvPr id="2" name="Chapter number"/>
          <p:cNvSpPr txBox="1"/>
          <p:nvPr/>
        </p:nvSpPr>
        <p:spPr>
          <a:xfrm>
            <a:off x="548640" y="822960"/>
            <a:ext cx="2743200" cy="1463040"/>
          </a:xfrm>
          <a:prstGeom prst="rect">
            <a:avLst/>
          </a:prstGeom>
          <a:noFill/>
        </p:spPr>
        <p:txBody>
          <a:bodyPr wrap="square" lIns="0" rIns="0" tIns="0" bIns="0" anchor="t">
            <a:noAutofit/>
          </a:bodyPr>
          <a:lstStyle/>
          <a:p>
            <a:pPr algn="l">
              <a:lnSpc>
                <a:spcPct val="100000"/>
              </a:lnSpc>
              <a:spcAft>
                <a:spcPts val="600"/>
              </a:spcAft>
              <a:buNone/>
            </a:pPr>
            <a:r>
              <a:rPr sz="9600" b="1" i="0">
                <a:solidFill>
                  <a:srgbClr val="9B7DD4"/>
                </a:solidFill>
                <a:latin typeface="Calibri"/>
              </a:rPr>
              <a:t>08</a:t>
            </a:r>
          </a:p>
        </p:txBody>
      </p:sp>
      <p:sp>
        <p:nvSpPr>
          <p:cNvPr id="3" name="Chapter title"/>
          <p:cNvSpPr txBox="1"/>
          <p:nvPr/>
        </p:nvSpPr>
        <p:spPr>
          <a:xfrm>
            <a:off x="548640" y="2331720"/>
            <a:ext cx="11094415" cy="914400"/>
          </a:xfrm>
          <a:prstGeom prst="rect">
            <a:avLst/>
          </a:prstGeom>
          <a:noFill/>
        </p:spPr>
        <p:txBody>
          <a:bodyPr wrap="square" lIns="0" rIns="0" tIns="0" bIns="0" anchor="ctr">
            <a:noAutofit/>
          </a:bodyPr>
          <a:lstStyle/>
          <a:p>
            <a:pPr algn="l">
              <a:lnSpc>
                <a:spcPct val="100000"/>
              </a:lnSpc>
              <a:spcAft>
                <a:spcPts val="600"/>
              </a:spcAft>
              <a:buNone/>
            </a:pPr>
            <a:r>
              <a:rPr sz="4400" b="1" i="0">
                <a:solidFill>
                  <a:srgbClr val="FFFFFF"/>
                </a:solidFill>
                <a:latin typeface="Calibri"/>
              </a:rPr>
              <a:t>Sample and Hold</a:t>
            </a:r>
          </a:p>
        </p:txBody>
      </p:sp>
      <p:sp>
        <p:nvSpPr>
          <p:cNvPr id="4" name="Chapter subtitle"/>
          <p:cNvSpPr txBox="1"/>
          <p:nvPr/>
        </p:nvSpPr>
        <p:spPr>
          <a:xfrm>
            <a:off x="548640" y="3246120"/>
            <a:ext cx="11094415" cy="4572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CFE9F3"/>
                </a:solidFill>
                <a:latin typeface="Calibri"/>
              </a:rPr>
              <a:t>Freeze the filtered signal at a defined instant while the ADC converts</a:t>
            </a:r>
          </a:p>
        </p:txBody>
      </p:sp>
      <p:sp>
        <p:nvSpPr>
          <p:cNvPr id="5" name="Takeaway card"/>
          <p:cNvSpPr/>
          <p:nvPr/>
        </p:nvSpPr>
        <p:spPr>
          <a:xfrm>
            <a:off x="548640"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1</a:t>
            </a:r>
          </a:p>
        </p:txBody>
      </p:sp>
      <p:sp>
        <p:nvSpPr>
          <p:cNvPr id="7" name="Takeaway"/>
          <p:cNvSpPr txBox="1"/>
          <p:nvPr/>
        </p:nvSpPr>
        <p:spPr>
          <a:xfrm>
            <a:off x="822959"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C</a:t>
            </a:r>
            <a:r>
              <a:rPr sz="1800" b="1" i="0" baseline="-25000">
                <a:solidFill>
                  <a:srgbClr val="FFFFFF"/>
                </a:solidFill>
                <a:latin typeface="Calibri"/>
              </a:rPr>
              <a:t>H</a:t>
            </a:r>
            <a:r>
              <a:rPr sz="1800" b="1" i="0">
                <a:solidFill>
                  <a:srgbClr val="FFFFFF"/>
                </a:solidFill>
                <a:latin typeface="Calibri"/>
              </a:rPr>
              <a:t> window: droop sets the minimum, acquisition the max</a:t>
            </a:r>
          </a:p>
        </p:txBody>
      </p:sp>
      <p:sp>
        <p:nvSpPr>
          <p:cNvPr id="8" name="Takeaway card"/>
          <p:cNvSpPr/>
          <p:nvPr/>
        </p:nvSpPr>
        <p:spPr>
          <a:xfrm>
            <a:off x="4338218"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2538"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2</a:t>
            </a:r>
          </a:p>
        </p:txBody>
      </p:sp>
      <p:sp>
        <p:nvSpPr>
          <p:cNvPr id="10" name="Takeaway"/>
          <p:cNvSpPr txBox="1"/>
          <p:nvPr/>
        </p:nvSpPr>
        <p:spPr>
          <a:xfrm>
            <a:off x="4612538"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Settle to ½ LSB: t</a:t>
            </a:r>
            <a:r>
              <a:rPr sz="1800" b="1" i="0" baseline="-25000">
                <a:solidFill>
                  <a:srgbClr val="FFFFFF"/>
                </a:solidFill>
                <a:latin typeface="Calibri"/>
              </a:rPr>
              <a:t>acq</a:t>
            </a:r>
            <a:r>
              <a:rPr sz="1800" b="1" i="0">
                <a:solidFill>
                  <a:srgbClr val="FFFFFF"/>
                </a:solidFill>
                <a:latin typeface="Calibri"/>
              </a:rPr>
              <a:t> ≈ 0.69·(N+1)·τ ≤ t</a:t>
            </a:r>
            <a:r>
              <a:rPr sz="1800" b="1" i="0" baseline="-25000">
                <a:solidFill>
                  <a:srgbClr val="FFFFFF"/>
                </a:solidFill>
                <a:latin typeface="Calibri"/>
              </a:rPr>
              <a:t>track</a:t>
            </a:r>
          </a:p>
        </p:txBody>
      </p:sp>
      <p:sp>
        <p:nvSpPr>
          <p:cNvPr id="11" name="Takeaway card"/>
          <p:cNvSpPr/>
          <p:nvPr/>
        </p:nvSpPr>
        <p:spPr>
          <a:xfrm>
            <a:off x="8127796"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2116"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3</a:t>
            </a:r>
          </a:p>
        </p:txBody>
      </p:sp>
      <p:sp>
        <p:nvSpPr>
          <p:cNvPr id="13" name="Takeaway"/>
          <p:cNvSpPr txBox="1"/>
          <p:nvPr/>
        </p:nvSpPr>
        <p:spPr>
          <a:xfrm>
            <a:off x="8402116"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Buffer both sides: follower, switch, C</a:t>
            </a:r>
            <a:r>
              <a:rPr sz="1800" b="1" i="0" baseline="-25000">
                <a:solidFill>
                  <a:srgbClr val="FFFFFF"/>
                </a:solidFill>
                <a:latin typeface="Calibri"/>
              </a:rPr>
              <a:t>H</a:t>
            </a:r>
            <a:r>
              <a:rPr sz="1800" b="1" i="0">
                <a:solidFill>
                  <a:srgbClr val="FFFFFF"/>
                </a:solidFill>
                <a:latin typeface="Calibri"/>
              </a:rPr>
              <a:t>, follower</a:t>
            </a:r>
          </a:p>
        </p:txBody>
      </p:sp>
      <p:sp>
        <p:nvSpPr>
          <p:cNvPr id="14" name="Footer"/>
          <p:cNvSpPr txBox="1"/>
          <p:nvPr/>
        </p:nvSpPr>
        <p:spPr>
          <a:xfrm>
            <a:off x="548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FFFFFF"/>
                </a:solidFill>
                <a:latin typeface="Calibri"/>
              </a:rPr>
              <a:t>Electronic Circuit Design  ·  Sample and Hold</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FFFFFF"/>
                </a:solidFill>
                <a:latin typeface="Calibri"/>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WHY SAMPLE AND HOLD?</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Why sample and hold?</a:t>
            </a:r>
          </a:p>
        </p:txBody>
      </p:sp>
      <p:sp>
        <p:nvSpPr>
          <p:cNvPr id="4" name="Bullets"/>
          <p:cNvSpPr txBox="1"/>
          <p:nvPr/>
        </p:nvSpPr>
        <p:spPr>
          <a:xfrm>
            <a:off x="548640" y="1298448"/>
            <a:ext cx="11094415" cy="48463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Defines the sampling instant t</a:t>
            </a:r>
            <a:r>
              <a:rPr sz="2000" b="0" i="0" baseline="-25000">
                <a:solidFill>
                  <a:srgbClr val="23232B"/>
                </a:solidFill>
                <a:latin typeface="Calibri"/>
              </a:rPr>
              <a:t>k</a:t>
            </a:r>
            <a:r>
              <a:rPr sz="2000" b="0" i="0">
                <a:solidFill>
                  <a:srgbClr val="23232B"/>
                </a:solidFill>
                <a:latin typeface="Calibri"/>
              </a:rPr>
              <a:t> = k·T</a:t>
            </a:r>
            <a:r>
              <a:rPr sz="2000" b="0" i="0" baseline="-25000">
                <a:solidFill>
                  <a:srgbClr val="23232B"/>
                </a:solidFill>
                <a:latin typeface="Calibri"/>
              </a:rPr>
              <a:t>s</a:t>
            </a:r>
          </a:p>
          <a:p>
            <a:pPr algn="l" marL="274320" indent="-274320">
              <a:lnSpc>
                <a:spcPct val="100000"/>
              </a:lnSpc>
              <a:spcAft>
                <a:spcPts val="1000"/>
              </a:spcAft>
              <a:buClr>
                <a:srgbClr val="00A9CE"/>
              </a:buClr>
              <a:buFont typeface="Arial"/>
              <a:buChar char="•"/>
            </a:pPr>
            <a:r>
              <a:rPr sz="2000" b="0" i="0">
                <a:solidFill>
                  <a:srgbClr val="23232B"/>
                </a:solidFill>
                <a:latin typeface="Calibri"/>
              </a:rPr>
              <a:t>Keeps the voltage constant while the ADC converts</a:t>
            </a:r>
          </a:p>
          <a:p>
            <a:pPr algn="l" marL="274320" indent="-274320">
              <a:lnSpc>
                <a:spcPct val="100000"/>
              </a:lnSpc>
              <a:spcAft>
                <a:spcPts val="1000"/>
              </a:spcAft>
              <a:buClr>
                <a:srgbClr val="00A9CE"/>
              </a:buClr>
              <a:buFont typeface="Arial"/>
              <a:buChar char="•"/>
            </a:pPr>
            <a:r>
              <a:rPr sz="2000" b="0" i="0">
                <a:solidFill>
                  <a:srgbClr val="23232B"/>
                </a:solidFill>
                <a:latin typeface="Calibri"/>
              </a:rPr>
              <a:t>Without S&amp;H: |dV/dt|</a:t>
            </a:r>
            <a:r>
              <a:rPr sz="2000" b="0" i="0" baseline="-25000">
                <a:solidFill>
                  <a:srgbClr val="23232B"/>
                </a:solidFill>
                <a:latin typeface="Calibri"/>
              </a:rPr>
              <a:t>max</a:t>
            </a:r>
            <a:r>
              <a:rPr sz="2000" b="0" i="0">
                <a:solidFill>
                  <a:srgbClr val="23232B"/>
                </a:solidFill>
                <a:latin typeface="Calibri"/>
              </a:rPr>
              <a:t>·t</a:t>
            </a:r>
            <a:r>
              <a:rPr sz="2000" b="0" i="0" baseline="-25000">
                <a:solidFill>
                  <a:srgbClr val="23232B"/>
                </a:solidFill>
                <a:latin typeface="Calibri"/>
              </a:rPr>
              <a:t>conv</a:t>
            </a:r>
            <a:r>
              <a:rPr sz="2000" b="0" i="0">
                <a:solidFill>
                  <a:srgbClr val="23232B"/>
                </a:solidFill>
                <a:latin typeface="Calibri"/>
              </a:rPr>
              <a:t> &lt; ½ LSB, e.g. 12 bit: f &lt; 3.9 Hz</a:t>
            </a:r>
          </a:p>
          <a:p>
            <a:pPr algn="l" marL="274320" indent="-274320">
              <a:lnSpc>
                <a:spcPct val="100000"/>
              </a:lnSpc>
              <a:spcAft>
                <a:spcPts val="1000"/>
              </a:spcAft>
              <a:buClr>
                <a:srgbClr val="00A9CE"/>
              </a:buClr>
              <a:buFont typeface="Arial"/>
              <a:buChar char="•"/>
            </a:pPr>
            <a:r>
              <a:rPr sz="2000" b="0" i="0">
                <a:solidFill>
                  <a:srgbClr val="23232B"/>
                </a:solidFill>
                <a:latin typeface="Calibri"/>
              </a:rPr>
              <a:t>With S&amp;H only the aperture time counts (nanoseconds)</a:t>
            </a:r>
          </a:p>
          <a:p>
            <a:pPr algn="l" marL="274320" indent="-274320">
              <a:lnSpc>
                <a:spcPct val="100000"/>
              </a:lnSpc>
              <a:spcAft>
                <a:spcPts val="1000"/>
              </a:spcAft>
              <a:buClr>
                <a:srgbClr val="00A9CE"/>
              </a:buClr>
              <a:buFont typeface="Arial"/>
              <a:buChar char="•"/>
            </a:pPr>
            <a:r>
              <a:rPr sz="2000" b="0" i="0">
                <a:solidFill>
                  <a:srgbClr val="23232B"/>
                </a:solidFill>
                <a:latin typeface="Calibri"/>
              </a:rPr>
              <a:t>Capstone: f</a:t>
            </a:r>
            <a:r>
              <a:rPr sz="2000" b="0" i="0" baseline="-25000">
                <a:solidFill>
                  <a:srgbClr val="23232B"/>
                </a:solidFill>
                <a:latin typeface="Calibri"/>
              </a:rPr>
              <a:t>s</a:t>
            </a:r>
            <a:r>
              <a:rPr sz="2000" b="0" i="0">
                <a:solidFill>
                  <a:srgbClr val="23232B"/>
                </a:solidFill>
                <a:latin typeface="Calibri"/>
              </a:rPr>
              <a:t> = 5 Hz, 3-bit flash ADC, 0 to 4 V, LSB 0.5 V</a:t>
            </a:r>
          </a:p>
        </p:txBody>
      </p:sp>
      <p:pic>
        <p:nvPicPr>
          <p:cNvPr id="5"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TRACK-AND-HOLD PRINCIPLE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Switch and hold capacitor</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switch-and-hold-capacitor-1.png"/>
          <p:cNvPicPr>
            <a:picLocks noChangeAspect="1"/>
          </p:cNvPicPr>
          <p:nvPr/>
        </p:nvPicPr>
        <p:blipFill>
          <a:blip r:embed="rId2"/>
          <a:stretch>
            <a:fillRect/>
          </a:stretch>
        </p:blipFill>
        <p:spPr>
          <a:xfrm>
            <a:off x="6876288" y="2727586"/>
            <a:ext cx="4565599" cy="1988042"/>
          </a:xfrm>
          <a:prstGeom prst="rect">
            <a:avLst/>
          </a:prstGeom>
        </p:spPr>
      </p:pic>
      <p:sp>
        <p:nvSpPr>
          <p:cNvPr id="6" name="Bullets"/>
          <p:cNvSpPr txBox="1"/>
          <p:nvPr/>
        </p:nvSpPr>
        <p:spPr>
          <a:xfrm>
            <a:off x="548640" y="1298448"/>
            <a:ext cx="5806440" cy="19507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Clock high: switch closed, C</a:t>
            </a:r>
            <a:r>
              <a:rPr sz="2000" b="0" i="0" baseline="-25000">
                <a:solidFill>
                  <a:srgbClr val="23232B"/>
                </a:solidFill>
                <a:latin typeface="Calibri"/>
              </a:rPr>
              <a:t>H</a:t>
            </a:r>
            <a:r>
              <a:rPr sz="2000" b="0" i="0">
                <a:solidFill>
                  <a:srgbClr val="23232B"/>
                </a:solidFill>
                <a:latin typeface="Calibri"/>
              </a:rPr>
              <a:t> follows V</a:t>
            </a:r>
            <a:r>
              <a:rPr sz="2000" b="0" i="0" baseline="-25000">
                <a:solidFill>
                  <a:srgbClr val="23232B"/>
                </a:solidFill>
                <a:latin typeface="Calibri"/>
              </a:rPr>
              <a:t>in</a:t>
            </a:r>
            <a:r>
              <a:rPr sz="2000" b="0" i="0">
                <a:solidFill>
                  <a:srgbClr val="23232B"/>
                </a:solidFill>
                <a:latin typeface="Calibri"/>
              </a:rPr>
              <a:t> (track)</a:t>
            </a:r>
          </a:p>
          <a:p>
            <a:pPr algn="l" marL="274320" indent="-274320">
              <a:lnSpc>
                <a:spcPct val="100000"/>
              </a:lnSpc>
              <a:spcAft>
                <a:spcPts val="1000"/>
              </a:spcAft>
              <a:buClr>
                <a:srgbClr val="00A9CE"/>
              </a:buClr>
              <a:buFont typeface="Arial"/>
              <a:buChar char="•"/>
            </a:pPr>
            <a:r>
              <a:rPr sz="2000" b="0" i="0">
                <a:solidFill>
                  <a:srgbClr val="23232B"/>
                </a:solidFill>
                <a:latin typeface="Calibri"/>
              </a:rPr>
              <a:t>Clock low: switch open, C</a:t>
            </a:r>
            <a:r>
              <a:rPr sz="2000" b="0" i="0" baseline="-25000">
                <a:solidFill>
                  <a:srgbClr val="23232B"/>
                </a:solidFill>
                <a:latin typeface="Calibri"/>
              </a:rPr>
              <a:t>H</a:t>
            </a:r>
            <a:r>
              <a:rPr sz="2000" b="0" i="0">
                <a:solidFill>
                  <a:srgbClr val="23232B"/>
                </a:solidFill>
                <a:latin typeface="Calibri"/>
              </a:rPr>
              <a:t> keeps its charge (hold)</a:t>
            </a:r>
          </a:p>
          <a:p>
            <a:pPr algn="l" marL="274320" indent="-274320">
              <a:lnSpc>
                <a:spcPct val="100000"/>
              </a:lnSpc>
              <a:spcAft>
                <a:spcPts val="1000"/>
              </a:spcAft>
              <a:buClr>
                <a:srgbClr val="00A9CE"/>
              </a:buClr>
              <a:buFont typeface="Arial"/>
              <a:buChar char="•"/>
            </a:pPr>
            <a:r>
              <a:rPr sz="2000" b="0" i="0">
                <a:solidFill>
                  <a:srgbClr val="23232B"/>
                </a:solidFill>
                <a:latin typeface="Calibri"/>
              </a:rPr>
              <a:t>Capstone clock: 5 Hz, duty cycle 10 %: track 20 ms, hold 180 ms</a:t>
            </a:r>
          </a:p>
          <a:p>
            <a:pPr algn="l" marL="274320" indent="-274320">
              <a:lnSpc>
                <a:spcPct val="100000"/>
              </a:lnSpc>
              <a:spcAft>
                <a:spcPts val="1000"/>
              </a:spcAft>
              <a:buClr>
                <a:srgbClr val="00A9CE"/>
              </a:buClr>
              <a:buFont typeface="Arial"/>
              <a:buChar char="•"/>
            </a:pPr>
            <a:r>
              <a:rPr sz="2000" b="0" i="0">
                <a:solidFill>
                  <a:srgbClr val="23232B"/>
                </a:solidFill>
                <a:latin typeface="Calibri"/>
              </a:rPr>
              <a:t>Errors: acquisition, aperture/jitter, pedestal, droop</a:t>
            </a:r>
          </a:p>
        </p:txBody>
      </p:sp>
      <p:sp>
        <p:nvSpPr>
          <p:cNvPr id="7" name="Key rule"/>
          <p:cNvSpPr/>
          <p:nvPr/>
        </p:nvSpPr>
        <p:spPr>
          <a:xfrm>
            <a:off x="548640" y="3569208"/>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36789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39532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Held value = V</a:t>
            </a:r>
            <a:r>
              <a:rPr sz="1700" b="1" i="0" baseline="-25000">
                <a:solidFill>
                  <a:srgbClr val="4E2A8C"/>
                </a:solidFill>
                <a:latin typeface="Calibri"/>
              </a:rPr>
              <a:t>in</a:t>
            </a:r>
            <a:r>
              <a:rPr sz="1700" b="1" i="0">
                <a:solidFill>
                  <a:srgbClr val="4E2A8C"/>
                </a:solidFill>
                <a:latin typeface="Calibri"/>
              </a:rPr>
              <a:t> at the end of the track phase</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TRACK-AND-HOLD PRINCIPLE</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basic sample and hold</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timing-diagram-1.png"/>
          <p:cNvPicPr>
            <a:picLocks noChangeAspect="1"/>
          </p:cNvPicPr>
          <p:nvPr/>
        </p:nvPicPr>
        <p:blipFill>
          <a:blip r:embed="rId2"/>
          <a:stretch>
            <a:fillRect/>
          </a:stretch>
        </p:blipFill>
        <p:spPr>
          <a:xfrm>
            <a:off x="749808" y="2614333"/>
            <a:ext cx="5998464" cy="2214549"/>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sh_basic">
            <a:hlinkClick r:id="rId3"/>
          </p:cNvPr>
          <p:cNvSpPr/>
          <p:nvPr/>
        </p:nvSpPr>
        <p:spPr>
          <a:xfrm>
            <a:off x="7269479" y="1709928"/>
            <a:ext cx="4373575" cy="908304"/>
          </a:xfrm>
          <a:prstGeom prst="roundRect">
            <a:avLst>
              <a:gd name="adj" fmla="val 1208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96291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208178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sh_basic">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samplehold/sh_basic</a:t>
            </a:r>
          </a:p>
        </p:txBody>
      </p:sp>
      <p:sp>
        <p:nvSpPr>
          <p:cNvPr id="11" name="Falstad hint"/>
          <p:cNvSpPr txBox="1"/>
          <p:nvPr/>
        </p:nvSpPr>
        <p:spPr>
          <a:xfrm>
            <a:off x="7955279" y="2093976"/>
            <a:ext cx="3596335" cy="41452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Watch Vhold step once per 200 ms at the falling clock edge</a:t>
            </a:r>
          </a:p>
        </p:txBody>
      </p:sp>
      <p:sp>
        <p:nvSpPr>
          <p:cNvPr id="12" name="Label"/>
          <p:cNvSpPr txBox="1"/>
          <p:nvPr/>
        </p:nvSpPr>
        <p:spPr>
          <a:xfrm>
            <a:off x="7269479" y="2983991"/>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395471"/>
            <a:ext cx="4373575" cy="274929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Output is a staircase, one step per sampling period</a:t>
            </a:r>
          </a:p>
          <a:p>
            <a:pPr algn="l" marL="274320" indent="-274320">
              <a:lnSpc>
                <a:spcPct val="100000"/>
              </a:lnSpc>
              <a:spcAft>
                <a:spcPts val="1000"/>
              </a:spcAft>
              <a:buClr>
                <a:srgbClr val="00A9CE"/>
              </a:buClr>
              <a:buFont typeface="Arial"/>
              <a:buChar char="•"/>
            </a:pPr>
            <a:r>
              <a:rPr sz="1800" b="0" i="0">
                <a:solidFill>
                  <a:srgbClr val="23232B"/>
                </a:solidFill>
                <a:latin typeface="Calibri"/>
              </a:rPr>
              <a:t>Held values about 5 mV below V</a:t>
            </a:r>
            <a:r>
              <a:rPr sz="1800" b="0" i="0" baseline="-25000">
                <a:solidFill>
                  <a:srgbClr val="23232B"/>
                </a:solidFill>
                <a:latin typeface="Calibri"/>
              </a:rPr>
              <a:t>in</a:t>
            </a:r>
            <a:r>
              <a:rPr sz="1800" b="0" i="0">
                <a:solidFill>
                  <a:srgbClr val="23232B"/>
                </a:solidFill>
                <a:latin typeface="Calibri"/>
              </a:rPr>
              <a:t>: C</a:t>
            </a:r>
            <a:r>
              <a:rPr sz="1800" b="0" i="0" baseline="-25000">
                <a:solidFill>
                  <a:srgbClr val="23232B"/>
                </a:solidFill>
                <a:latin typeface="Calibri"/>
              </a:rPr>
              <a:t>H</a:t>
            </a:r>
            <a:r>
              <a:rPr sz="1800" b="0" i="0">
                <a:solidFill>
                  <a:srgbClr val="23232B"/>
                </a:solidFill>
                <a:latin typeface="Calibri"/>
              </a:rPr>
              <a:t> lags a rising input</a:t>
            </a:r>
          </a:p>
          <a:p>
            <a:pPr algn="l" marL="274320" indent="-274320">
              <a:lnSpc>
                <a:spcPct val="100000"/>
              </a:lnSpc>
              <a:spcAft>
                <a:spcPts val="1000"/>
              </a:spcAft>
              <a:buClr>
                <a:srgbClr val="00A9CE"/>
              </a:buClr>
              <a:buFont typeface="Arial"/>
              <a:buChar char="•"/>
            </a:pPr>
            <a:r>
              <a:rPr sz="1800" b="0" i="0">
                <a:solidFill>
                  <a:srgbClr val="23232B"/>
                </a:solidFill>
                <a:latin typeface="Calibri"/>
              </a:rPr>
              <a:t>Change the duty cycle of the clock rail and watch the track window</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ANALOG SWITCHES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Analog switches</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cmos-transmission-gate-1.png"/>
          <p:cNvPicPr>
            <a:picLocks noChangeAspect="1"/>
          </p:cNvPicPr>
          <p:nvPr/>
        </p:nvPicPr>
        <p:blipFill>
          <a:blip r:embed="rId2"/>
          <a:stretch>
            <a:fillRect/>
          </a:stretch>
        </p:blipFill>
        <p:spPr>
          <a:xfrm>
            <a:off x="6876288" y="1699047"/>
            <a:ext cx="4565599" cy="4045120"/>
          </a:xfrm>
          <a:prstGeom prst="rect">
            <a:avLst/>
          </a:prstGeom>
        </p:spPr>
      </p:pic>
      <p:sp>
        <p:nvSpPr>
          <p:cNvPr id="6" name="Bullets"/>
          <p:cNvSpPr txBox="1"/>
          <p:nvPr/>
        </p:nvSpPr>
        <p:spPr>
          <a:xfrm>
            <a:off x="548640" y="1298448"/>
            <a:ext cx="5806440" cy="48463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nMOS switch: R</a:t>
            </a:r>
            <a:r>
              <a:rPr sz="2000" b="0" i="0" baseline="-25000">
                <a:solidFill>
                  <a:srgbClr val="23232B"/>
                </a:solidFill>
                <a:latin typeface="Calibri"/>
              </a:rPr>
              <a:t>on</a:t>
            </a:r>
            <a:r>
              <a:rPr sz="2000" b="0" i="0">
                <a:solidFill>
                  <a:srgbClr val="23232B"/>
                </a:solidFill>
                <a:latin typeface="Calibri"/>
              </a:rPr>
              <a:t> grows as V</a:t>
            </a:r>
            <a:r>
              <a:rPr sz="2000" b="0" i="0" baseline="-25000">
                <a:solidFill>
                  <a:srgbClr val="23232B"/>
                </a:solidFill>
                <a:latin typeface="Calibri"/>
              </a:rPr>
              <a:t>in</a:t>
            </a:r>
            <a:r>
              <a:rPr sz="2000" b="0" i="0">
                <a:solidFill>
                  <a:srgbClr val="23232B"/>
                </a:solidFill>
                <a:latin typeface="Calibri"/>
              </a:rPr>
              <a:t> approaches V</a:t>
            </a:r>
            <a:r>
              <a:rPr sz="2000" b="0" i="0" baseline="-25000">
                <a:solidFill>
                  <a:srgbClr val="23232B"/>
                </a:solidFill>
                <a:latin typeface="Calibri"/>
              </a:rPr>
              <a:t>G</a:t>
            </a:r>
            <a:r>
              <a:rPr sz="2000" b="0" i="0">
                <a:solidFill>
                  <a:srgbClr val="23232B"/>
                </a:solidFill>
                <a:latin typeface="Calibri"/>
              </a:rPr>
              <a:t> − V</a:t>
            </a:r>
            <a:r>
              <a:rPr sz="2000" b="0" i="0" baseline="-25000">
                <a:solidFill>
                  <a:srgbClr val="23232B"/>
                </a:solidFill>
                <a:latin typeface="Calibri"/>
              </a:rPr>
              <a:t>th</a:t>
            </a:r>
          </a:p>
          <a:p>
            <a:pPr algn="l" marL="274320" indent="-274320">
              <a:lnSpc>
                <a:spcPct val="100000"/>
              </a:lnSpc>
              <a:spcAft>
                <a:spcPts val="1000"/>
              </a:spcAft>
              <a:buClr>
                <a:srgbClr val="00A9CE"/>
              </a:buClr>
              <a:buFont typeface="Arial"/>
              <a:buChar char="•"/>
            </a:pPr>
            <a:r>
              <a:rPr sz="2000" b="0" i="0">
                <a:solidFill>
                  <a:srgbClr val="23232B"/>
                </a:solidFill>
                <a:latin typeface="Calibri"/>
              </a:rPr>
              <a:t>Transmission gate: nMOS + pMOS in parallel, almost constant R</a:t>
            </a:r>
            <a:r>
              <a:rPr sz="2000" b="0" i="0" baseline="-25000">
                <a:solidFill>
                  <a:srgbClr val="23232B"/>
                </a:solidFill>
                <a:latin typeface="Calibri"/>
              </a:rPr>
              <a:t>on</a:t>
            </a:r>
          </a:p>
          <a:p>
            <a:pPr algn="l" marL="274320" indent="-274320">
              <a:lnSpc>
                <a:spcPct val="100000"/>
              </a:lnSpc>
              <a:spcAft>
                <a:spcPts val="1000"/>
              </a:spcAft>
              <a:buClr>
                <a:srgbClr val="00A9CE"/>
              </a:buClr>
              <a:buFont typeface="Arial"/>
              <a:buChar char="•"/>
            </a:pPr>
            <a:r>
              <a:rPr sz="2000" b="0" i="0">
                <a:solidFill>
                  <a:srgbClr val="23232B"/>
                </a:solidFill>
                <a:latin typeface="Calibri"/>
              </a:rPr>
              <a:t>Parts: CD4066, 74HC4066 (R</a:t>
            </a:r>
            <a:r>
              <a:rPr sz="2000" b="0" i="0" baseline="-25000">
                <a:solidFill>
                  <a:srgbClr val="23232B"/>
                </a:solidFill>
                <a:latin typeface="Calibri"/>
              </a:rPr>
              <a:t>on</a:t>
            </a:r>
            <a:r>
              <a:rPr sz="2000" b="0" i="0">
                <a:solidFill>
                  <a:srgbClr val="23232B"/>
                </a:solidFill>
                <a:latin typeface="Calibri"/>
              </a:rPr>
              <a:t> ≈ 50 to 300 Ω), DG4xx; off leakage pA to nA</a:t>
            </a:r>
          </a:p>
          <a:p>
            <a:pPr algn="l" marL="274320" indent="-274320">
              <a:lnSpc>
                <a:spcPct val="100000"/>
              </a:lnSpc>
              <a:spcAft>
                <a:spcPts val="1000"/>
              </a:spcAft>
              <a:buClr>
                <a:srgbClr val="00A9CE"/>
              </a:buClr>
              <a:buFont typeface="Arial"/>
              <a:buChar char="•"/>
            </a:pPr>
            <a:r>
              <a:rPr sz="2000" b="0" i="0">
                <a:solidFill>
                  <a:srgbClr val="23232B"/>
                </a:solidFill>
                <a:latin typeface="Calibri"/>
              </a:rPr>
              <a:t>Falstad Analog Switch: closed above 2.5 V, R</a:t>
            </a:r>
            <a:r>
              <a:rPr sz="2000" b="0" i="0" baseline="-25000">
                <a:solidFill>
                  <a:srgbClr val="23232B"/>
                </a:solidFill>
                <a:latin typeface="Calibri"/>
              </a:rPr>
              <a:t>on</a:t>
            </a:r>
            <a:r>
              <a:rPr sz="2000" b="0" i="0">
                <a:solidFill>
                  <a:srgbClr val="23232B"/>
                </a:solidFill>
                <a:latin typeface="Calibri"/>
              </a:rPr>
              <a:t> 20 Ω, R</a:t>
            </a:r>
            <a:r>
              <a:rPr sz="2000" b="0" i="0" baseline="-25000">
                <a:solidFill>
                  <a:srgbClr val="23232B"/>
                </a:solidFill>
                <a:latin typeface="Calibri"/>
              </a:rPr>
              <a:t>off</a:t>
            </a:r>
            <a:r>
              <a:rPr sz="2000" b="0" i="0">
                <a:solidFill>
                  <a:srgbClr val="23232B"/>
                </a:solidFill>
                <a:latin typeface="Calibri"/>
              </a:rPr>
              <a:t> 10 GΩ</a:t>
            </a:r>
          </a:p>
        </p:txBody>
      </p:sp>
      <p:pic>
        <p:nvPicPr>
          <p:cNvPr id="7"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8"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9"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DESIGNING THE HOLD CAPACITOR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Acquisition: settle to ½ LSB</a:t>
            </a:r>
          </a:p>
        </p:txBody>
      </p:sp>
      <p:sp>
        <p:nvSpPr>
          <p:cNvPr id="4" name="Falstad sh_acquisition">
            <a:hlinkClick r:id="rId2"/>
          </p:cNvPr>
          <p:cNvSpPr/>
          <p:nvPr/>
        </p:nvSpPr>
        <p:spPr>
          <a:xfrm>
            <a:off x="548640" y="5434584"/>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lstad link sh_acquisition">
            <a:hlinkClick r:id="rId2"/>
          </p:cNvPr>
          <p:cNvSpPr txBox="1"/>
          <p:nvPr/>
        </p:nvSpPr>
        <p:spPr>
          <a:xfrm>
            <a:off x="1234440" y="5544312"/>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samplehold/sh_acquisition</a:t>
            </a:r>
          </a:p>
        </p:txBody>
      </p:sp>
      <p:sp>
        <p:nvSpPr>
          <p:cNvPr id="8" name="Falstad hint"/>
          <p:cNvSpPr txBox="1"/>
          <p:nvPr/>
        </p:nvSpPr>
        <p:spPr>
          <a:xfrm>
            <a:off x="1234440" y="5818632"/>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4 V step: 2.53 V after τ, 3.75 V (½ LSB below) after 2.83 ms</a:t>
            </a:r>
          </a:p>
        </p:txBody>
      </p:sp>
      <p:sp>
        <p:nvSpPr>
          <p:cNvPr id="9" name="Bullets"/>
          <p:cNvSpPr txBox="1"/>
          <p:nvPr/>
        </p:nvSpPr>
        <p:spPr>
          <a:xfrm>
            <a:off x="548640" y="1298448"/>
            <a:ext cx="11094415" cy="1645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Charging: τ = (R</a:t>
            </a:r>
            <a:r>
              <a:rPr sz="2000" b="0" i="0" baseline="-25000">
                <a:solidFill>
                  <a:srgbClr val="23232B"/>
                </a:solidFill>
                <a:latin typeface="Calibri"/>
              </a:rPr>
              <a:t>S</a:t>
            </a:r>
            <a:r>
              <a:rPr sz="2000" b="0" i="0">
                <a:solidFill>
                  <a:srgbClr val="23232B"/>
                </a:solidFill>
                <a:latin typeface="Calibri"/>
              </a:rPr>
              <a:t> + R</a:t>
            </a:r>
            <a:r>
              <a:rPr sz="2000" b="0" i="0" baseline="-25000">
                <a:solidFill>
                  <a:srgbClr val="23232B"/>
                </a:solidFill>
                <a:latin typeface="Calibri"/>
              </a:rPr>
              <a:t>on</a:t>
            </a:r>
            <a:r>
              <a:rPr sz="2000" b="0" i="0">
                <a:solidFill>
                  <a:srgbClr val="23232B"/>
                </a:solidFill>
                <a:latin typeface="Calibri"/>
              </a:rPr>
              <a:t>)·C</a:t>
            </a:r>
            <a:r>
              <a:rPr sz="2000" b="0" i="0" baseline="-25000">
                <a:solidFill>
                  <a:srgbClr val="23232B"/>
                </a:solidFill>
                <a:latin typeface="Calibri"/>
              </a:rPr>
              <a:t>H</a:t>
            </a:r>
            <a:r>
              <a:rPr sz="2000" b="0" i="0">
                <a:solidFill>
                  <a:srgbClr val="23232B"/>
                </a:solidFill>
                <a:latin typeface="Calibri"/>
              </a:rPr>
              <a:t>, worst case a full-scale step</a:t>
            </a:r>
          </a:p>
          <a:p>
            <a:pPr algn="l" marL="274320" indent="-274320">
              <a:lnSpc>
                <a:spcPct val="100000"/>
              </a:lnSpc>
              <a:spcAft>
                <a:spcPts val="1000"/>
              </a:spcAft>
              <a:buClr>
                <a:srgbClr val="00A9CE"/>
              </a:buClr>
              <a:buFont typeface="Arial"/>
              <a:buChar char="•"/>
            </a:pPr>
            <a:r>
              <a:rPr sz="2000" b="0" i="0">
                <a:solidFill>
                  <a:srgbClr val="23232B"/>
                </a:solidFill>
                <a:latin typeface="Calibri"/>
              </a:rPr>
              <a:t>N = 3: 2.77·τ; N = 8: 6.2·τ; N = 12: 9.0·τ; N = 16: 11.8·τ</a:t>
            </a:r>
          </a:p>
          <a:p>
            <a:pPr algn="l" marL="274320" indent="-274320">
              <a:lnSpc>
                <a:spcPct val="100000"/>
              </a:lnSpc>
              <a:spcAft>
                <a:spcPts val="1000"/>
              </a:spcAft>
              <a:buClr>
                <a:srgbClr val="00A9CE"/>
              </a:buClr>
              <a:buFont typeface="Arial"/>
              <a:buChar char="•"/>
            </a:pPr>
            <a:r>
              <a:rPr sz="2000" b="0" i="0">
                <a:solidFill>
                  <a:srgbClr val="23232B"/>
                </a:solidFill>
                <a:latin typeface="Calibri"/>
              </a:rPr>
              <a:t>Design rule: t</a:t>
            </a:r>
            <a:r>
              <a:rPr sz="2000" b="0" i="0" baseline="-25000">
                <a:solidFill>
                  <a:srgbClr val="23232B"/>
                </a:solidFill>
                <a:latin typeface="Calibri"/>
              </a:rPr>
              <a:t>acq</a:t>
            </a:r>
            <a:r>
              <a:rPr sz="2000" b="0" i="0">
                <a:solidFill>
                  <a:srgbClr val="23232B"/>
                </a:solidFill>
                <a:latin typeface="Calibri"/>
              </a:rPr>
              <a:t> ≤ t</a:t>
            </a:r>
            <a:r>
              <a:rPr sz="2000" b="0" i="0" baseline="-25000">
                <a:solidFill>
                  <a:srgbClr val="23232B"/>
                </a:solidFill>
                <a:latin typeface="Calibri"/>
              </a:rPr>
              <a:t>track</a:t>
            </a:r>
            <a:r>
              <a:rPr sz="2000" b="0" i="0">
                <a:solidFill>
                  <a:srgbClr val="23232B"/>
                </a:solidFill>
                <a:latin typeface="Calibri"/>
              </a:rPr>
              <a:t>, upper limit for C</a:t>
            </a:r>
            <a:r>
              <a:rPr sz="2000" b="0" i="0" baseline="-25000">
                <a:solidFill>
                  <a:srgbClr val="23232B"/>
                </a:solidFill>
                <a:latin typeface="Calibri"/>
              </a:rPr>
              <a:t>H</a:t>
            </a:r>
          </a:p>
          <a:p>
            <a:pPr algn="l" marL="274320" indent="-274320">
              <a:lnSpc>
                <a:spcPct val="100000"/>
              </a:lnSpc>
              <a:spcAft>
                <a:spcPts val="1000"/>
              </a:spcAft>
              <a:buClr>
                <a:srgbClr val="00A9CE"/>
              </a:buClr>
              <a:buFont typeface="Arial"/>
              <a:buChar char="•"/>
            </a:pPr>
            <a:r>
              <a:rPr sz="2000" b="0" i="0">
                <a:solidFill>
                  <a:srgbClr val="23232B"/>
                </a:solidFill>
                <a:latin typeface="Calibri"/>
              </a:rPr>
              <a:t>Capstone: τ = 1.02 ms, t</a:t>
            </a:r>
            <a:r>
              <a:rPr sz="2000" b="0" i="0" baseline="-25000">
                <a:solidFill>
                  <a:srgbClr val="23232B"/>
                </a:solidFill>
                <a:latin typeface="Calibri"/>
              </a:rPr>
              <a:t>acq</a:t>
            </a:r>
            <a:r>
              <a:rPr sz="2000" b="0" i="0">
                <a:solidFill>
                  <a:srgbClr val="23232B"/>
                </a:solidFill>
                <a:latin typeface="Calibri"/>
              </a:rPr>
              <a:t> = 2.83 ms </a:t>
            </a:r>
            <a:r>
              <a:rPr sz="2000" b="0" i="0">
                <a:solidFill>
                  <a:srgbClr val="23232B"/>
                </a:solidFill>
                <a:latin typeface="Cambria Math"/>
              </a:rPr>
              <a:t>≪</a:t>
            </a:r>
            <a:r>
              <a:rPr sz="2000" b="0" i="0">
                <a:solidFill>
                  <a:srgbClr val="23232B"/>
                </a:solidFill>
                <a:latin typeface="Calibri"/>
              </a:rPr>
              <a:t> 20 ms</a:t>
            </a:r>
          </a:p>
        </p:txBody>
      </p:sp>
      <p:sp>
        <p:nvSpPr>
          <p:cNvPr id="10" name="Key rule"/>
          <p:cNvSpPr/>
          <p:nvPr/>
        </p:nvSpPr>
        <p:spPr>
          <a:xfrm>
            <a:off x="548640" y="3264408"/>
            <a:ext cx="11094415"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Key rule label"/>
          <p:cNvSpPr txBox="1"/>
          <p:nvPr/>
        </p:nvSpPr>
        <p:spPr>
          <a:xfrm>
            <a:off x="777240" y="3374136"/>
            <a:ext cx="10637215"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2" name="Key rule text"/>
          <p:cNvSpPr txBox="1"/>
          <p:nvPr/>
        </p:nvSpPr>
        <p:spPr>
          <a:xfrm>
            <a:off x="777240" y="3648456"/>
            <a:ext cx="10637215"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t</a:t>
            </a:r>
            <a:r>
              <a:rPr sz="1700" b="1" i="0" baseline="-25000">
                <a:solidFill>
                  <a:srgbClr val="4E2A8C"/>
                </a:solidFill>
                <a:latin typeface="Calibri"/>
              </a:rPr>
              <a:t>acq</a:t>
            </a:r>
            <a:r>
              <a:rPr sz="1700" b="1" i="0">
                <a:solidFill>
                  <a:srgbClr val="4E2A8C"/>
                </a:solidFill>
                <a:latin typeface="Calibri"/>
              </a:rPr>
              <a:t> = τ·ln(2</a:t>
            </a:r>
            <a:r>
              <a:rPr sz="1700" b="1" i="0" baseline="30000">
                <a:solidFill>
                  <a:srgbClr val="4E2A8C"/>
                </a:solidFill>
                <a:latin typeface="Calibri"/>
              </a:rPr>
              <a:t>N+1</a:t>
            </a:r>
            <a:r>
              <a:rPr sz="1700" b="1" i="0">
                <a:solidFill>
                  <a:srgbClr val="4E2A8C"/>
                </a:solidFill>
                <a:latin typeface="Calibri"/>
              </a:rPr>
              <a:t>) ≈ 0.69·(N+1)·τ</a:t>
            </a:r>
          </a:p>
        </p:txBody>
      </p:sp>
      <p:pic>
        <p:nvPicPr>
          <p:cNvPr id="13"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4"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DESIGNING THE HOLD CAPACITOR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Droop: losing charge in hold</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droop-losing-charge-in-the-hold-phase-1.png"/>
          <p:cNvPicPr>
            <a:picLocks noChangeAspect="1"/>
          </p:cNvPicPr>
          <p:nvPr/>
        </p:nvPicPr>
        <p:blipFill>
          <a:blip r:embed="rId2"/>
          <a:stretch>
            <a:fillRect/>
          </a:stretch>
        </p:blipFill>
        <p:spPr>
          <a:xfrm>
            <a:off x="6876288" y="2841156"/>
            <a:ext cx="4565599" cy="1760903"/>
          </a:xfrm>
          <a:prstGeom prst="rect">
            <a:avLst/>
          </a:prstGeom>
        </p:spPr>
      </p:pic>
      <p:sp>
        <p:nvSpPr>
          <p:cNvPr id="6" name="Bullets"/>
          <p:cNvSpPr txBox="1"/>
          <p:nvPr/>
        </p:nvSpPr>
        <p:spPr>
          <a:xfrm>
            <a:off x="548640" y="1298448"/>
            <a:ext cx="5806440" cy="19507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Leakage: open switch, dielectric, buffer bias current, PCB surface</a:t>
            </a:r>
          </a:p>
          <a:p>
            <a:pPr algn="l" marL="274320" indent="-274320">
              <a:lnSpc>
                <a:spcPct val="100000"/>
              </a:lnSpc>
              <a:spcAft>
                <a:spcPts val="1000"/>
              </a:spcAft>
              <a:buClr>
                <a:srgbClr val="00A9CE"/>
              </a:buClr>
              <a:buFont typeface="Arial"/>
              <a:buChar char="•"/>
            </a:pPr>
            <a:r>
              <a:rPr sz="2000" b="0" i="0">
                <a:solidFill>
                  <a:srgbClr val="23232B"/>
                </a:solidFill>
                <a:latin typeface="Calibri"/>
              </a:rPr>
              <a:t>Droop rate dV</a:t>
            </a:r>
            <a:r>
              <a:rPr sz="2000" b="0" i="0" baseline="-25000">
                <a:solidFill>
                  <a:srgbClr val="23232B"/>
                </a:solidFill>
                <a:latin typeface="Calibri"/>
              </a:rPr>
              <a:t>H</a:t>
            </a:r>
            <a:r>
              <a:rPr sz="2000" b="0" i="0">
                <a:solidFill>
                  <a:srgbClr val="23232B"/>
                </a:solidFill>
                <a:latin typeface="Calibri"/>
              </a:rPr>
              <a:t>/dt = I</a:t>
            </a:r>
            <a:r>
              <a:rPr sz="2000" b="0" i="0" baseline="-25000">
                <a:solidFill>
                  <a:srgbClr val="23232B"/>
                </a:solidFill>
                <a:latin typeface="Calibri"/>
              </a:rPr>
              <a:t>leak</a:t>
            </a:r>
            <a:r>
              <a:rPr sz="2000" b="0" i="0">
                <a:solidFill>
                  <a:srgbClr val="23232B"/>
                </a:solidFill>
                <a:latin typeface="Calibri"/>
              </a:rPr>
              <a:t>/C</a:t>
            </a:r>
            <a:r>
              <a:rPr sz="2000" b="0" i="0" baseline="-25000">
                <a:solidFill>
                  <a:srgbClr val="23232B"/>
                </a:solidFill>
                <a:latin typeface="Calibri"/>
              </a:rPr>
              <a:t>H</a:t>
            </a:r>
          </a:p>
          <a:p>
            <a:pPr algn="l" marL="274320" indent="-274320">
              <a:lnSpc>
                <a:spcPct val="100000"/>
              </a:lnSpc>
              <a:spcAft>
                <a:spcPts val="1000"/>
              </a:spcAft>
              <a:buClr>
                <a:srgbClr val="00A9CE"/>
              </a:buClr>
              <a:buFont typeface="Arial"/>
              <a:buChar char="•"/>
            </a:pPr>
            <a:r>
              <a:rPr sz="2000" b="0" i="0">
                <a:solidFill>
                  <a:srgbClr val="23232B"/>
                </a:solidFill>
                <a:latin typeface="Calibri"/>
              </a:rPr>
              <a:t>t</a:t>
            </a:r>
            <a:r>
              <a:rPr sz="2000" b="0" i="0" baseline="-25000">
                <a:solidFill>
                  <a:srgbClr val="23232B"/>
                </a:solidFill>
                <a:latin typeface="Calibri"/>
              </a:rPr>
              <a:t>hold</a:t>
            </a:r>
            <a:r>
              <a:rPr sz="2000" b="0" i="0">
                <a:solidFill>
                  <a:srgbClr val="23232B"/>
                </a:solidFill>
                <a:latin typeface="Calibri"/>
              </a:rPr>
              <a:t>: worst case the whole period T</a:t>
            </a:r>
            <a:r>
              <a:rPr sz="2000" b="0" i="0" baseline="-25000">
                <a:solidFill>
                  <a:srgbClr val="23232B"/>
                </a:solidFill>
                <a:latin typeface="Calibri"/>
              </a:rPr>
              <a:t>s</a:t>
            </a:r>
            <a:r>
              <a:rPr sz="2000" b="0" i="0">
                <a:solidFill>
                  <a:srgbClr val="23232B"/>
                </a:solidFill>
                <a:latin typeface="Calibri"/>
              </a:rPr>
              <a:t> − t</a:t>
            </a:r>
            <a:r>
              <a:rPr sz="2000" b="0" i="0" baseline="-25000">
                <a:solidFill>
                  <a:srgbClr val="23232B"/>
                </a:solidFill>
                <a:latin typeface="Calibri"/>
              </a:rPr>
              <a:t>track</a:t>
            </a:r>
          </a:p>
          <a:p>
            <a:pPr algn="l" marL="274320" indent="-274320">
              <a:lnSpc>
                <a:spcPct val="100000"/>
              </a:lnSpc>
              <a:spcAft>
                <a:spcPts val="1000"/>
              </a:spcAft>
              <a:buClr>
                <a:srgbClr val="00A9CE"/>
              </a:buClr>
              <a:buFont typeface="Arial"/>
              <a:buChar char="•"/>
            </a:pPr>
            <a:r>
              <a:rPr sz="2000" b="0" i="0">
                <a:solidFill>
                  <a:srgbClr val="23232B"/>
                </a:solidFill>
                <a:latin typeface="Calibri"/>
              </a:rPr>
              <a:t>Design rule gives the lower limit for C</a:t>
            </a:r>
            <a:r>
              <a:rPr sz="2000" b="0" i="0" baseline="-25000">
                <a:solidFill>
                  <a:srgbClr val="23232B"/>
                </a:solidFill>
                <a:latin typeface="Calibri"/>
              </a:rPr>
              <a:t>H</a:t>
            </a:r>
          </a:p>
        </p:txBody>
      </p:sp>
      <p:sp>
        <p:nvSpPr>
          <p:cNvPr id="7" name="Key rule"/>
          <p:cNvSpPr/>
          <p:nvPr/>
        </p:nvSpPr>
        <p:spPr>
          <a:xfrm>
            <a:off x="548640" y="35692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36789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39532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C</a:t>
            </a:r>
            <a:r>
              <a:rPr sz="1700" b="1" i="0" baseline="-25000">
                <a:solidFill>
                  <a:srgbClr val="4E2A8C"/>
                </a:solidFill>
                <a:latin typeface="Calibri"/>
              </a:rPr>
              <a:t>H</a:t>
            </a:r>
            <a:r>
              <a:rPr sz="1700" b="1" i="0">
                <a:solidFill>
                  <a:srgbClr val="4E2A8C"/>
                </a:solidFill>
                <a:latin typeface="Calibri"/>
              </a:rPr>
              <a:t> ≥ I</a:t>
            </a:r>
            <a:r>
              <a:rPr sz="1700" b="1" i="0" baseline="-25000">
                <a:solidFill>
                  <a:srgbClr val="4E2A8C"/>
                </a:solidFill>
                <a:latin typeface="Calibri"/>
              </a:rPr>
              <a:t>leak</a:t>
            </a:r>
            <a:r>
              <a:rPr sz="1700" b="1" i="0">
                <a:solidFill>
                  <a:srgbClr val="4E2A8C"/>
                </a:solidFill>
                <a:latin typeface="Calibri"/>
              </a:rPr>
              <a:t>·t</a:t>
            </a:r>
            <a:r>
              <a:rPr sz="1700" b="1" i="0" baseline="-25000">
                <a:solidFill>
                  <a:srgbClr val="4E2A8C"/>
                </a:solidFill>
                <a:latin typeface="Calibri"/>
              </a:rPr>
              <a:t>hold</a:t>
            </a:r>
            <a:r>
              <a:rPr sz="1700" b="1" i="0">
                <a:solidFill>
                  <a:srgbClr val="4E2A8C"/>
                </a:solidFill>
                <a:latin typeface="Calibri"/>
              </a:rPr>
              <a:t>/ΔV</a:t>
            </a:r>
            <a:r>
              <a:rPr sz="1700" b="1" i="0" baseline="-25000">
                <a:solidFill>
                  <a:srgbClr val="4E2A8C"/>
                </a:solidFill>
                <a:latin typeface="Calibri"/>
              </a:rPr>
              <a:t>max</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DESIGNING THE HOLD CAPACITOR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too small, right, too large</a:t>
            </a:r>
          </a:p>
        </p:txBody>
      </p:sp>
      <p:sp>
        <p:nvSpPr>
          <p:cNvPr id="4" name="Label"/>
          <p:cNvSpPr txBox="1"/>
          <p:nvPr/>
        </p:nvSpPr>
        <p:spPr>
          <a:xfrm>
            <a:off x="548640" y="1298448"/>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5" name="Falstad sh_capsize">
            <a:hlinkClick r:id="rId2"/>
          </p:cNvPr>
          <p:cNvSpPr/>
          <p:nvPr/>
        </p:nvSpPr>
        <p:spPr>
          <a:xfrm>
            <a:off x="548640" y="17099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a:off x="694944"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rot="5400000">
            <a:off x="832103"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lstad link sh_capsize">
            <a:hlinkClick r:id="rId2"/>
          </p:cNvPr>
          <p:cNvSpPr txBox="1"/>
          <p:nvPr/>
        </p:nvSpPr>
        <p:spPr>
          <a:xfrm>
            <a:off x="1234440" y="1819655"/>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samplehold/sh_capsize</a:t>
            </a:r>
          </a:p>
        </p:txBody>
      </p:sp>
      <p:sp>
        <p:nvSpPr>
          <p:cNvPr id="9" name="Falstad hint"/>
          <p:cNvSpPr txBox="1"/>
          <p:nvPr/>
        </p:nvSpPr>
        <p:spPr>
          <a:xfrm>
            <a:off x="1234440" y="20939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3 V input, 50 nA leakage: compare 10 nF, 1 µF and 100 µF</a:t>
            </a:r>
          </a:p>
        </p:txBody>
      </p:sp>
      <p:sp>
        <p:nvSpPr>
          <p:cNvPr id="10" name="Label"/>
          <p:cNvSpPr txBox="1"/>
          <p:nvPr/>
        </p:nvSpPr>
        <p:spPr>
          <a:xfrm>
            <a:off x="548640" y="2785872"/>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1" name="Observe"/>
          <p:cNvSpPr txBox="1"/>
          <p:nvPr/>
        </p:nvSpPr>
        <p:spPr>
          <a:xfrm>
            <a:off x="548640" y="3197352"/>
            <a:ext cx="1109441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10 nF: charges fully, but droops 3.00 V → 2.10 V per hold</a:t>
            </a:r>
          </a:p>
          <a:p>
            <a:pPr algn="l" marL="274320" indent="-274320">
              <a:lnSpc>
                <a:spcPct val="100000"/>
              </a:lnSpc>
              <a:spcAft>
                <a:spcPts val="1000"/>
              </a:spcAft>
              <a:buClr>
                <a:srgbClr val="00A9CE"/>
              </a:buClr>
              <a:buFont typeface="Arial"/>
              <a:buChar char="•"/>
            </a:pPr>
            <a:r>
              <a:rPr sz="1800" b="0" i="0">
                <a:solidFill>
                  <a:srgbClr val="23232B"/>
                </a:solidFill>
                <a:latin typeface="Calibri"/>
              </a:rPr>
              <a:t>1 µF: 3.00 V → 2.99 V, the right choice</a:t>
            </a:r>
          </a:p>
          <a:p>
            <a:pPr algn="l" marL="274320" indent="-274320">
              <a:lnSpc>
                <a:spcPct val="100000"/>
              </a:lnSpc>
              <a:spcAft>
                <a:spcPts val="1000"/>
              </a:spcAft>
              <a:buClr>
                <a:srgbClr val="00A9CE"/>
              </a:buClr>
              <a:buFont typeface="Arial"/>
              <a:buChar char="•"/>
            </a:pPr>
            <a:r>
              <a:rPr sz="1800" b="0" i="0">
                <a:solidFill>
                  <a:srgbClr val="23232B"/>
                </a:solidFill>
                <a:latin typeface="Calibri"/>
              </a:rPr>
              <a:t>100 µF: only 18 % per sample, 1.88 V after five samples</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DESIGNING THE HOLD CAPACITOR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Design recipe: hold capacitor</a:t>
            </a:r>
          </a:p>
        </p:txBody>
      </p:sp>
      <p:sp>
        <p:nvSpPr>
          <p:cNvPr id="4" name="Step 1"/>
          <p:cNvSpPr/>
          <p:nvPr/>
        </p:nvSpPr>
        <p:spPr>
          <a:xfrm>
            <a:off x="548640" y="1344168"/>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44168"/>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1</a:t>
            </a:r>
          </a:p>
        </p:txBody>
      </p:sp>
      <p:sp>
        <p:nvSpPr>
          <p:cNvPr id="6" name="Step text 1"/>
          <p:cNvSpPr txBox="1"/>
          <p:nvPr/>
        </p:nvSpPr>
        <p:spPr>
          <a:xfrm>
            <a:off x="1280160" y="1429512"/>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Track window t</a:t>
            </a:r>
            <a:r>
              <a:rPr sz="2000" b="0" i="0" baseline="-25000">
                <a:solidFill>
                  <a:srgbClr val="23232B"/>
                </a:solidFill>
                <a:latin typeface="Calibri"/>
              </a:rPr>
              <a:t>track</a:t>
            </a:r>
            <a:r>
              <a:rPr sz="2000" b="0" i="0">
                <a:solidFill>
                  <a:srgbClr val="23232B"/>
                </a:solidFill>
                <a:latin typeface="Calibri"/>
              </a:rPr>
              <a:t> = D·T</a:t>
            </a:r>
            <a:r>
              <a:rPr sz="2000" b="0" i="0" baseline="-25000">
                <a:solidFill>
                  <a:srgbClr val="23232B"/>
                </a:solidFill>
                <a:latin typeface="Calibri"/>
              </a:rPr>
              <a:t>s</a:t>
            </a:r>
            <a:r>
              <a:rPr sz="2000" b="0" i="0">
                <a:solidFill>
                  <a:srgbClr val="23232B"/>
                </a:solidFill>
                <a:latin typeface="Calibri"/>
              </a:rPr>
              <a:t> (capstone: 5 Hz, 10 %: 20 ms)</a:t>
            </a:r>
          </a:p>
        </p:txBody>
      </p:sp>
      <p:sp>
        <p:nvSpPr>
          <p:cNvPr id="7" name="Step 2"/>
          <p:cNvSpPr/>
          <p:nvPr/>
        </p:nvSpPr>
        <p:spPr>
          <a:xfrm>
            <a:off x="548640" y="2112263"/>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12263"/>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2</a:t>
            </a:r>
          </a:p>
        </p:txBody>
      </p:sp>
      <p:sp>
        <p:nvSpPr>
          <p:cNvPr id="9" name="Step text 2"/>
          <p:cNvSpPr txBox="1"/>
          <p:nvPr/>
        </p:nvSpPr>
        <p:spPr>
          <a:xfrm>
            <a:off x="1280160" y="2197608"/>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Upper limit: C</a:t>
            </a:r>
            <a:r>
              <a:rPr sz="2000" b="0" i="0" baseline="-25000">
                <a:solidFill>
                  <a:srgbClr val="23232B"/>
                </a:solidFill>
                <a:latin typeface="Calibri"/>
              </a:rPr>
              <a:t>H</a:t>
            </a:r>
            <a:r>
              <a:rPr sz="2000" b="0" i="0">
                <a:solidFill>
                  <a:srgbClr val="23232B"/>
                </a:solidFill>
                <a:latin typeface="Calibri"/>
              </a:rPr>
              <a:t> ≤ t</a:t>
            </a:r>
            <a:r>
              <a:rPr sz="2000" b="0" i="0" baseline="-25000">
                <a:solidFill>
                  <a:srgbClr val="23232B"/>
                </a:solidFill>
                <a:latin typeface="Calibri"/>
              </a:rPr>
              <a:t>track</a:t>
            </a:r>
            <a:r>
              <a:rPr sz="2000" b="0" i="0">
                <a:solidFill>
                  <a:srgbClr val="23232B"/>
                </a:solidFill>
                <a:latin typeface="Calibri"/>
              </a:rPr>
              <a:t>/((R</a:t>
            </a:r>
            <a:r>
              <a:rPr sz="2000" b="0" i="0" baseline="-25000">
                <a:solidFill>
                  <a:srgbClr val="23232B"/>
                </a:solidFill>
                <a:latin typeface="Calibri"/>
              </a:rPr>
              <a:t>S</a:t>
            </a:r>
            <a:r>
              <a:rPr sz="2000" b="0" i="0">
                <a:solidFill>
                  <a:srgbClr val="23232B"/>
                </a:solidFill>
                <a:latin typeface="Calibri"/>
              </a:rPr>
              <a:t> + R</a:t>
            </a:r>
            <a:r>
              <a:rPr sz="2000" b="0" i="0" baseline="-25000">
                <a:solidFill>
                  <a:srgbClr val="23232B"/>
                </a:solidFill>
                <a:latin typeface="Calibri"/>
              </a:rPr>
              <a:t>on</a:t>
            </a:r>
            <a:r>
              <a:rPr sz="2000" b="0" i="0">
                <a:solidFill>
                  <a:srgbClr val="23232B"/>
                </a:solidFill>
                <a:latin typeface="Calibri"/>
              </a:rPr>
              <a:t>)·ln 2</a:t>
            </a:r>
            <a:r>
              <a:rPr sz="2000" b="0" i="0" baseline="30000">
                <a:solidFill>
                  <a:srgbClr val="23232B"/>
                </a:solidFill>
                <a:latin typeface="Calibri"/>
              </a:rPr>
              <a:t>N+1</a:t>
            </a:r>
            <a:r>
              <a:rPr sz="2000" b="0" i="0">
                <a:solidFill>
                  <a:srgbClr val="23232B"/>
                </a:solidFill>
                <a:latin typeface="Calibri"/>
              </a:rPr>
              <a:t>) = 7.1 µF</a:t>
            </a:r>
          </a:p>
        </p:txBody>
      </p:sp>
      <p:sp>
        <p:nvSpPr>
          <p:cNvPr id="10" name="Step 3"/>
          <p:cNvSpPr/>
          <p:nvPr/>
        </p:nvSpPr>
        <p:spPr>
          <a:xfrm>
            <a:off x="548640" y="2880359"/>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880359"/>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3</a:t>
            </a:r>
          </a:p>
        </p:txBody>
      </p:sp>
      <p:sp>
        <p:nvSpPr>
          <p:cNvPr id="12" name="Step text 3"/>
          <p:cNvSpPr txBox="1"/>
          <p:nvPr/>
        </p:nvSpPr>
        <p:spPr>
          <a:xfrm>
            <a:off x="1280160" y="2965704"/>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Lower limit: C</a:t>
            </a:r>
            <a:r>
              <a:rPr sz="2000" b="0" i="0" baseline="-25000">
                <a:solidFill>
                  <a:srgbClr val="23232B"/>
                </a:solidFill>
                <a:latin typeface="Calibri"/>
              </a:rPr>
              <a:t>H</a:t>
            </a:r>
            <a:r>
              <a:rPr sz="2000" b="0" i="0">
                <a:solidFill>
                  <a:srgbClr val="23232B"/>
                </a:solidFill>
                <a:latin typeface="Calibri"/>
              </a:rPr>
              <a:t> ≥ I</a:t>
            </a:r>
            <a:r>
              <a:rPr sz="2000" b="0" i="0" baseline="-25000">
                <a:solidFill>
                  <a:srgbClr val="23232B"/>
                </a:solidFill>
                <a:latin typeface="Calibri"/>
              </a:rPr>
              <a:t>leak</a:t>
            </a:r>
            <a:r>
              <a:rPr sz="2000" b="0" i="0">
                <a:solidFill>
                  <a:srgbClr val="23232B"/>
                </a:solidFill>
                <a:latin typeface="Calibri"/>
              </a:rPr>
              <a:t>·t</a:t>
            </a:r>
            <a:r>
              <a:rPr sz="2000" b="0" i="0" baseline="-25000">
                <a:solidFill>
                  <a:srgbClr val="23232B"/>
                </a:solidFill>
                <a:latin typeface="Calibri"/>
              </a:rPr>
              <a:t>hold</a:t>
            </a:r>
            <a:r>
              <a:rPr sz="2000" b="0" i="0">
                <a:solidFill>
                  <a:srgbClr val="23232B"/>
                </a:solidFill>
                <a:latin typeface="Calibri"/>
              </a:rPr>
              <a:t>/ΔV</a:t>
            </a:r>
            <a:r>
              <a:rPr sz="2000" b="0" i="0" baseline="-25000">
                <a:solidFill>
                  <a:srgbClr val="23232B"/>
                </a:solidFill>
                <a:latin typeface="Calibri"/>
              </a:rPr>
              <a:t>max</a:t>
            </a:r>
            <a:r>
              <a:rPr sz="2000" b="0" i="0">
                <a:solidFill>
                  <a:srgbClr val="23232B"/>
                </a:solidFill>
                <a:latin typeface="Calibri"/>
              </a:rPr>
              <a:t> = 36 nF (10 nA, 50 mV)</a:t>
            </a:r>
          </a:p>
        </p:txBody>
      </p:sp>
      <p:sp>
        <p:nvSpPr>
          <p:cNvPr id="13" name="Step 4"/>
          <p:cNvSpPr/>
          <p:nvPr/>
        </p:nvSpPr>
        <p:spPr>
          <a:xfrm>
            <a:off x="548640" y="3648455"/>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48455"/>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4</a:t>
            </a:r>
          </a:p>
        </p:txBody>
      </p:sp>
      <p:sp>
        <p:nvSpPr>
          <p:cNvPr id="15" name="Step text 4"/>
          <p:cNvSpPr txBox="1"/>
          <p:nvPr/>
        </p:nvSpPr>
        <p:spPr>
          <a:xfrm>
            <a:off x="1280160" y="3733799"/>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Pick the geometric middle: C</a:t>
            </a:r>
            <a:r>
              <a:rPr sz="2000" b="0" i="0" baseline="-25000">
                <a:solidFill>
                  <a:srgbClr val="23232B"/>
                </a:solidFill>
                <a:latin typeface="Calibri"/>
              </a:rPr>
              <a:t>H</a:t>
            </a:r>
            <a:r>
              <a:rPr sz="2000" b="0" i="0">
                <a:solidFill>
                  <a:srgbClr val="23232B"/>
                </a:solidFill>
                <a:latin typeface="Calibri"/>
              </a:rPr>
              <a:t> = 1 µF, safety factor ≈ 7 each side</a:t>
            </a:r>
          </a:p>
        </p:txBody>
      </p:sp>
      <p:sp>
        <p:nvSpPr>
          <p:cNvPr id="16" name="Step 5"/>
          <p:cNvSpPr/>
          <p:nvPr/>
        </p:nvSpPr>
        <p:spPr>
          <a:xfrm>
            <a:off x="548640" y="4416551"/>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416551"/>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5</a:t>
            </a:r>
          </a:p>
        </p:txBody>
      </p:sp>
      <p:sp>
        <p:nvSpPr>
          <p:cNvPr id="18" name="Step text 5"/>
          <p:cNvSpPr txBox="1"/>
          <p:nvPr/>
        </p:nvSpPr>
        <p:spPr>
          <a:xfrm>
            <a:off x="1280160" y="4501896"/>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Use PP, PS film or C0G; never electrolytic capacitors</a:t>
            </a:r>
          </a:p>
        </p:txBody>
      </p:sp>
      <p:pic>
        <p:nvPicPr>
          <p:cNvPr id="19"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2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2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ERRORS OF A REAL SAMPLE AND HOLD</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Charge injection (pedestal)</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charge-injection-pedestal-1.png"/>
          <p:cNvPicPr>
            <a:picLocks noChangeAspect="1"/>
          </p:cNvPicPr>
          <p:nvPr/>
        </p:nvPicPr>
        <p:blipFill>
          <a:blip r:embed="rId2"/>
          <a:stretch>
            <a:fillRect/>
          </a:stretch>
        </p:blipFill>
        <p:spPr>
          <a:xfrm>
            <a:off x="6876288" y="2771009"/>
            <a:ext cx="4565599" cy="1901197"/>
          </a:xfrm>
          <a:prstGeom prst="rect">
            <a:avLst/>
          </a:prstGeom>
        </p:spPr>
      </p:pic>
      <p:sp>
        <p:nvSpPr>
          <p:cNvPr id="6" name="Falstad sh_pedestal">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sh_pedestal">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samplehold/sh_pedestal</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2 V input: Vhold_1n drops to 1.9505 V, Vhold_100n to 1.9995 V</a:t>
            </a:r>
          </a:p>
        </p:txBody>
      </p:sp>
      <p:sp>
        <p:nvSpPr>
          <p:cNvPr id="11" name="Bullets"/>
          <p:cNvSpPr txBox="1"/>
          <p:nvPr/>
        </p:nvSpPr>
        <p:spPr>
          <a:xfrm>
            <a:off x="548640" y="1298448"/>
            <a:ext cx="5806440" cy="25603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Clock step couples through C</a:t>
            </a:r>
            <a:r>
              <a:rPr sz="2000" b="0" i="0" baseline="-25000">
                <a:solidFill>
                  <a:srgbClr val="23232B"/>
                </a:solidFill>
                <a:latin typeface="Calibri"/>
              </a:rPr>
              <a:t>gd</a:t>
            </a:r>
            <a:r>
              <a:rPr sz="2000" b="0" i="0">
                <a:solidFill>
                  <a:srgbClr val="23232B"/>
                </a:solidFill>
                <a:latin typeface="Calibri"/>
              </a:rPr>
              <a:t> onto the hold node</a:t>
            </a:r>
          </a:p>
          <a:p>
            <a:pPr algn="l" marL="274320" indent="-274320">
              <a:lnSpc>
                <a:spcPct val="100000"/>
              </a:lnSpc>
              <a:spcAft>
                <a:spcPts val="1000"/>
              </a:spcAft>
              <a:buClr>
                <a:srgbClr val="00A9CE"/>
              </a:buClr>
              <a:buFont typeface="Arial"/>
              <a:buChar char="•"/>
            </a:pPr>
            <a:r>
              <a:rPr sz="2000" b="0" i="0">
                <a:solidFill>
                  <a:srgbClr val="23232B"/>
                </a:solidFill>
                <a:latin typeface="Calibri"/>
              </a:rPr>
              <a:t>C</a:t>
            </a:r>
            <a:r>
              <a:rPr sz="2000" b="0" i="0" baseline="-25000">
                <a:solidFill>
                  <a:srgbClr val="23232B"/>
                </a:solidFill>
                <a:latin typeface="Calibri"/>
              </a:rPr>
              <a:t>gd</a:t>
            </a:r>
            <a:r>
              <a:rPr sz="2000" b="0" i="0">
                <a:solidFill>
                  <a:srgbClr val="23232B"/>
                </a:solidFill>
                <a:latin typeface="Calibri"/>
              </a:rPr>
              <a:t> = 10 pF, 5 V: −49.5 mV with 1 nF, −0.5 mV with 100 nF</a:t>
            </a:r>
          </a:p>
          <a:p>
            <a:pPr algn="l" marL="274320" indent="-274320">
              <a:lnSpc>
                <a:spcPct val="100000"/>
              </a:lnSpc>
              <a:spcAft>
                <a:spcPts val="1000"/>
              </a:spcAft>
              <a:buClr>
                <a:srgbClr val="00A9CE"/>
              </a:buClr>
              <a:buFont typeface="Arial"/>
              <a:buChar char="•"/>
            </a:pPr>
            <a:r>
              <a:rPr sz="2000" b="0" i="0">
                <a:solidFill>
                  <a:srgbClr val="23232B"/>
                </a:solidFill>
                <a:latin typeface="Calibri"/>
              </a:rPr>
              <a:t>Constant part can be calibrated, signal-dependent part cannot</a:t>
            </a:r>
          </a:p>
          <a:p>
            <a:pPr algn="l" marL="274320" indent="-274320">
              <a:lnSpc>
                <a:spcPct val="100000"/>
              </a:lnSpc>
              <a:spcAft>
                <a:spcPts val="1000"/>
              </a:spcAft>
              <a:buClr>
                <a:srgbClr val="00A9CE"/>
              </a:buClr>
              <a:buFont typeface="Arial"/>
              <a:buChar char="•"/>
            </a:pPr>
            <a:r>
              <a:rPr sz="2000" b="0" i="0">
                <a:solidFill>
                  <a:srgbClr val="23232B"/>
                </a:solidFill>
                <a:latin typeface="Calibri"/>
              </a:rPr>
              <a:t>Remedies: larger C</a:t>
            </a:r>
            <a:r>
              <a:rPr sz="2000" b="0" i="0" baseline="-25000">
                <a:solidFill>
                  <a:srgbClr val="23232B"/>
                </a:solidFill>
                <a:latin typeface="Calibri"/>
              </a:rPr>
              <a:t>H</a:t>
            </a:r>
            <a:r>
              <a:rPr sz="2000" b="0" i="0">
                <a:solidFill>
                  <a:srgbClr val="23232B"/>
                </a:solidFill>
                <a:latin typeface="Calibri"/>
              </a:rPr>
              <a:t>, transmission gate, dummy switch</a:t>
            </a:r>
          </a:p>
        </p:txBody>
      </p:sp>
      <p:sp>
        <p:nvSpPr>
          <p:cNvPr id="12" name="Key rule"/>
          <p:cNvSpPr/>
          <p:nvPr/>
        </p:nvSpPr>
        <p:spPr>
          <a:xfrm>
            <a:off x="548640" y="41788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42885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5628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ΔV</a:t>
            </a:r>
            <a:r>
              <a:rPr sz="1700" b="1" i="0" baseline="-25000">
                <a:solidFill>
                  <a:srgbClr val="4E2A8C"/>
                </a:solidFill>
                <a:latin typeface="Calibri"/>
              </a:rPr>
              <a:t>ped</a:t>
            </a:r>
            <a:r>
              <a:rPr sz="1700" b="1" i="0">
                <a:solidFill>
                  <a:srgbClr val="4E2A8C"/>
                </a:solidFill>
                <a:latin typeface="Calibri"/>
              </a:rPr>
              <a:t> = −ΔV</a:t>
            </a:r>
            <a:r>
              <a:rPr sz="1700" b="1" i="0" baseline="-25000">
                <a:solidFill>
                  <a:srgbClr val="4E2A8C"/>
                </a:solidFill>
                <a:latin typeface="Calibri"/>
              </a:rPr>
              <a:t>clk</a:t>
            </a:r>
            <a:r>
              <a:rPr sz="1700" b="1" i="0">
                <a:solidFill>
                  <a:srgbClr val="4E2A8C"/>
                </a:solidFill>
                <a:latin typeface="Calibri"/>
              </a:rPr>
              <a:t>·C</a:t>
            </a:r>
            <a:r>
              <a:rPr sz="1700" b="1" i="0" baseline="-25000">
                <a:solidFill>
                  <a:srgbClr val="4E2A8C"/>
                </a:solidFill>
                <a:latin typeface="Calibri"/>
              </a:rPr>
              <a:t>gd</a:t>
            </a:r>
            <a:r>
              <a:rPr sz="1700" b="1" i="0">
                <a:solidFill>
                  <a:srgbClr val="4E2A8C"/>
                </a:solidFill>
                <a:latin typeface="Calibri"/>
              </a:rPr>
              <a:t>/(C</a:t>
            </a:r>
            <a:r>
              <a:rPr sz="1700" b="1" i="0" baseline="-25000">
                <a:solidFill>
                  <a:srgbClr val="4E2A8C"/>
                </a:solidFill>
                <a:latin typeface="Calibri"/>
              </a:rPr>
              <a:t>gd</a:t>
            </a:r>
            <a:r>
              <a:rPr sz="1700" b="1" i="0">
                <a:solidFill>
                  <a:srgbClr val="4E2A8C"/>
                </a:solidFill>
                <a:latin typeface="Calibri"/>
              </a:rPr>
              <a:t> + C</a:t>
            </a:r>
            <a:r>
              <a:rPr sz="1700" b="1" i="0" baseline="-25000">
                <a:solidFill>
                  <a:srgbClr val="4E2A8C"/>
                </a:solidFill>
                <a:latin typeface="Calibri"/>
              </a:rPr>
              <a:t>H</a:t>
            </a:r>
            <a:r>
              <a:rPr sz="1700" b="1" i="0">
                <a:solidFill>
                  <a:srgbClr val="4E2A8C"/>
                </a:solidFill>
                <a:latin typeface="Calibri"/>
              </a:rPr>
              <a:t>) ≈ −Q</a:t>
            </a:r>
            <a:r>
              <a:rPr sz="1700" b="1" i="0" baseline="-25000">
                <a:solidFill>
                  <a:srgbClr val="4E2A8C"/>
                </a:solidFill>
                <a:latin typeface="Calibri"/>
              </a:rPr>
              <a:t>inj</a:t>
            </a:r>
            <a:r>
              <a:rPr sz="1700" b="1" i="0">
                <a:solidFill>
                  <a:srgbClr val="4E2A8C"/>
                </a:solidFill>
                <a:latin typeface="Calibri"/>
              </a:rPr>
              <a:t>/C</a:t>
            </a:r>
            <a:r>
              <a:rPr sz="1700" b="1" i="0" baseline="-25000">
                <a:solidFill>
                  <a:srgbClr val="4E2A8C"/>
                </a:solidFill>
                <a:latin typeface="Calibri"/>
              </a:rPr>
              <a:t>H</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ERRORS OF A REAL SAMPLE AND HOLD</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Feedthrough, aperture and jitter</a:t>
            </a:r>
          </a:p>
        </p:txBody>
      </p:sp>
      <p:sp>
        <p:nvSpPr>
          <p:cNvPr id="4" name="Bullets"/>
          <p:cNvSpPr txBox="1"/>
          <p:nvPr/>
        </p:nvSpPr>
        <p:spPr>
          <a:xfrm>
            <a:off x="548640" y="1298448"/>
            <a:ext cx="11094415" cy="1645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Feedthrough: C</a:t>
            </a:r>
            <a:r>
              <a:rPr sz="2000" b="0" i="0" baseline="-25000">
                <a:solidFill>
                  <a:srgbClr val="23232B"/>
                </a:solidFill>
                <a:latin typeface="Calibri"/>
              </a:rPr>
              <a:t>ds</a:t>
            </a:r>
            <a:r>
              <a:rPr sz="2000" b="0" i="0">
                <a:solidFill>
                  <a:srgbClr val="23232B"/>
                </a:solidFill>
                <a:latin typeface="Calibri"/>
              </a:rPr>
              <a:t> of the open switch couples V</a:t>
            </a:r>
            <a:r>
              <a:rPr sz="2000" b="0" i="0" baseline="-25000">
                <a:solidFill>
                  <a:srgbClr val="23232B"/>
                </a:solidFill>
                <a:latin typeface="Calibri"/>
              </a:rPr>
              <a:t>in</a:t>
            </a:r>
            <a:r>
              <a:rPr sz="2000" b="0" i="0">
                <a:solidFill>
                  <a:srgbClr val="23232B"/>
                </a:solidFill>
                <a:latin typeface="Calibri"/>
              </a:rPr>
              <a:t> to C</a:t>
            </a:r>
            <a:r>
              <a:rPr sz="2000" b="0" i="0" baseline="-25000">
                <a:solidFill>
                  <a:srgbClr val="23232B"/>
                </a:solidFill>
                <a:latin typeface="Calibri"/>
              </a:rPr>
              <a:t>H</a:t>
            </a:r>
          </a:p>
          <a:p>
            <a:pPr algn="l" marL="274320" indent="-274320">
              <a:lnSpc>
                <a:spcPct val="100000"/>
              </a:lnSpc>
              <a:spcAft>
                <a:spcPts val="1000"/>
              </a:spcAft>
              <a:buClr>
                <a:srgbClr val="00A9CE"/>
              </a:buClr>
              <a:buFont typeface="Arial"/>
              <a:buChar char="•"/>
            </a:pPr>
            <a:r>
              <a:rPr sz="2000" b="0" i="0">
                <a:solidFill>
                  <a:srgbClr val="23232B"/>
                </a:solidFill>
                <a:latin typeface="Calibri"/>
              </a:rPr>
              <a:t>Aperture delay: constant, only shifts the sampling instant</a:t>
            </a:r>
          </a:p>
          <a:p>
            <a:pPr algn="l" marL="274320" indent="-274320">
              <a:lnSpc>
                <a:spcPct val="100000"/>
              </a:lnSpc>
              <a:spcAft>
                <a:spcPts val="1000"/>
              </a:spcAft>
              <a:buClr>
                <a:srgbClr val="00A9CE"/>
              </a:buClr>
              <a:buFont typeface="Arial"/>
              <a:buChar char="•"/>
            </a:pPr>
            <a:r>
              <a:rPr sz="2000" b="0" i="0">
                <a:solidFill>
                  <a:srgbClr val="23232B"/>
                </a:solidFill>
                <a:latin typeface="Calibri"/>
              </a:rPr>
              <a:t>Aperture jitter: error ΔV = (dV/dt)·t</a:t>
            </a:r>
            <a:r>
              <a:rPr sz="2000" b="0" i="0" baseline="-25000">
                <a:solidFill>
                  <a:srgbClr val="23232B"/>
                </a:solidFill>
                <a:latin typeface="Calibri"/>
              </a:rPr>
              <a:t>j</a:t>
            </a:r>
            <a:r>
              <a:rPr sz="2000" b="0" i="0">
                <a:solidFill>
                  <a:srgbClr val="23232B"/>
                </a:solidFill>
                <a:latin typeface="Calibri"/>
              </a:rPr>
              <a:t>; 12 bit, 1 MHz: t</a:t>
            </a:r>
            <a:r>
              <a:rPr sz="2000" b="0" i="0" baseline="-25000">
                <a:solidFill>
                  <a:srgbClr val="23232B"/>
                </a:solidFill>
                <a:latin typeface="Calibri"/>
              </a:rPr>
              <a:t>j</a:t>
            </a:r>
            <a:r>
              <a:rPr sz="2000" b="0" i="0">
                <a:solidFill>
                  <a:srgbClr val="23232B"/>
                </a:solidFill>
                <a:latin typeface="Calibri"/>
              </a:rPr>
              <a:t> &lt; 19 ps</a:t>
            </a:r>
          </a:p>
          <a:p>
            <a:pPr algn="l" marL="274320" indent="-274320">
              <a:lnSpc>
                <a:spcPct val="100000"/>
              </a:lnSpc>
              <a:spcAft>
                <a:spcPts val="1000"/>
              </a:spcAft>
              <a:buClr>
                <a:srgbClr val="00A9CE"/>
              </a:buClr>
              <a:buFont typeface="Arial"/>
              <a:buChar char="•"/>
            </a:pPr>
            <a:r>
              <a:rPr sz="2000" b="0" i="0">
                <a:solidFill>
                  <a:srgbClr val="23232B"/>
                </a:solidFill>
                <a:latin typeface="Calibri"/>
              </a:rPr>
              <a:t>Dielectric absorption: held voltage creeps back</a:t>
            </a:r>
          </a:p>
        </p:txBody>
      </p:sp>
      <p:sp>
        <p:nvSpPr>
          <p:cNvPr id="5" name="Key rule"/>
          <p:cNvSpPr/>
          <p:nvPr/>
        </p:nvSpPr>
        <p:spPr>
          <a:xfrm>
            <a:off x="548640" y="3264408"/>
            <a:ext cx="11094415"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ey rule label"/>
          <p:cNvSpPr txBox="1"/>
          <p:nvPr/>
        </p:nvSpPr>
        <p:spPr>
          <a:xfrm>
            <a:off x="777240" y="3374136"/>
            <a:ext cx="10637215"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7" name="Key rule text"/>
          <p:cNvSpPr txBox="1"/>
          <p:nvPr/>
        </p:nvSpPr>
        <p:spPr>
          <a:xfrm>
            <a:off x="777240" y="3648456"/>
            <a:ext cx="10637215"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Full-scale sine: t</a:t>
            </a:r>
            <a:r>
              <a:rPr sz="1700" b="1" i="0" baseline="-25000">
                <a:solidFill>
                  <a:srgbClr val="4E2A8C"/>
                </a:solidFill>
                <a:latin typeface="Calibri"/>
              </a:rPr>
              <a:t>j</a:t>
            </a:r>
            <a:r>
              <a:rPr sz="1700" b="1" i="0">
                <a:solidFill>
                  <a:srgbClr val="4E2A8C"/>
                </a:solidFill>
                <a:latin typeface="Calibri"/>
              </a:rPr>
              <a:t> &lt; 1/(2π·f·2</a:t>
            </a:r>
            <a:r>
              <a:rPr sz="1700" b="1" i="0" baseline="30000">
                <a:solidFill>
                  <a:srgbClr val="4E2A8C"/>
                </a:solidFill>
                <a:latin typeface="Calibri"/>
              </a:rPr>
              <a:t>N</a:t>
            </a:r>
            <a:r>
              <a:rPr sz="1700" b="1" i="0">
                <a:solidFill>
                  <a:srgbClr val="4E2A8C"/>
                </a:solidFill>
                <a:latin typeface="Calibri"/>
              </a:rPr>
              <a:t>)</a:t>
            </a:r>
          </a:p>
        </p:txBody>
      </p:sp>
      <p:pic>
        <p:nvPicPr>
          <p:cNvPr id="8"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9"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10"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BUFFERED SAMPLE AND HOLD</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why both buffers?</a:t>
            </a:r>
          </a:p>
        </p:txBody>
      </p:sp>
      <p:sp>
        <p:nvSpPr>
          <p:cNvPr id="4" name="Label"/>
          <p:cNvSpPr txBox="1"/>
          <p:nvPr/>
        </p:nvSpPr>
        <p:spPr>
          <a:xfrm>
            <a:off x="548640" y="1298448"/>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5" name="Falstad sh_buffered">
            <a:hlinkClick r:id="rId2"/>
          </p:cNvPr>
          <p:cNvSpPr/>
          <p:nvPr/>
        </p:nvSpPr>
        <p:spPr>
          <a:xfrm>
            <a:off x="548640" y="17099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a:off x="694944"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rot="5400000">
            <a:off x="832103"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lstad link sh_buffered">
            <a:hlinkClick r:id="rId2"/>
          </p:cNvPr>
          <p:cNvSpPr txBox="1"/>
          <p:nvPr/>
        </p:nvSpPr>
        <p:spPr>
          <a:xfrm>
            <a:off x="1234440" y="1819655"/>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samplehold/sh_buffered</a:t>
            </a:r>
          </a:p>
        </p:txBody>
      </p:sp>
      <p:sp>
        <p:nvSpPr>
          <p:cNvPr id="9" name="Falstad hint"/>
          <p:cNvSpPr txBox="1"/>
          <p:nvPr/>
        </p:nvSpPr>
        <p:spPr>
          <a:xfrm>
            <a:off x="1234440" y="20939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Compare Vout_unbuf with the buffered output over one period</a:t>
            </a:r>
          </a:p>
        </p:txBody>
      </p:sp>
      <p:sp>
        <p:nvSpPr>
          <p:cNvPr id="10" name="Label"/>
          <p:cNvSpPr txBox="1"/>
          <p:nvPr/>
        </p:nvSpPr>
        <p:spPr>
          <a:xfrm>
            <a:off x="548640" y="2785872"/>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1" name="Observe"/>
          <p:cNvSpPr txBox="1"/>
          <p:nvPr/>
        </p:nvSpPr>
        <p:spPr>
          <a:xfrm>
            <a:off x="548640" y="3197352"/>
            <a:ext cx="1109441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Unbuffered (R</a:t>
            </a:r>
            <a:r>
              <a:rPr sz="1800" b="0" i="0" baseline="-25000">
                <a:solidFill>
                  <a:srgbClr val="23232B"/>
                </a:solidFill>
                <a:latin typeface="Calibri"/>
              </a:rPr>
              <a:t>i</a:t>
            </a:r>
            <a:r>
              <a:rPr sz="1800" b="0" i="0">
                <a:solidFill>
                  <a:srgbClr val="23232B"/>
                </a:solidFill>
                <a:latin typeface="Calibri"/>
              </a:rPr>
              <a:t> 10 kΩ, R</a:t>
            </a:r>
            <a:r>
              <a:rPr sz="1800" b="0" i="0" baseline="-25000">
                <a:solidFill>
                  <a:srgbClr val="23232B"/>
                </a:solidFill>
                <a:latin typeface="Calibri"/>
              </a:rPr>
              <a:t>L</a:t>
            </a:r>
            <a:r>
              <a:rPr sz="1800" b="0" i="0">
                <a:solidFill>
                  <a:srgbClr val="23232B"/>
                </a:solidFill>
                <a:latin typeface="Calibri"/>
              </a:rPr>
              <a:t> 100 kΩ): 2.425 V after track, 0.401 V at end</a:t>
            </a:r>
          </a:p>
          <a:p>
            <a:pPr algn="l" marL="274320" indent="-274320">
              <a:lnSpc>
                <a:spcPct val="100000"/>
              </a:lnSpc>
              <a:spcAft>
                <a:spcPts val="1000"/>
              </a:spcAft>
              <a:buClr>
                <a:srgbClr val="00A9CE"/>
              </a:buClr>
              <a:buFont typeface="Arial"/>
              <a:buChar char="•"/>
            </a:pPr>
            <a:r>
              <a:rPr sz="1800" b="0" i="0">
                <a:solidFill>
                  <a:srgbClr val="23232B"/>
                </a:solidFill>
                <a:latin typeface="Calibri"/>
              </a:rPr>
              <a:t>Buffered: 3.000 V during the whole period</a:t>
            </a:r>
          </a:p>
          <a:p>
            <a:pPr algn="l" marL="274320" indent="-274320">
              <a:lnSpc>
                <a:spcPct val="100000"/>
              </a:lnSpc>
              <a:spcAft>
                <a:spcPts val="1000"/>
              </a:spcAft>
              <a:buClr>
                <a:srgbClr val="00A9CE"/>
              </a:buClr>
              <a:buFont typeface="Arial"/>
              <a:buChar char="•"/>
            </a:pPr>
            <a:r>
              <a:rPr sz="1800" b="0" i="0">
                <a:solidFill>
                  <a:srgbClr val="23232B"/>
                </a:solidFill>
                <a:latin typeface="Calibri"/>
              </a:rPr>
              <a:t>Input buffer supplies the charge, output buffer draws none</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BUFFERED SAMPLE AND HOLD</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sampling a ramp</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sampling-a-ramp-1.png"/>
          <p:cNvPicPr>
            <a:picLocks noChangeAspect="1"/>
          </p:cNvPicPr>
          <p:nvPr/>
        </p:nvPicPr>
        <p:blipFill>
          <a:blip r:embed="rId2"/>
          <a:stretch>
            <a:fillRect/>
          </a:stretch>
        </p:blipFill>
        <p:spPr>
          <a:xfrm>
            <a:off x="749808" y="2555048"/>
            <a:ext cx="5998464" cy="2333119"/>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sh_staircase">
            <a:hlinkClick r:id="rId3"/>
          </p:cNvPr>
          <p:cNvSpPr/>
          <p:nvPr/>
        </p:nvSpPr>
        <p:spPr>
          <a:xfrm>
            <a:off x="7269479" y="1709928"/>
            <a:ext cx="437357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sh_staircase">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samplehold/sh_staircase</a:t>
            </a:r>
          </a:p>
        </p:txBody>
      </p:sp>
      <p:sp>
        <p:nvSpPr>
          <p:cNvPr id="11" name="Falstad hint"/>
          <p:cNvSpPr txBox="1"/>
          <p:nvPr/>
        </p:nvSpPr>
        <p:spPr>
          <a:xfrm>
            <a:off x="7955279" y="2093976"/>
            <a:ext cx="359633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Triangle 0 to 4 V at 0.5 Hz: count the 0.8 V steps</a:t>
            </a:r>
          </a:p>
        </p:txBody>
      </p:sp>
      <p:sp>
        <p:nvSpPr>
          <p:cNvPr id="12" name="Label"/>
          <p:cNvSpPr txBox="1"/>
          <p:nvPr/>
        </p:nvSpPr>
        <p:spPr>
          <a:xfrm>
            <a:off x="7269479" y="2785872"/>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197352"/>
            <a:ext cx="437357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Steps 0.08, 0.88, 1.68, 2.48, 3.28 V: 4 V/s × 0.2 s = 0.8 V</a:t>
            </a:r>
          </a:p>
          <a:p>
            <a:pPr algn="l" marL="274320" indent="-274320">
              <a:lnSpc>
                <a:spcPct val="100000"/>
              </a:lnSpc>
              <a:spcAft>
                <a:spcPts val="1000"/>
              </a:spcAft>
              <a:buClr>
                <a:srgbClr val="00A9CE"/>
              </a:buClr>
              <a:buFont typeface="Arial"/>
              <a:buChar char="•"/>
            </a:pPr>
            <a:r>
              <a:rPr sz="1800" b="0" i="0">
                <a:solidFill>
                  <a:srgbClr val="23232B"/>
                </a:solidFill>
                <a:latin typeface="Calibri"/>
              </a:rPr>
              <a:t>0.8 V &gt; 1 LSB (0.5 V): consecutive samples skip codes</a:t>
            </a:r>
          </a:p>
          <a:p>
            <a:pPr algn="l" marL="274320" indent="-274320">
              <a:lnSpc>
                <a:spcPct val="100000"/>
              </a:lnSpc>
              <a:spcAft>
                <a:spcPts val="1000"/>
              </a:spcAft>
              <a:buClr>
                <a:srgbClr val="00A9CE"/>
              </a:buClr>
              <a:buFont typeface="Arial"/>
              <a:buChar char="•"/>
            </a:pPr>
            <a:r>
              <a:rPr sz="1800" b="0" i="0">
                <a:solidFill>
                  <a:srgbClr val="23232B"/>
                </a:solidFill>
                <a:latin typeface="Calibri"/>
              </a:rPr>
              <a:t>Not an S&amp;H error: the input is too fast for f</a:t>
            </a:r>
            <a:r>
              <a:rPr sz="1800" b="0" i="0" baseline="-25000">
                <a:solidFill>
                  <a:srgbClr val="23232B"/>
                </a:solidFill>
                <a:latin typeface="Calibri"/>
              </a:rPr>
              <a:t>s</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BUFFERED SAMPLE AND HOLD</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Practical hints</a:t>
            </a:r>
          </a:p>
        </p:txBody>
      </p:sp>
      <p:sp>
        <p:nvSpPr>
          <p:cNvPr id="4" name="Bullets"/>
          <p:cNvSpPr txBox="1"/>
          <p:nvPr/>
        </p:nvSpPr>
        <p:spPr>
          <a:xfrm>
            <a:off x="548640" y="1298448"/>
            <a:ext cx="11094415" cy="48463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Rail-to-rail output for 0 to 4 V on 5 V; FET input for the output buffer</a:t>
            </a:r>
          </a:p>
          <a:p>
            <a:pPr algn="l" marL="274320" indent="-274320">
              <a:lnSpc>
                <a:spcPct val="100000"/>
              </a:lnSpc>
              <a:spcAft>
                <a:spcPts val="1000"/>
              </a:spcAft>
              <a:buClr>
                <a:srgbClr val="00A9CE"/>
              </a:buClr>
              <a:buFont typeface="Arial"/>
              <a:buChar char="•"/>
            </a:pPr>
            <a:r>
              <a:rPr sz="2000" b="0" i="0">
                <a:solidFill>
                  <a:srgbClr val="23232B"/>
                </a:solidFill>
                <a:latin typeface="Calibri"/>
              </a:rPr>
              <a:t>Guard ring around the hold node against surface leakage</a:t>
            </a:r>
          </a:p>
          <a:p>
            <a:pPr algn="l" marL="274320" indent="-274320">
              <a:lnSpc>
                <a:spcPct val="100000"/>
              </a:lnSpc>
              <a:spcAft>
                <a:spcPts val="1000"/>
              </a:spcAft>
              <a:buClr>
                <a:srgbClr val="00A9CE"/>
              </a:buClr>
              <a:buFont typeface="Arial"/>
              <a:buChar char="•"/>
            </a:pPr>
            <a:r>
              <a:rPr sz="2000" b="0" i="0">
                <a:solidFill>
                  <a:srgbClr val="23232B"/>
                </a:solidFill>
                <a:latin typeface="Calibri"/>
              </a:rPr>
              <a:t>Integrated S&amp;H (LF398, AD783): only C</a:t>
            </a:r>
            <a:r>
              <a:rPr sz="2000" b="0" i="0" baseline="-25000">
                <a:solidFill>
                  <a:srgbClr val="23232B"/>
                </a:solidFill>
                <a:latin typeface="Calibri"/>
              </a:rPr>
              <a:t>H</a:t>
            </a:r>
            <a:r>
              <a:rPr sz="2000" b="0" i="0">
                <a:solidFill>
                  <a:srgbClr val="23232B"/>
                </a:solidFill>
                <a:latin typeface="Calibri"/>
              </a:rPr>
              <a:t> external</a:t>
            </a:r>
          </a:p>
          <a:p>
            <a:pPr algn="l" marL="274320" indent="-274320">
              <a:lnSpc>
                <a:spcPct val="100000"/>
              </a:lnSpc>
              <a:spcAft>
                <a:spcPts val="1000"/>
              </a:spcAft>
              <a:buClr>
                <a:srgbClr val="00A9CE"/>
              </a:buClr>
              <a:buFont typeface="Arial"/>
              <a:buChar char="•"/>
            </a:pPr>
            <a:r>
              <a:rPr sz="2000" b="0" i="0">
                <a:solidFill>
                  <a:srgbClr val="23232B"/>
                </a:solidFill>
                <a:latin typeface="Calibri"/>
              </a:rPr>
              <a:t>SAR and sigma-delta ADCs sample internally: driver must settle in t</a:t>
            </a:r>
            <a:r>
              <a:rPr sz="2000" b="0" i="0" baseline="-25000">
                <a:solidFill>
                  <a:srgbClr val="23232B"/>
                </a:solidFill>
                <a:latin typeface="Calibri"/>
              </a:rPr>
              <a:t>acq</a:t>
            </a:r>
          </a:p>
        </p:txBody>
      </p:sp>
      <p:pic>
        <p:nvPicPr>
          <p:cNvPr id="5"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EXERCISES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Now work it out in the script</a:t>
            </a:r>
          </a:p>
        </p:txBody>
      </p:sp>
      <p:sp>
        <p:nvSpPr>
          <p:cNvPr id="4" name="Intro"/>
          <p:cNvSpPr txBox="1"/>
          <p:nvPr/>
        </p:nvSpPr>
        <p:spPr>
          <a:xfrm>
            <a:off x="548640" y="1298448"/>
            <a:ext cx="11094415" cy="640080"/>
          </a:xfrm>
          <a:prstGeom prst="rect">
            <a:avLst/>
          </a:prstGeom>
          <a:noFill/>
        </p:spPr>
        <p:txBody>
          <a:bodyPr wrap="square" lIns="0" rIns="0" tIns="0" bIns="0" anchor="t">
            <a:noAutofit/>
          </a:bodyPr>
          <a:lstStyle/>
          <a:p>
            <a:pPr algn="l">
              <a:lnSpc>
                <a:spcPct val="100000"/>
              </a:lnSpc>
              <a:spcAft>
                <a:spcPts val="600"/>
              </a:spcAft>
              <a:buNone/>
            </a:pPr>
            <a:r>
              <a:rPr sz="1800" b="0" i="0">
                <a:solidFill>
                  <a:srgbClr val="62626E"/>
                </a:solidFill>
                <a:latin typeface="Calibri"/>
              </a:rPr>
              <a:t>Derivations, worked numbers and solutions: script, chapter 8 “Sample and Hold”. Check each result in the Falstad examples.</a:t>
            </a:r>
          </a:p>
        </p:txBody>
      </p:sp>
      <p:sp>
        <p:nvSpPr>
          <p:cNvPr id="5" name="Exercise card"/>
          <p:cNvSpPr/>
          <p:nvPr/>
        </p:nvSpPr>
        <p:spPr>
          <a:xfrm>
            <a:off x="548640"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rcise number"/>
          <p:cNvSpPr/>
          <p:nvPr/>
        </p:nvSpPr>
        <p:spPr>
          <a:xfrm>
            <a:off x="548640"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8.1</a:t>
            </a:r>
          </a:p>
        </p:txBody>
      </p:sp>
      <p:sp>
        <p:nvSpPr>
          <p:cNvPr id="8" name="Exercise title"/>
          <p:cNvSpPr txBox="1"/>
          <p:nvPr/>
        </p:nvSpPr>
        <p:spPr>
          <a:xfrm>
            <a:off x="1645919"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Choosing the hold capacitor for f</a:t>
            </a:r>
            <a:r>
              <a:rPr sz="1700" b="0" i="0" baseline="-25000">
                <a:solidFill>
                  <a:srgbClr val="23232B"/>
                </a:solidFill>
                <a:latin typeface="Calibri"/>
              </a:rPr>
              <a:t>s</a:t>
            </a:r>
            <a:r>
              <a:rPr sz="1700" b="0" i="0">
                <a:solidFill>
                  <a:srgbClr val="23232B"/>
                </a:solidFill>
                <a:latin typeface="Calibri"/>
              </a:rPr>
              <a:t> = 5 Hz</a:t>
            </a:r>
          </a:p>
        </p:txBody>
      </p:sp>
      <p:sp>
        <p:nvSpPr>
          <p:cNvPr id="9" name="Exercise card"/>
          <p:cNvSpPr/>
          <p:nvPr/>
        </p:nvSpPr>
        <p:spPr>
          <a:xfrm>
            <a:off x="548640"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ercise number"/>
          <p:cNvSpPr/>
          <p:nvPr/>
        </p:nvSpPr>
        <p:spPr>
          <a:xfrm>
            <a:off x="548640"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8.2</a:t>
            </a:r>
          </a:p>
        </p:txBody>
      </p:sp>
      <p:sp>
        <p:nvSpPr>
          <p:cNvPr id="12" name="Exercise title"/>
          <p:cNvSpPr txBox="1"/>
          <p:nvPr/>
        </p:nvSpPr>
        <p:spPr>
          <a:xfrm>
            <a:off x="1645919"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Droop and a too large capacitor</a:t>
            </a:r>
          </a:p>
        </p:txBody>
      </p:sp>
      <p:sp>
        <p:nvSpPr>
          <p:cNvPr id="13" name="Exercise card"/>
          <p:cNvSpPr/>
          <p:nvPr/>
        </p:nvSpPr>
        <p:spPr>
          <a:xfrm>
            <a:off x="548640"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xercise number"/>
          <p:cNvSpPr/>
          <p:nvPr/>
        </p:nvSpPr>
        <p:spPr>
          <a:xfrm>
            <a:off x="548640"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8.3</a:t>
            </a:r>
          </a:p>
        </p:txBody>
      </p:sp>
      <p:sp>
        <p:nvSpPr>
          <p:cNvPr id="16" name="Exercise title"/>
          <p:cNvSpPr txBox="1"/>
          <p:nvPr/>
        </p:nvSpPr>
        <p:spPr>
          <a:xfrm>
            <a:off x="1645919"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Unbuffered sample and hold</a:t>
            </a:r>
          </a:p>
        </p:txBody>
      </p:sp>
      <p:sp>
        <p:nvSpPr>
          <p:cNvPr id="17" name="Exercise card"/>
          <p:cNvSpPr/>
          <p:nvPr/>
        </p:nvSpPr>
        <p:spPr>
          <a:xfrm>
            <a:off x="6233007"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xercise number"/>
          <p:cNvSpPr/>
          <p:nvPr/>
        </p:nvSpPr>
        <p:spPr>
          <a:xfrm>
            <a:off x="6233007"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8.4</a:t>
            </a:r>
          </a:p>
        </p:txBody>
      </p:sp>
      <p:sp>
        <p:nvSpPr>
          <p:cNvPr id="20" name="Exercise title"/>
          <p:cNvSpPr txBox="1"/>
          <p:nvPr/>
        </p:nvSpPr>
        <p:spPr>
          <a:xfrm>
            <a:off x="7330287"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Pedestal error</a:t>
            </a:r>
          </a:p>
        </p:txBody>
      </p:sp>
      <p:sp>
        <p:nvSpPr>
          <p:cNvPr id="21" name="Exercise card"/>
          <p:cNvSpPr/>
          <p:nvPr/>
        </p:nvSpPr>
        <p:spPr>
          <a:xfrm>
            <a:off x="6233007"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xercise number"/>
          <p:cNvSpPr/>
          <p:nvPr/>
        </p:nvSpPr>
        <p:spPr>
          <a:xfrm>
            <a:off x="6233007"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3007"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8.5</a:t>
            </a:r>
          </a:p>
        </p:txBody>
      </p:sp>
      <p:sp>
        <p:nvSpPr>
          <p:cNvPr id="24" name="Exercise title"/>
          <p:cNvSpPr txBox="1"/>
          <p:nvPr/>
        </p:nvSpPr>
        <p:spPr>
          <a:xfrm>
            <a:off x="7330287"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Ramp input and step size</a:t>
            </a:r>
          </a:p>
        </p:txBody>
      </p:sp>
      <p:sp>
        <p:nvSpPr>
          <p:cNvPr id="25" name="Exercise card"/>
          <p:cNvSpPr/>
          <p:nvPr/>
        </p:nvSpPr>
        <p:spPr>
          <a:xfrm>
            <a:off x="6233007"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xercise number"/>
          <p:cNvSpPr/>
          <p:nvPr/>
        </p:nvSpPr>
        <p:spPr>
          <a:xfrm>
            <a:off x="6233007"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33007"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8.6</a:t>
            </a:r>
          </a:p>
        </p:txBody>
      </p:sp>
      <p:sp>
        <p:nvSpPr>
          <p:cNvPr id="28" name="Exercise title"/>
          <p:cNvSpPr txBox="1"/>
          <p:nvPr/>
        </p:nvSpPr>
        <p:spPr>
          <a:xfrm>
            <a:off x="7330287"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Aperture jitter</a:t>
            </a:r>
          </a:p>
        </p:txBody>
      </p:sp>
      <p:pic>
        <p:nvPicPr>
          <p:cNvPr id="29"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3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Sample and Hold</a:t>
            </a:r>
          </a:p>
        </p:txBody>
      </p:sp>
      <p:sp>
        <p:nvSpPr>
          <p:cNvPr id="3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6638B6"/>
        </a:solidFill>
        <a:effectLst/>
      </p:bgPr>
    </p:bg>
    <p:spTree>
      <p:nvGrpSpPr>
        <p:cNvPr id="1" name=""/>
        <p:cNvGrpSpPr/>
        <p:nvPr/>
      </p:nvGrpSpPr>
      <p:grpSpPr/>
      <p:sp>
        <p:nvSpPr>
          <p:cNvPr id="2" name="Chapter number"/>
          <p:cNvSpPr txBox="1"/>
          <p:nvPr/>
        </p:nvSpPr>
        <p:spPr>
          <a:xfrm>
            <a:off x="548640" y="822960"/>
            <a:ext cx="2743200" cy="1463040"/>
          </a:xfrm>
          <a:prstGeom prst="rect">
            <a:avLst/>
          </a:prstGeom>
          <a:noFill/>
        </p:spPr>
        <p:txBody>
          <a:bodyPr wrap="square" lIns="0" rIns="0" tIns="0" bIns="0" anchor="t">
            <a:noAutofit/>
          </a:bodyPr>
          <a:lstStyle/>
          <a:p>
            <a:pPr algn="l">
              <a:lnSpc>
                <a:spcPct val="100000"/>
              </a:lnSpc>
              <a:spcAft>
                <a:spcPts val="600"/>
              </a:spcAft>
              <a:buNone/>
            </a:pPr>
            <a:r>
              <a:rPr sz="9600" b="1" i="0">
                <a:solidFill>
                  <a:srgbClr val="9B7DD4"/>
                </a:solidFill>
                <a:latin typeface="Calibri"/>
              </a:rPr>
              <a:t>09</a:t>
            </a:r>
          </a:p>
        </p:txBody>
      </p:sp>
      <p:sp>
        <p:nvSpPr>
          <p:cNvPr id="3" name="Chapter title"/>
          <p:cNvSpPr txBox="1"/>
          <p:nvPr/>
        </p:nvSpPr>
        <p:spPr>
          <a:xfrm>
            <a:off x="548640" y="2331720"/>
            <a:ext cx="11094415" cy="914400"/>
          </a:xfrm>
          <a:prstGeom prst="rect">
            <a:avLst/>
          </a:prstGeom>
          <a:noFill/>
        </p:spPr>
        <p:txBody>
          <a:bodyPr wrap="square" lIns="0" rIns="0" tIns="0" bIns="0" anchor="ctr">
            <a:noAutofit/>
          </a:bodyPr>
          <a:lstStyle/>
          <a:p>
            <a:pPr algn="l">
              <a:lnSpc>
                <a:spcPct val="100000"/>
              </a:lnSpc>
              <a:spcAft>
                <a:spcPts val="600"/>
              </a:spcAft>
              <a:buNone/>
            </a:pPr>
            <a:r>
              <a:rPr sz="4400" b="1" i="0">
                <a:solidFill>
                  <a:srgbClr val="FFFFFF"/>
                </a:solidFill>
                <a:latin typeface="Calibri"/>
              </a:rPr>
              <a:t>Analog-to-Digital Conversion</a:t>
            </a:r>
          </a:p>
        </p:txBody>
      </p:sp>
      <p:sp>
        <p:nvSpPr>
          <p:cNvPr id="4" name="Chapter subtitle"/>
          <p:cNvSpPr txBox="1"/>
          <p:nvPr/>
        </p:nvSpPr>
        <p:spPr>
          <a:xfrm>
            <a:off x="548640" y="3246120"/>
            <a:ext cx="11094415" cy="4572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CFE9F3"/>
                </a:solidFill>
                <a:latin typeface="Calibri"/>
              </a:rPr>
              <a:t>Sample, quantize, compare, encode: from voltage to code, the 3-bit flash way</a:t>
            </a:r>
          </a:p>
        </p:txBody>
      </p:sp>
      <p:sp>
        <p:nvSpPr>
          <p:cNvPr id="5" name="Takeaway card"/>
          <p:cNvSpPr/>
          <p:nvPr/>
        </p:nvSpPr>
        <p:spPr>
          <a:xfrm>
            <a:off x="548640"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1</a:t>
            </a:r>
          </a:p>
        </p:txBody>
      </p:sp>
      <p:sp>
        <p:nvSpPr>
          <p:cNvPr id="7" name="Takeaway"/>
          <p:cNvSpPr txBox="1"/>
          <p:nvPr/>
        </p:nvSpPr>
        <p:spPr>
          <a:xfrm>
            <a:off x="822959"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Filter everything above f</a:t>
            </a:r>
            <a:r>
              <a:rPr sz="1800" b="1" i="0" baseline="-25000">
                <a:solidFill>
                  <a:srgbClr val="FFFFFF"/>
                </a:solidFill>
                <a:latin typeface="Calibri"/>
              </a:rPr>
              <a:t>s</a:t>
            </a:r>
            <a:r>
              <a:rPr sz="1800" b="1" i="0">
                <a:solidFill>
                  <a:srgbClr val="FFFFFF"/>
                </a:solidFill>
                <a:latin typeface="Calibri"/>
              </a:rPr>
              <a:t>/2 before the S&amp;H</a:t>
            </a:r>
          </a:p>
        </p:txBody>
      </p:sp>
      <p:sp>
        <p:nvSpPr>
          <p:cNvPr id="8" name="Takeaway card"/>
          <p:cNvSpPr/>
          <p:nvPr/>
        </p:nvSpPr>
        <p:spPr>
          <a:xfrm>
            <a:off x="4338218"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2538"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2</a:t>
            </a:r>
          </a:p>
        </p:txBody>
      </p:sp>
      <p:sp>
        <p:nvSpPr>
          <p:cNvPr id="10" name="Takeaway"/>
          <p:cNvSpPr txBox="1"/>
          <p:nvPr/>
        </p:nvSpPr>
        <p:spPr>
          <a:xfrm>
            <a:off x="4612538"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LSB = V</a:t>
            </a:r>
            <a:r>
              <a:rPr sz="1800" b="1" i="0" baseline="-25000">
                <a:solidFill>
                  <a:srgbClr val="FFFFFF"/>
                </a:solidFill>
                <a:latin typeface="Calibri"/>
              </a:rPr>
              <a:t>FS</a:t>
            </a:r>
            <a:r>
              <a:rPr sz="1800" b="1" i="0">
                <a:solidFill>
                  <a:srgbClr val="FFFFFF"/>
                </a:solidFill>
                <a:latin typeface="Calibri"/>
              </a:rPr>
              <a:t>/2</a:t>
            </a:r>
            <a:r>
              <a:rPr sz="1800" b="1" i="0" baseline="30000">
                <a:solidFill>
                  <a:srgbClr val="FFFFFF"/>
                </a:solidFill>
                <a:latin typeface="Calibri"/>
              </a:rPr>
              <a:t>N</a:t>
            </a:r>
            <a:r>
              <a:rPr sz="1800" b="1" i="0">
                <a:solidFill>
                  <a:srgbClr val="FFFFFF"/>
                </a:solidFill>
                <a:latin typeface="Calibri"/>
              </a:rPr>
              <a:t>; each bit adds 6 dB of SNR</a:t>
            </a:r>
          </a:p>
        </p:txBody>
      </p:sp>
      <p:sp>
        <p:nvSpPr>
          <p:cNvPr id="11" name="Takeaway card"/>
          <p:cNvSpPr/>
          <p:nvPr/>
        </p:nvSpPr>
        <p:spPr>
          <a:xfrm>
            <a:off x="8127796"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2116"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3</a:t>
            </a:r>
          </a:p>
        </p:txBody>
      </p:sp>
      <p:sp>
        <p:nvSpPr>
          <p:cNvPr id="13" name="Takeaway"/>
          <p:cNvSpPr txBox="1"/>
          <p:nvPr/>
        </p:nvSpPr>
        <p:spPr>
          <a:xfrm>
            <a:off x="8402116"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Flash = ladder + 2</a:t>
            </a:r>
            <a:r>
              <a:rPr sz="1800" b="1" i="0" baseline="30000">
                <a:solidFill>
                  <a:srgbClr val="FFFFFF"/>
                </a:solidFill>
                <a:latin typeface="Calibri"/>
              </a:rPr>
              <a:t>N</a:t>
            </a:r>
            <a:r>
              <a:rPr sz="1800" b="1" i="0">
                <a:solidFill>
                  <a:srgbClr val="FFFFFF"/>
                </a:solidFill>
                <a:latin typeface="Calibri"/>
              </a:rPr>
              <a:t>−1 comparators + encoder</a:t>
            </a:r>
          </a:p>
        </p:txBody>
      </p:sp>
      <p:sp>
        <p:nvSpPr>
          <p:cNvPr id="14" name="Footer"/>
          <p:cNvSpPr txBox="1"/>
          <p:nvPr/>
        </p:nvSpPr>
        <p:spPr>
          <a:xfrm>
            <a:off x="548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FFFFFF"/>
                </a:solidFill>
                <a:latin typeface="Calibri"/>
              </a:rPr>
              <a:t>Electronic Circuit Design  ·  Analog-to-Digital Conversion</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FFFFFF"/>
                </a:solidFill>
                <a:latin typeface="Calibri"/>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SAMPLING AND ALIASING</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Sampling theorem and aliasing</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folding-1.png"/>
          <p:cNvPicPr>
            <a:picLocks noChangeAspect="1"/>
          </p:cNvPicPr>
          <p:nvPr/>
        </p:nvPicPr>
        <p:blipFill>
          <a:blip r:embed="rId2"/>
          <a:stretch>
            <a:fillRect/>
          </a:stretch>
        </p:blipFill>
        <p:spPr>
          <a:xfrm>
            <a:off x="6876288" y="2949623"/>
            <a:ext cx="4565599" cy="1543968"/>
          </a:xfrm>
          <a:prstGeom prst="rect">
            <a:avLst/>
          </a:prstGeom>
        </p:spPr>
      </p:pic>
      <p:sp>
        <p:nvSpPr>
          <p:cNvPr id="6" name="Bullets"/>
          <p:cNvSpPr txBox="1"/>
          <p:nvPr/>
        </p:nvSpPr>
        <p:spPr>
          <a:xfrm>
            <a:off x="548640" y="1298448"/>
            <a:ext cx="5806440" cy="28651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All input components must lie below the Nyquist frequency f</a:t>
            </a:r>
            <a:r>
              <a:rPr sz="2000" b="0" i="0" baseline="-25000">
                <a:solidFill>
                  <a:srgbClr val="23232B"/>
                </a:solidFill>
                <a:latin typeface="Calibri"/>
              </a:rPr>
              <a:t>s</a:t>
            </a:r>
            <a:r>
              <a:rPr sz="2000" b="0" i="0">
                <a:solidFill>
                  <a:srgbClr val="23232B"/>
                </a:solidFill>
                <a:latin typeface="Calibri"/>
              </a:rPr>
              <a:t>/2</a:t>
            </a:r>
          </a:p>
          <a:p>
            <a:pPr algn="l" marL="274320" indent="-274320">
              <a:lnSpc>
                <a:spcPct val="100000"/>
              </a:lnSpc>
              <a:spcAft>
                <a:spcPts val="1000"/>
              </a:spcAft>
              <a:buClr>
                <a:srgbClr val="00A9CE"/>
              </a:buClr>
              <a:buFont typeface="Arial"/>
              <a:buChar char="•"/>
            </a:pPr>
            <a:r>
              <a:rPr sz="2000" b="0" i="0">
                <a:solidFill>
                  <a:srgbClr val="23232B"/>
                </a:solidFill>
                <a:latin typeface="Calibri"/>
              </a:rPr>
              <a:t>Applies to noise and interference too, not only to the wanted signal</a:t>
            </a:r>
          </a:p>
          <a:p>
            <a:pPr algn="l" marL="274320" indent="-274320">
              <a:lnSpc>
                <a:spcPct val="100000"/>
              </a:lnSpc>
              <a:spcAft>
                <a:spcPts val="1000"/>
              </a:spcAft>
              <a:buClr>
                <a:srgbClr val="00A9CE"/>
              </a:buClr>
              <a:buFont typeface="Arial"/>
              <a:buChar char="•"/>
            </a:pPr>
            <a:r>
              <a:rPr sz="2000" b="0" i="0">
                <a:solidFill>
                  <a:srgbClr val="23232B"/>
                </a:solidFill>
                <a:latin typeface="Calibri"/>
              </a:rPr>
              <a:t>Too-high frequencies fold back into 0 … f</a:t>
            </a:r>
            <a:r>
              <a:rPr sz="2000" b="0" i="0" baseline="-25000">
                <a:solidFill>
                  <a:srgbClr val="23232B"/>
                </a:solidFill>
                <a:latin typeface="Calibri"/>
              </a:rPr>
              <a:t>s</a:t>
            </a:r>
            <a:r>
              <a:rPr sz="2000" b="0" i="0">
                <a:solidFill>
                  <a:srgbClr val="23232B"/>
                </a:solidFill>
                <a:latin typeface="Calibri"/>
              </a:rPr>
              <a:t>/2 and look like real signals</a:t>
            </a:r>
          </a:p>
          <a:p>
            <a:pPr algn="l" marL="274320" indent="-274320">
              <a:lnSpc>
                <a:spcPct val="100000"/>
              </a:lnSpc>
              <a:spcAft>
                <a:spcPts val="1000"/>
              </a:spcAft>
              <a:buClr>
                <a:srgbClr val="00A9CE"/>
              </a:buClr>
              <a:buFont typeface="Arial"/>
              <a:buChar char="•"/>
            </a:pPr>
            <a:r>
              <a:rPr sz="2000" b="0" i="0">
                <a:solidFill>
                  <a:srgbClr val="23232B"/>
                </a:solidFill>
                <a:latin typeface="Calibri"/>
              </a:rPr>
              <a:t>Capstone f</a:t>
            </a:r>
            <a:r>
              <a:rPr sz="2000" b="0" i="0" baseline="-25000">
                <a:solidFill>
                  <a:srgbClr val="23232B"/>
                </a:solidFill>
                <a:latin typeface="Calibri"/>
              </a:rPr>
              <a:t>s</a:t>
            </a:r>
            <a:r>
              <a:rPr sz="2000" b="0" i="0">
                <a:solidFill>
                  <a:srgbClr val="23232B"/>
                </a:solidFill>
                <a:latin typeface="Calibri"/>
              </a:rPr>
              <a:t> = 5 Hz: 4 Hz → 1 Hz, 49 Hz → 1 Hz, 50 Hz → 0 Hz (DC!)</a:t>
            </a:r>
          </a:p>
        </p:txBody>
      </p:sp>
      <p:sp>
        <p:nvSpPr>
          <p:cNvPr id="7" name="Key rule"/>
          <p:cNvSpPr/>
          <p:nvPr/>
        </p:nvSpPr>
        <p:spPr>
          <a:xfrm>
            <a:off x="548640" y="44836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45933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48676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f</a:t>
            </a:r>
            <a:r>
              <a:rPr sz="1700" b="1" i="0" baseline="-25000">
                <a:solidFill>
                  <a:srgbClr val="4E2A8C"/>
                </a:solidFill>
                <a:latin typeface="Calibri"/>
              </a:rPr>
              <a:t>alias</a:t>
            </a:r>
            <a:r>
              <a:rPr sz="1700" b="1" i="0">
                <a:solidFill>
                  <a:srgbClr val="4E2A8C"/>
                </a:solidFill>
                <a:latin typeface="Calibri"/>
              </a:rPr>
              <a:t> = |f − k·f</a:t>
            </a:r>
            <a:r>
              <a:rPr sz="1700" b="1" i="0" baseline="-25000">
                <a:solidFill>
                  <a:srgbClr val="4E2A8C"/>
                </a:solidFill>
                <a:latin typeface="Calibri"/>
              </a:rPr>
              <a:t>s</a:t>
            </a:r>
            <a:r>
              <a:rPr sz="1700" b="1" i="0">
                <a:solidFill>
                  <a:srgbClr val="4E2A8C"/>
                </a:solidFill>
                <a:latin typeface="Calibri"/>
              </a:rPr>
              <a:t>|, k chosen so that f</a:t>
            </a:r>
            <a:r>
              <a:rPr sz="1700" b="1" i="0" baseline="-25000">
                <a:solidFill>
                  <a:srgbClr val="4E2A8C"/>
                </a:solidFill>
                <a:latin typeface="Calibri"/>
              </a:rPr>
              <a:t>alias</a:t>
            </a:r>
            <a:r>
              <a:rPr sz="1700" b="1" i="0">
                <a:solidFill>
                  <a:srgbClr val="4E2A8C"/>
                </a:solidFill>
                <a:latin typeface="Calibri"/>
              </a:rPr>
              <a:t> ≤ f</a:t>
            </a:r>
            <a:r>
              <a:rPr sz="1700" b="1" i="0" baseline="-25000">
                <a:solidFill>
                  <a:srgbClr val="4E2A8C"/>
                </a:solidFill>
                <a:latin typeface="Calibri"/>
              </a:rPr>
              <a:t>s</a:t>
            </a:r>
            <a:r>
              <a:rPr sz="1700" b="1" i="0">
                <a:solidFill>
                  <a:srgbClr val="4E2A8C"/>
                </a:solidFill>
                <a:latin typeface="Calibri"/>
              </a:rPr>
              <a:t>/2</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SAMPLING AND ALIASING</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sampling 50 Hz hum</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aliasing-1.png"/>
          <p:cNvPicPr>
            <a:picLocks noChangeAspect="1"/>
          </p:cNvPicPr>
          <p:nvPr/>
        </p:nvPicPr>
        <p:blipFill>
          <a:blip r:embed="rId2"/>
          <a:stretch>
            <a:fillRect/>
          </a:stretch>
        </p:blipFill>
        <p:spPr>
          <a:xfrm>
            <a:off x="749808" y="2669458"/>
            <a:ext cx="5998464" cy="2104299"/>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alias50">
            <a:hlinkClick r:id="rId3"/>
          </p:cNvPr>
          <p:cNvSpPr/>
          <p:nvPr/>
        </p:nvSpPr>
        <p:spPr>
          <a:xfrm>
            <a:off x="7269479" y="1709928"/>
            <a:ext cx="4373575" cy="908304"/>
          </a:xfrm>
          <a:prstGeom prst="roundRect">
            <a:avLst>
              <a:gd name="adj" fmla="val 1208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96291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208178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alias50">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adc/alias50</a:t>
            </a:r>
          </a:p>
        </p:txBody>
      </p:sp>
      <p:sp>
        <p:nvSpPr>
          <p:cNvPr id="11" name="Falstad hint"/>
          <p:cNvSpPr txBox="1"/>
          <p:nvPr/>
        </p:nvSpPr>
        <p:spPr>
          <a:xfrm>
            <a:off x="7955279" y="2093976"/>
            <a:ext cx="3596335" cy="41452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Compare the 5 Hz and 4.9 Hz S&amp;H outputs; change the 50 Hz phase</a:t>
            </a:r>
          </a:p>
        </p:txBody>
      </p:sp>
      <p:sp>
        <p:nvSpPr>
          <p:cNvPr id="12" name="Label"/>
          <p:cNvSpPr txBox="1"/>
          <p:nvPr/>
        </p:nvSpPr>
        <p:spPr>
          <a:xfrm>
            <a:off x="7269479" y="2983991"/>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395471"/>
            <a:ext cx="4373575" cy="274929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f</a:t>
            </a:r>
            <a:r>
              <a:rPr sz="1800" b="0" i="0" baseline="-25000">
                <a:solidFill>
                  <a:srgbClr val="23232B"/>
                </a:solidFill>
                <a:latin typeface="Calibri"/>
              </a:rPr>
              <a:t>s</a:t>
            </a:r>
            <a:r>
              <a:rPr sz="1800" b="0" i="0">
                <a:solidFill>
                  <a:srgbClr val="23232B"/>
                </a:solidFill>
                <a:latin typeface="Calibri"/>
              </a:rPr>
              <a:t> = 5 Hz: every sample is 2.14 V instead of 2 V, a constant hidden offset</a:t>
            </a:r>
          </a:p>
          <a:p>
            <a:pPr algn="l" marL="274320" indent="-274320">
              <a:lnSpc>
                <a:spcPct val="100000"/>
              </a:lnSpc>
              <a:spcAft>
                <a:spcPts val="1000"/>
              </a:spcAft>
              <a:buClr>
                <a:srgbClr val="00A9CE"/>
              </a:buClr>
              <a:buFont typeface="Arial"/>
              <a:buChar char="•"/>
            </a:pPr>
            <a:r>
              <a:rPr sz="1800" b="0" i="0">
                <a:solidFill>
                  <a:srgbClr val="23232B"/>
                </a:solidFill>
                <a:latin typeface="Calibri"/>
              </a:rPr>
              <a:t>f</a:t>
            </a:r>
            <a:r>
              <a:rPr sz="1800" b="0" i="0" baseline="-25000">
                <a:solidFill>
                  <a:srgbClr val="23232B"/>
                </a:solidFill>
                <a:latin typeface="Calibri"/>
              </a:rPr>
              <a:t>s</a:t>
            </a:r>
            <a:r>
              <a:rPr sz="1800" b="0" i="0">
                <a:solidFill>
                  <a:srgbClr val="23232B"/>
                </a:solidFill>
                <a:latin typeface="Calibri"/>
              </a:rPr>
              <a:t> = 4.9 Hz: the samples beat slowly at 1 Hz, the error becomes visible</a:t>
            </a:r>
          </a:p>
          <a:p>
            <a:pPr algn="l" marL="274320" indent="-274320">
              <a:lnSpc>
                <a:spcPct val="100000"/>
              </a:lnSpc>
              <a:spcAft>
                <a:spcPts val="1000"/>
              </a:spcAft>
              <a:buClr>
                <a:srgbClr val="00A9CE"/>
              </a:buClr>
              <a:buFont typeface="Arial"/>
              <a:buChar char="•"/>
            </a:pPr>
            <a:r>
              <a:rPr sz="1800" b="0" i="0">
                <a:solidFill>
                  <a:srgbClr val="23232B"/>
                </a:solidFill>
                <a:latin typeface="Calibri"/>
              </a:rPr>
              <a:t>Change the hum phase: the offset at 5 Hz moves between 1.5 V and 2.5 V</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SAMPLING AND ALIASING</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Design recipe: anti-aliasing filter</a:t>
            </a:r>
          </a:p>
        </p:txBody>
      </p:sp>
      <p:sp>
        <p:nvSpPr>
          <p:cNvPr id="4" name="Figure panel"/>
          <p:cNvSpPr/>
          <p:nvPr/>
        </p:nvSpPr>
        <p:spPr>
          <a:xfrm>
            <a:off x="6903719" y="1298448"/>
            <a:ext cx="4739335" cy="4846320"/>
          </a:xfrm>
          <a:prstGeom prst="roundRect">
            <a:avLst>
              <a:gd name="adj" fmla="val 2315"/>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anti-aliasing-filter-1.png"/>
          <p:cNvPicPr>
            <a:picLocks noChangeAspect="1"/>
          </p:cNvPicPr>
          <p:nvPr/>
        </p:nvPicPr>
        <p:blipFill>
          <a:blip r:embed="rId2"/>
          <a:stretch>
            <a:fillRect/>
          </a:stretch>
        </p:blipFill>
        <p:spPr>
          <a:xfrm>
            <a:off x="7104888" y="2950876"/>
            <a:ext cx="4336999" cy="1541463"/>
          </a:xfrm>
          <a:prstGeom prst="rect">
            <a:avLst/>
          </a:prstGeom>
        </p:spPr>
      </p:pic>
      <p:sp>
        <p:nvSpPr>
          <p:cNvPr id="6" name="Step 1"/>
          <p:cNvSpPr/>
          <p:nvPr/>
        </p:nvSpPr>
        <p:spPr>
          <a:xfrm>
            <a:off x="548640" y="1344168"/>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44168"/>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1</a:t>
            </a:r>
          </a:p>
        </p:txBody>
      </p:sp>
      <p:sp>
        <p:nvSpPr>
          <p:cNvPr id="8" name="Step text 1"/>
          <p:cNvSpPr txBox="1"/>
          <p:nvPr/>
        </p:nvSpPr>
        <p:spPr>
          <a:xfrm>
            <a:off x="1280160" y="1298448"/>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Choose f</a:t>
            </a:r>
            <a:r>
              <a:rPr sz="2000" b="0" i="0" baseline="-25000">
                <a:solidFill>
                  <a:srgbClr val="23232B"/>
                </a:solidFill>
                <a:latin typeface="Calibri"/>
              </a:rPr>
              <a:t>s</a:t>
            </a:r>
            <a:r>
              <a:rPr sz="2000" b="0" i="0">
                <a:solidFill>
                  <a:srgbClr val="23232B"/>
                </a:solidFill>
                <a:latin typeface="Calibri"/>
              </a:rPr>
              <a:t> from the signal bandwidth; Nyquist frequency is f</a:t>
            </a:r>
            <a:r>
              <a:rPr sz="2000" b="0" i="0" baseline="-25000">
                <a:solidFill>
                  <a:srgbClr val="23232B"/>
                </a:solidFill>
                <a:latin typeface="Calibri"/>
              </a:rPr>
              <a:t>s</a:t>
            </a:r>
            <a:r>
              <a:rPr sz="2000" b="0" i="0">
                <a:solidFill>
                  <a:srgbClr val="23232B"/>
                </a:solidFill>
                <a:latin typeface="Calibri"/>
              </a:rPr>
              <a:t>/2</a:t>
            </a:r>
          </a:p>
        </p:txBody>
      </p:sp>
      <p:sp>
        <p:nvSpPr>
          <p:cNvPr id="9" name="Step 2"/>
          <p:cNvSpPr/>
          <p:nvPr/>
        </p:nvSpPr>
        <p:spPr>
          <a:xfrm>
            <a:off x="548640" y="2154936"/>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54936"/>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2</a:t>
            </a:r>
          </a:p>
        </p:txBody>
      </p:sp>
      <p:sp>
        <p:nvSpPr>
          <p:cNvPr id="11" name="Step text 2"/>
          <p:cNvSpPr txBox="1"/>
          <p:nvPr/>
        </p:nvSpPr>
        <p:spPr>
          <a:xfrm>
            <a:off x="1280160" y="2109216"/>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Place a low-pass before the S&amp;H with f</a:t>
            </a:r>
            <a:r>
              <a:rPr sz="2000" b="0" i="0" baseline="-25000">
                <a:solidFill>
                  <a:srgbClr val="23232B"/>
                </a:solidFill>
                <a:latin typeface="Calibri"/>
              </a:rPr>
              <a:t>c</a:t>
            </a:r>
            <a:r>
              <a:rPr sz="2000" b="0" i="0">
                <a:solidFill>
                  <a:srgbClr val="23232B"/>
                </a:solidFill>
                <a:latin typeface="Calibri"/>
              </a:rPr>
              <a:t> ≈ f</a:t>
            </a:r>
            <a:r>
              <a:rPr sz="2000" b="0" i="0" baseline="-25000">
                <a:solidFill>
                  <a:srgbClr val="23232B"/>
                </a:solidFill>
                <a:latin typeface="Calibri"/>
              </a:rPr>
              <a:t>s</a:t>
            </a:r>
            <a:r>
              <a:rPr sz="2000" b="0" i="0">
                <a:solidFill>
                  <a:srgbClr val="23232B"/>
                </a:solidFill>
                <a:latin typeface="Calibri"/>
              </a:rPr>
              <a:t>/2 (capstone 2.34 Hz)</a:t>
            </a:r>
          </a:p>
        </p:txBody>
      </p:sp>
      <p:sp>
        <p:nvSpPr>
          <p:cNvPr id="12" name="Step 3"/>
          <p:cNvSpPr/>
          <p:nvPr/>
        </p:nvSpPr>
        <p:spPr>
          <a:xfrm>
            <a:off x="548640" y="2965704"/>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65704"/>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3</a:t>
            </a:r>
          </a:p>
        </p:txBody>
      </p:sp>
      <p:sp>
        <p:nvSpPr>
          <p:cNvPr id="14" name="Step text 3"/>
          <p:cNvSpPr txBox="1"/>
          <p:nvPr/>
        </p:nvSpPr>
        <p:spPr>
          <a:xfrm>
            <a:off x="1280160" y="2919984"/>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Require: interference amplitude × |H(f)| &lt; ½ LSB (better ¼ LSB)</a:t>
            </a:r>
          </a:p>
        </p:txBody>
      </p:sp>
      <p:sp>
        <p:nvSpPr>
          <p:cNvPr id="15" name="Step 4"/>
          <p:cNvSpPr/>
          <p:nvPr/>
        </p:nvSpPr>
        <p:spPr>
          <a:xfrm>
            <a:off x="548640" y="3776472"/>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776472"/>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4</a:t>
            </a:r>
          </a:p>
        </p:txBody>
      </p:sp>
      <p:sp>
        <p:nvSpPr>
          <p:cNvPr id="17" name="Step text 4"/>
          <p:cNvSpPr txBox="1"/>
          <p:nvPr/>
        </p:nvSpPr>
        <p:spPr>
          <a:xfrm>
            <a:off x="1280160" y="3730752"/>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1st order gives f</a:t>
            </a:r>
            <a:r>
              <a:rPr sz="2000" b="0" i="0" baseline="-25000">
                <a:solidFill>
                  <a:srgbClr val="23232B"/>
                </a:solidFill>
                <a:latin typeface="Calibri"/>
              </a:rPr>
              <a:t>c</a:t>
            </a:r>
            <a:r>
              <a:rPr sz="2000" b="0" i="0">
                <a:solidFill>
                  <a:srgbClr val="23232B"/>
                </a:solidFill>
                <a:latin typeface="Calibri"/>
              </a:rPr>
              <a:t>/f (−20 dB/dec), 2nd order (f</a:t>
            </a:r>
            <a:r>
              <a:rPr sz="2000" b="0" i="0" baseline="-25000">
                <a:solidFill>
                  <a:srgbClr val="23232B"/>
                </a:solidFill>
                <a:latin typeface="Calibri"/>
              </a:rPr>
              <a:t>c</a:t>
            </a:r>
            <a:r>
              <a:rPr sz="2000" b="0" i="0">
                <a:solidFill>
                  <a:srgbClr val="23232B"/>
                </a:solidFill>
                <a:latin typeface="Calibri"/>
              </a:rPr>
              <a:t>/f)</a:t>
            </a:r>
            <a:r>
              <a:rPr sz="2000" b="0" i="0" baseline="30000">
                <a:solidFill>
                  <a:srgbClr val="23232B"/>
                </a:solidFill>
                <a:latin typeface="Calibri"/>
              </a:rPr>
              <a:t>2</a:t>
            </a:r>
            <a:r>
              <a:rPr sz="2000" b="0" i="0">
                <a:solidFill>
                  <a:srgbClr val="23232B"/>
                </a:solidFill>
                <a:latin typeface="Calibri"/>
              </a:rPr>
              <a:t> (−40 dB/dec)</a:t>
            </a:r>
          </a:p>
        </p:txBody>
      </p:sp>
      <p:sp>
        <p:nvSpPr>
          <p:cNvPr id="18" name="Step 5"/>
          <p:cNvSpPr/>
          <p:nvPr/>
        </p:nvSpPr>
        <p:spPr>
          <a:xfrm>
            <a:off x="548640" y="4587240"/>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87240"/>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5</a:t>
            </a:r>
          </a:p>
        </p:txBody>
      </p:sp>
      <p:sp>
        <p:nvSpPr>
          <p:cNvPr id="20" name="Step text 5"/>
          <p:cNvSpPr txBox="1"/>
          <p:nvPr/>
        </p:nvSpPr>
        <p:spPr>
          <a:xfrm>
            <a:off x="1280160" y="4541520"/>
            <a:ext cx="5166359" cy="6096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Not enough? Raise the order or oversample to widen the gap to f</a:t>
            </a:r>
            <a:r>
              <a:rPr sz="2000" b="0" i="0" baseline="-25000">
                <a:solidFill>
                  <a:srgbClr val="23232B"/>
                </a:solidFill>
                <a:latin typeface="Calibri"/>
              </a:rPr>
              <a:t>s</a:t>
            </a:r>
            <a:r>
              <a:rPr sz="2000" b="0" i="0">
                <a:solidFill>
                  <a:srgbClr val="23232B"/>
                </a:solidFill>
                <a:latin typeface="Calibri"/>
              </a:rPr>
              <a:t>/2</a:t>
            </a:r>
          </a:p>
        </p:txBody>
      </p:sp>
      <p:pic>
        <p:nvPicPr>
          <p:cNvPr id="21"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22"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23"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QUANTIZATION</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Resolution, LSB and quantization error</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transfer-characteristic-1.png"/>
          <p:cNvPicPr>
            <a:picLocks noChangeAspect="1"/>
          </p:cNvPicPr>
          <p:nvPr/>
        </p:nvPicPr>
        <p:blipFill>
          <a:blip r:embed="rId2"/>
          <a:stretch>
            <a:fillRect/>
          </a:stretch>
        </p:blipFill>
        <p:spPr>
          <a:xfrm>
            <a:off x="6876288" y="2247235"/>
            <a:ext cx="4565599" cy="2948745"/>
          </a:xfrm>
          <a:prstGeom prst="rect">
            <a:avLst/>
          </a:prstGeom>
        </p:spPr>
      </p:pic>
      <p:sp>
        <p:nvSpPr>
          <p:cNvPr id="6" name="Bullets"/>
          <p:cNvSpPr txBox="1"/>
          <p:nvPr/>
        </p:nvSpPr>
        <p:spPr>
          <a:xfrm>
            <a:off x="548640" y="1298448"/>
            <a:ext cx="5806440" cy="3296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Code D = floor(V</a:t>
            </a:r>
            <a:r>
              <a:rPr sz="2000" b="0" i="0" baseline="-25000">
                <a:solidFill>
                  <a:srgbClr val="23232B"/>
                </a:solidFill>
                <a:latin typeface="Calibri"/>
              </a:rPr>
              <a:t>in</a:t>
            </a:r>
            <a:r>
              <a:rPr sz="2000" b="0" i="0">
                <a:solidFill>
                  <a:srgbClr val="23232B"/>
                </a:solidFill>
                <a:latin typeface="Calibri"/>
              </a:rPr>
              <a:t>/LSB), limited to 0 … 2</a:t>
            </a:r>
            <a:r>
              <a:rPr sz="2000" b="0" i="0" baseline="30000">
                <a:solidFill>
                  <a:srgbClr val="23232B"/>
                </a:solidFill>
                <a:latin typeface="Calibri"/>
              </a:rPr>
              <a:t>N</a:t>
            </a:r>
            <a:r>
              <a:rPr sz="2000" b="0" i="0">
                <a:solidFill>
                  <a:srgbClr val="23232B"/>
                </a:solidFill>
                <a:latin typeface="Calibri"/>
              </a:rPr>
              <a:t>−1</a:t>
            </a:r>
          </a:p>
          <a:p>
            <a:pPr algn="l" marL="274320" indent="-274320">
              <a:lnSpc>
                <a:spcPct val="100000"/>
              </a:lnSpc>
              <a:spcAft>
                <a:spcPts val="1000"/>
              </a:spcAft>
              <a:buClr>
                <a:srgbClr val="00A9CE"/>
              </a:buClr>
              <a:buFont typeface="Arial"/>
              <a:buChar char="•"/>
            </a:pPr>
            <a:r>
              <a:rPr sz="2000" b="0" i="0">
                <a:solidFill>
                  <a:srgbClr val="23232B"/>
                </a:solidFill>
                <a:latin typeface="Calibri"/>
              </a:rPr>
              <a:t>Capstone: 3 bit, 4 V full scale → LSB = 0.5 V, codes 000 … 111</a:t>
            </a:r>
          </a:p>
          <a:p>
            <a:pPr algn="l" marL="274320" indent="-274320">
              <a:lnSpc>
                <a:spcPct val="100000"/>
              </a:lnSpc>
              <a:spcAft>
                <a:spcPts val="1000"/>
              </a:spcAft>
              <a:buClr>
                <a:srgbClr val="00A9CE"/>
              </a:buClr>
              <a:buFont typeface="Arial"/>
              <a:buChar char="•"/>
            </a:pPr>
            <a:r>
              <a:rPr sz="2000" b="0" i="0">
                <a:solidFill>
                  <a:srgbClr val="23232B"/>
                </a:solidFill>
                <a:latin typeface="Calibri"/>
              </a:rPr>
              <a:t>Error 0 … 1 LSB with thresholds at k·LSB; ±½ LSB if shifted by ½ LSB</a:t>
            </a:r>
          </a:p>
          <a:p>
            <a:pPr algn="l" marL="274320" indent="-274320">
              <a:lnSpc>
                <a:spcPct val="100000"/>
              </a:lnSpc>
              <a:spcAft>
                <a:spcPts val="1000"/>
              </a:spcAft>
              <a:buClr>
                <a:srgbClr val="00A9CE"/>
              </a:buClr>
              <a:buFont typeface="Arial"/>
              <a:buChar char="•"/>
            </a:pPr>
            <a:r>
              <a:rPr sz="2000" b="0" i="0">
                <a:solidFill>
                  <a:srgbClr val="23232B"/>
                </a:solidFill>
                <a:latin typeface="Calibri"/>
              </a:rPr>
              <a:t>Test at the bin centres 0.25 V, 0.75 V, … 3.75 V, never at a threshold</a:t>
            </a:r>
          </a:p>
          <a:p>
            <a:pPr algn="l" marL="274320" indent="-274320">
              <a:lnSpc>
                <a:spcPct val="100000"/>
              </a:lnSpc>
              <a:spcAft>
                <a:spcPts val="1000"/>
              </a:spcAft>
              <a:buClr>
                <a:srgbClr val="00A9CE"/>
              </a:buClr>
              <a:buFont typeface="Arial"/>
              <a:buChar char="•"/>
            </a:pPr>
            <a:r>
              <a:rPr sz="2000" b="0" i="0">
                <a:solidFill>
                  <a:srgbClr val="23232B"/>
                </a:solidFill>
                <a:latin typeface="Calibri"/>
              </a:rPr>
              <a:t>Ideal SNR = 6.02·N + 1.76 dB: every extra bit gives 6 dB</a:t>
            </a:r>
          </a:p>
        </p:txBody>
      </p:sp>
      <p:sp>
        <p:nvSpPr>
          <p:cNvPr id="7" name="Key rule"/>
          <p:cNvSpPr/>
          <p:nvPr/>
        </p:nvSpPr>
        <p:spPr>
          <a:xfrm>
            <a:off x="548640" y="49154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50251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52994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LSB = V</a:t>
            </a:r>
            <a:r>
              <a:rPr sz="1700" b="1" i="0" baseline="-25000">
                <a:solidFill>
                  <a:srgbClr val="4E2A8C"/>
                </a:solidFill>
                <a:latin typeface="Calibri"/>
              </a:rPr>
              <a:t>FS</a:t>
            </a:r>
            <a:r>
              <a:rPr sz="1700" b="1" i="0">
                <a:solidFill>
                  <a:srgbClr val="4E2A8C"/>
                </a:solidFill>
                <a:latin typeface="Calibri"/>
              </a:rPr>
              <a:t>/2</a:t>
            </a:r>
            <a:r>
              <a:rPr sz="1700" b="1" i="0" baseline="30000">
                <a:solidFill>
                  <a:srgbClr val="4E2A8C"/>
                </a:solidFill>
                <a:latin typeface="Calibri"/>
              </a:rPr>
              <a:t>N</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QUANTIZATION</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quantization made visible</a:t>
            </a:r>
          </a:p>
        </p:txBody>
      </p:sp>
      <p:sp>
        <p:nvSpPr>
          <p:cNvPr id="4" name="Figure panel"/>
          <p:cNvSpPr/>
          <p:nvPr/>
        </p:nvSpPr>
        <p:spPr>
          <a:xfrm>
            <a:off x="548640" y="1298448"/>
            <a:ext cx="6400800"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quantization-error-1.png"/>
          <p:cNvPicPr>
            <a:picLocks noChangeAspect="1"/>
          </p:cNvPicPr>
          <p:nvPr/>
        </p:nvPicPr>
        <p:blipFill>
          <a:blip r:embed="rId2"/>
          <a:stretch>
            <a:fillRect/>
          </a:stretch>
        </p:blipFill>
        <p:spPr>
          <a:xfrm>
            <a:off x="749808" y="2497263"/>
            <a:ext cx="5998464" cy="2448688"/>
          </a:xfrm>
          <a:prstGeom prst="rect">
            <a:avLst/>
          </a:prstGeom>
        </p:spPr>
      </p:pic>
      <p:sp>
        <p:nvSpPr>
          <p:cNvPr id="6" name="Label"/>
          <p:cNvSpPr txBox="1"/>
          <p:nvPr/>
        </p:nvSpPr>
        <p:spPr>
          <a:xfrm>
            <a:off x="7269479" y="1298448"/>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7" name="Falstad quant_error">
            <a:hlinkClick r:id="rId3"/>
          </p:cNvPr>
          <p:cNvSpPr/>
          <p:nvPr/>
        </p:nvSpPr>
        <p:spPr>
          <a:xfrm>
            <a:off x="7269479" y="1709928"/>
            <a:ext cx="437357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a:off x="7415783"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y icon"/>
          <p:cNvSpPr/>
          <p:nvPr/>
        </p:nvSpPr>
        <p:spPr>
          <a:xfrm rot="5400000">
            <a:off x="7552944"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lstad link quant_error">
            <a:hlinkClick r:id="rId3"/>
          </p:cNvPr>
          <p:cNvSpPr txBox="1"/>
          <p:nvPr/>
        </p:nvSpPr>
        <p:spPr>
          <a:xfrm>
            <a:off x="7955279" y="1819655"/>
            <a:ext cx="359633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adc/quant_error</a:t>
            </a:r>
          </a:p>
        </p:txBody>
      </p:sp>
      <p:sp>
        <p:nvSpPr>
          <p:cNvPr id="11" name="Falstad hint"/>
          <p:cNvSpPr txBox="1"/>
          <p:nvPr/>
        </p:nvSpPr>
        <p:spPr>
          <a:xfrm>
            <a:off x="7955279" y="2093976"/>
            <a:ext cx="359633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Watch V</a:t>
            </a:r>
            <a:r>
              <a:rPr sz="1300" b="0" i="0" baseline="-25000">
                <a:solidFill>
                  <a:srgbClr val="23232B"/>
                </a:solidFill>
                <a:latin typeface="Calibri"/>
              </a:rPr>
              <a:t>in</a:t>
            </a:r>
            <a:r>
              <a:rPr sz="1300" b="0" i="0">
                <a:solidFill>
                  <a:srgbClr val="23232B"/>
                </a:solidFill>
                <a:latin typeface="Calibri"/>
              </a:rPr>
              <a:t> and the DAC staircase V</a:t>
            </a:r>
            <a:r>
              <a:rPr sz="1300" b="0" i="0" baseline="-25000">
                <a:solidFill>
                  <a:srgbClr val="23232B"/>
                </a:solidFill>
                <a:latin typeface="Calibri"/>
              </a:rPr>
              <a:t>q</a:t>
            </a:r>
            <a:r>
              <a:rPr sz="1300" b="0" i="0">
                <a:solidFill>
                  <a:srgbClr val="23232B"/>
                </a:solidFill>
                <a:latin typeface="Calibri"/>
              </a:rPr>
              <a:t> on the scope</a:t>
            </a:r>
          </a:p>
        </p:txBody>
      </p:sp>
      <p:sp>
        <p:nvSpPr>
          <p:cNvPr id="12" name="Label"/>
          <p:cNvSpPr txBox="1"/>
          <p:nvPr/>
        </p:nvSpPr>
        <p:spPr>
          <a:xfrm>
            <a:off x="7269479" y="2785872"/>
            <a:ext cx="437357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3" name="Observe"/>
          <p:cNvSpPr txBox="1"/>
          <p:nvPr/>
        </p:nvSpPr>
        <p:spPr>
          <a:xfrm>
            <a:off x="7269479" y="3197352"/>
            <a:ext cx="437357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3-bit flash ADC followed by an R-2R DAC turns the code back into D·0.5 V</a:t>
            </a:r>
          </a:p>
          <a:p>
            <a:pPr algn="l" marL="274320" indent="-274320">
              <a:lnSpc>
                <a:spcPct val="100000"/>
              </a:lnSpc>
              <a:spcAft>
                <a:spcPts val="1000"/>
              </a:spcAft>
              <a:buClr>
                <a:srgbClr val="00A9CE"/>
              </a:buClr>
              <a:buFont typeface="Arial"/>
              <a:buChar char="•"/>
            </a:pPr>
            <a:r>
              <a:rPr sz="1800" b="0" i="0">
                <a:solidFill>
                  <a:srgbClr val="23232B"/>
                </a:solidFill>
                <a:latin typeface="Calibri"/>
              </a:rPr>
              <a:t>The gap V</a:t>
            </a:r>
            <a:r>
              <a:rPr sz="1800" b="0" i="0" baseline="-25000">
                <a:solidFill>
                  <a:srgbClr val="23232B"/>
                </a:solidFill>
                <a:latin typeface="Calibri"/>
              </a:rPr>
              <a:t>in</a:t>
            </a:r>
            <a:r>
              <a:rPr sz="1800" b="0" i="0">
                <a:solidFill>
                  <a:srgbClr val="23232B"/>
                </a:solidFill>
                <a:latin typeface="Calibri"/>
              </a:rPr>
              <a:t> − V</a:t>
            </a:r>
            <a:r>
              <a:rPr sz="1800" b="0" i="0" baseline="-25000">
                <a:solidFill>
                  <a:srgbClr val="23232B"/>
                </a:solidFill>
                <a:latin typeface="Calibri"/>
              </a:rPr>
              <a:t>q</a:t>
            </a:r>
            <a:r>
              <a:rPr sz="1800" b="0" i="0">
                <a:solidFill>
                  <a:srgbClr val="23232B"/>
                </a:solidFill>
                <a:latin typeface="Calibri"/>
              </a:rPr>
              <a:t> always stays between 0 V and 0.5 V (sawtooth)</a:t>
            </a:r>
          </a:p>
          <a:p>
            <a:pPr algn="l" marL="274320" indent="-274320">
              <a:lnSpc>
                <a:spcPct val="100000"/>
              </a:lnSpc>
              <a:spcAft>
                <a:spcPts val="1000"/>
              </a:spcAft>
              <a:buClr>
                <a:srgbClr val="00A9CE"/>
              </a:buClr>
              <a:buFont typeface="Arial"/>
              <a:buChar char="•"/>
            </a:pPr>
            <a:r>
              <a:rPr sz="1800" b="0" i="0">
                <a:solidFill>
                  <a:srgbClr val="23232B"/>
                </a:solidFill>
                <a:latin typeface="Calibri"/>
              </a:rPr>
              <a:t>Read examples: 1.8 V → 1.5 V, 3.98 V → 3.5 V</a:t>
            </a:r>
          </a:p>
        </p:txBody>
      </p:sp>
      <p:pic>
        <p:nvPicPr>
          <p:cNvPr id="14"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5"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16"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COMPARATOR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Comparator and hysteresis</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open-loop-op-amp-as-comparator-1.png"/>
          <p:cNvPicPr>
            <a:picLocks noChangeAspect="1"/>
          </p:cNvPicPr>
          <p:nvPr/>
        </p:nvPicPr>
        <p:blipFill>
          <a:blip r:embed="rId2"/>
          <a:stretch>
            <a:fillRect/>
          </a:stretch>
        </p:blipFill>
        <p:spPr>
          <a:xfrm>
            <a:off x="6876288" y="2263596"/>
            <a:ext cx="4565599" cy="2916023"/>
          </a:xfrm>
          <a:prstGeom prst="rect">
            <a:avLst/>
          </a:prstGeom>
        </p:spPr>
      </p:pic>
      <p:sp>
        <p:nvSpPr>
          <p:cNvPr id="6" name="Falstad comparator_hyst">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comparator_hyst">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adc/comparator_hyst</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Count output edges: plain comparator vs Schmitt trigger</a:t>
            </a:r>
          </a:p>
        </p:txBody>
      </p:sp>
      <p:sp>
        <p:nvSpPr>
          <p:cNvPr id="11" name="Bullets"/>
          <p:cNvSpPr txBox="1"/>
          <p:nvPr/>
        </p:nvSpPr>
        <p:spPr>
          <a:xfrm>
            <a:off x="548640" y="1298448"/>
            <a:ext cx="5806440" cy="250443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600" b="0" i="0">
                <a:solidFill>
                  <a:srgbClr val="23232B"/>
                </a:solidFill>
                <a:latin typeface="Calibri"/>
              </a:rPr>
              <a:t>Comparator = 1-bit ADC: output high if V</a:t>
            </a:r>
            <a:r>
              <a:rPr sz="1600" b="0" i="0" baseline="-25000">
                <a:solidFill>
                  <a:srgbClr val="23232B"/>
                </a:solidFill>
                <a:latin typeface="Calibri"/>
              </a:rPr>
              <a:t>+</a:t>
            </a:r>
            <a:r>
              <a:rPr sz="1600" b="0" i="0">
                <a:solidFill>
                  <a:srgbClr val="23232B"/>
                </a:solidFill>
                <a:latin typeface="Calibri"/>
              </a:rPr>
              <a:t> &gt; V</a:t>
            </a:r>
            <a:r>
              <a:rPr sz="1600" b="0" i="0" baseline="-25000">
                <a:solidFill>
                  <a:srgbClr val="23232B"/>
                </a:solidFill>
                <a:latin typeface="Calibri"/>
              </a:rPr>
              <a:t>−</a:t>
            </a:r>
          </a:p>
          <a:p>
            <a:pPr algn="l" marL="274320" indent="-274320">
              <a:lnSpc>
                <a:spcPct val="100000"/>
              </a:lnSpc>
              <a:spcAft>
                <a:spcPts val="1000"/>
              </a:spcAft>
              <a:buClr>
                <a:srgbClr val="00A9CE"/>
              </a:buClr>
              <a:buFont typeface="Arial"/>
              <a:buChar char="•"/>
            </a:pPr>
            <a:r>
              <a:rPr sz="1600" b="0" i="0">
                <a:solidFill>
                  <a:srgbClr val="23232B"/>
                </a:solidFill>
                <a:latin typeface="Calibri"/>
              </a:rPr>
              <a:t>Op-amp open loop works but is slow; comparator ICs are fast (LM393, open collector)</a:t>
            </a:r>
          </a:p>
          <a:p>
            <a:pPr algn="l" marL="274320" indent="-274320">
              <a:lnSpc>
                <a:spcPct val="100000"/>
              </a:lnSpc>
              <a:spcAft>
                <a:spcPts val="1000"/>
              </a:spcAft>
              <a:buClr>
                <a:srgbClr val="00A9CE"/>
              </a:buClr>
              <a:buFont typeface="Arial"/>
              <a:buChar char="•"/>
            </a:pPr>
            <a:r>
              <a:rPr sz="1600" b="0" i="0">
                <a:solidFill>
                  <a:srgbClr val="23232B"/>
                </a:solidFill>
                <a:latin typeface="Calibri"/>
              </a:rPr>
              <a:t>Offset voltage must be </a:t>
            </a:r>
            <a:r>
              <a:rPr sz="1600" b="0" i="0">
                <a:solidFill>
                  <a:srgbClr val="23232B"/>
                </a:solidFill>
                <a:latin typeface="Cambria Math"/>
              </a:rPr>
              <a:t>≪</a:t>
            </a:r>
            <a:r>
              <a:rPr sz="1600" b="0" i="0">
                <a:solidFill>
                  <a:srgbClr val="23232B"/>
                </a:solidFill>
                <a:latin typeface="Calibri"/>
              </a:rPr>
              <a:t> LSB; never use a comparator IC as an op-amp</a:t>
            </a:r>
          </a:p>
          <a:p>
            <a:pPr algn="l" marL="274320" indent="-274320">
              <a:lnSpc>
                <a:spcPct val="100000"/>
              </a:lnSpc>
              <a:spcAft>
                <a:spcPts val="1000"/>
              </a:spcAft>
              <a:buClr>
                <a:srgbClr val="00A9CE"/>
              </a:buClr>
              <a:buFont typeface="Arial"/>
              <a:buChar char="•"/>
            </a:pPr>
            <a:r>
              <a:rPr sz="1600" b="0" i="0">
                <a:solidFill>
                  <a:srgbClr val="23232B"/>
                </a:solidFill>
                <a:latin typeface="Calibri"/>
              </a:rPr>
              <a:t>Slow noisy input → chatter; Schmitt trigger: hysteresis &gt; noise (p-p)</a:t>
            </a:r>
          </a:p>
          <a:p>
            <a:pPr algn="l" marL="274320" indent="-274320">
              <a:lnSpc>
                <a:spcPct val="100000"/>
              </a:lnSpc>
              <a:spcAft>
                <a:spcPts val="1000"/>
              </a:spcAft>
              <a:buClr>
                <a:srgbClr val="00A9CE"/>
              </a:buClr>
              <a:buFont typeface="Arial"/>
              <a:buChar char="•"/>
            </a:pPr>
            <a:r>
              <a:rPr sz="1600" b="0" i="0">
                <a:solidFill>
                  <a:srgbClr val="23232B"/>
                </a:solidFill>
                <a:latin typeface="Calibri"/>
              </a:rPr>
              <a:t>Behind an S&amp;H (flash ADC): no hysteresis, it would shift the thresholds</a:t>
            </a:r>
          </a:p>
        </p:txBody>
      </p:sp>
      <p:sp>
        <p:nvSpPr>
          <p:cNvPr id="12" name="Key rule"/>
          <p:cNvSpPr/>
          <p:nvPr/>
        </p:nvSpPr>
        <p:spPr>
          <a:xfrm>
            <a:off x="548640" y="412292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423265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50697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T+</a:t>
            </a:r>
            <a:r>
              <a:rPr sz="1700" b="1" i="0">
                <a:solidFill>
                  <a:srgbClr val="4E2A8C"/>
                </a:solidFill>
                <a:latin typeface="Calibri"/>
              </a:rPr>
              <a:t> = V</a:t>
            </a:r>
            <a:r>
              <a:rPr sz="1700" b="1" i="0" baseline="-25000">
                <a:solidFill>
                  <a:srgbClr val="4E2A8C"/>
                </a:solidFill>
                <a:latin typeface="Calibri"/>
              </a:rPr>
              <a:t>ref</a:t>
            </a:r>
            <a:r>
              <a:rPr sz="1700" b="1" i="0">
                <a:solidFill>
                  <a:srgbClr val="4E2A8C"/>
                </a:solidFill>
                <a:latin typeface="Calibri"/>
              </a:rPr>
              <a:t>(1 + R</a:t>
            </a:r>
            <a:r>
              <a:rPr sz="1700" b="1" i="0" baseline="-25000">
                <a:solidFill>
                  <a:srgbClr val="4E2A8C"/>
                </a:solidFill>
                <a:latin typeface="Calibri"/>
              </a:rPr>
              <a:t>1</a:t>
            </a:r>
            <a:r>
              <a:rPr sz="1700" b="1" i="0">
                <a:solidFill>
                  <a:srgbClr val="4E2A8C"/>
                </a:solidFill>
                <a:latin typeface="Calibri"/>
              </a:rPr>
              <a:t>/R</a:t>
            </a:r>
            <a:r>
              <a:rPr sz="1700" b="1" i="0" baseline="-25000">
                <a:solidFill>
                  <a:srgbClr val="4E2A8C"/>
                </a:solidFill>
                <a:latin typeface="Calibri"/>
              </a:rPr>
              <a:t>2</a:t>
            </a:r>
            <a:r>
              <a:rPr sz="1700" b="1" i="0">
                <a:solidFill>
                  <a:srgbClr val="4E2A8C"/>
                </a:solidFill>
                <a:latin typeface="Calibri"/>
              </a:rPr>
              <a:t>),  V</a:t>
            </a:r>
            <a:r>
              <a:rPr sz="1700" b="1" i="0" baseline="-25000">
                <a:solidFill>
                  <a:srgbClr val="4E2A8C"/>
                </a:solidFill>
                <a:latin typeface="Calibri"/>
              </a:rPr>
              <a:t>T−</a:t>
            </a:r>
            <a:r>
              <a:rPr sz="1700" b="1" i="0">
                <a:solidFill>
                  <a:srgbClr val="4E2A8C"/>
                </a:solidFill>
                <a:latin typeface="Calibri"/>
              </a:rPr>
              <a:t> = V</a:t>
            </a:r>
            <a:r>
              <a:rPr sz="1700" b="1" i="0" baseline="-25000">
                <a:solidFill>
                  <a:srgbClr val="4E2A8C"/>
                </a:solidFill>
                <a:latin typeface="Calibri"/>
              </a:rPr>
              <a:t>T+</a:t>
            </a:r>
            <a:r>
              <a:rPr sz="1700" b="1" i="0">
                <a:solidFill>
                  <a:srgbClr val="4E2A8C"/>
                </a:solidFill>
                <a:latin typeface="Calibri"/>
              </a:rPr>
              <a:t> − V</a:t>
            </a:r>
            <a:r>
              <a:rPr sz="1700" b="1" i="0" baseline="-25000">
                <a:solidFill>
                  <a:srgbClr val="4E2A8C"/>
                </a:solidFill>
                <a:latin typeface="Calibri"/>
              </a:rPr>
              <a:t>OH</a:t>
            </a:r>
            <a:r>
              <a:rPr sz="1700" b="1" i="0">
                <a:solidFill>
                  <a:srgbClr val="4E2A8C"/>
                </a:solidFill>
                <a:latin typeface="Calibri"/>
              </a:rPr>
              <a:t>·R</a:t>
            </a:r>
            <a:r>
              <a:rPr sz="1700" b="1" i="0" baseline="-25000">
                <a:solidFill>
                  <a:srgbClr val="4E2A8C"/>
                </a:solidFill>
                <a:latin typeface="Calibri"/>
              </a:rPr>
              <a:t>1</a:t>
            </a:r>
            <a:r>
              <a:rPr sz="1700" b="1" i="0">
                <a:solidFill>
                  <a:srgbClr val="4E2A8C"/>
                </a:solidFill>
                <a:latin typeface="Calibri"/>
              </a:rPr>
              <a:t>/R</a:t>
            </a:r>
            <a:r>
              <a:rPr sz="1700" b="1" i="0" baseline="-25000">
                <a:solidFill>
                  <a:srgbClr val="4E2A8C"/>
                </a:solidFill>
                <a:latin typeface="Calibri"/>
              </a:rPr>
              <a:t>2</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FLASH CONVERTER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The flash converter</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2-bit-flash-converter-1.png"/>
          <p:cNvPicPr>
            <a:picLocks noChangeAspect="1"/>
          </p:cNvPicPr>
          <p:nvPr/>
        </p:nvPicPr>
        <p:blipFill>
          <a:blip r:embed="rId2"/>
          <a:stretch>
            <a:fillRect/>
          </a:stretch>
        </p:blipFill>
        <p:spPr>
          <a:xfrm>
            <a:off x="7191846" y="1499616"/>
            <a:ext cx="3934482" cy="4443983"/>
          </a:xfrm>
          <a:prstGeom prst="rect">
            <a:avLst/>
          </a:prstGeom>
        </p:spPr>
      </p:pic>
      <p:sp>
        <p:nvSpPr>
          <p:cNvPr id="6" name="Falstad flash2">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flash2">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adc/flash2</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Sweep V</a:t>
            </a:r>
            <a:r>
              <a:rPr sz="1300" b="0" i="0" baseline="-25000">
                <a:solidFill>
                  <a:srgbClr val="23232B"/>
                </a:solidFill>
                <a:latin typeface="Calibri"/>
              </a:rPr>
              <a:t>in</a:t>
            </a:r>
            <a:r>
              <a:rPr sz="1300" b="0" i="0">
                <a:solidFill>
                  <a:srgbClr val="23232B"/>
                </a:solidFill>
                <a:latin typeface="Calibri"/>
              </a:rPr>
              <a:t>: comparators switch at 1 V, 2 V, 3 V</a:t>
            </a:r>
          </a:p>
        </p:txBody>
      </p:sp>
      <p:sp>
        <p:nvSpPr>
          <p:cNvPr id="11" name="Bullets"/>
          <p:cNvSpPr txBox="1"/>
          <p:nvPr/>
        </p:nvSpPr>
        <p:spPr>
          <a:xfrm>
            <a:off x="548640" y="1298448"/>
            <a:ext cx="5806440" cy="3861815"/>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Resistor ladder of 2</a:t>
            </a:r>
            <a:r>
              <a:rPr sz="2000" b="0" i="0" baseline="30000">
                <a:solidFill>
                  <a:srgbClr val="23232B"/>
                </a:solidFill>
                <a:latin typeface="Calibri"/>
              </a:rPr>
              <a:t>N</a:t>
            </a:r>
            <a:r>
              <a:rPr sz="2000" b="0" i="0">
                <a:solidFill>
                  <a:srgbClr val="23232B"/>
                </a:solidFill>
                <a:latin typeface="Calibri"/>
              </a:rPr>
              <a:t> equal resistors sets the thresholds k·LSB</a:t>
            </a:r>
          </a:p>
          <a:p>
            <a:pPr algn="l" marL="274320" indent="-274320">
              <a:lnSpc>
                <a:spcPct val="100000"/>
              </a:lnSpc>
              <a:spcAft>
                <a:spcPts val="1000"/>
              </a:spcAft>
              <a:buClr>
                <a:srgbClr val="00A9CE"/>
              </a:buClr>
              <a:buFont typeface="Arial"/>
              <a:buChar char="•"/>
            </a:pPr>
            <a:r>
              <a:rPr sz="2000" b="0" i="0">
                <a:solidFill>
                  <a:srgbClr val="23232B"/>
                </a:solidFill>
                <a:latin typeface="Calibri"/>
              </a:rPr>
              <a:t>One comparator per threshold: C</a:t>
            </a:r>
            <a:r>
              <a:rPr sz="2000" b="0" i="0" baseline="-25000">
                <a:solidFill>
                  <a:srgbClr val="23232B"/>
                </a:solidFill>
                <a:latin typeface="Calibri"/>
              </a:rPr>
              <a:t>k</a:t>
            </a:r>
            <a:r>
              <a:rPr sz="2000" b="0" i="0">
                <a:solidFill>
                  <a:srgbClr val="23232B"/>
                </a:solidFill>
                <a:latin typeface="Calibri"/>
              </a:rPr>
              <a:t> = 1 if V</a:t>
            </a:r>
            <a:r>
              <a:rPr sz="2000" b="0" i="0" baseline="-25000">
                <a:solidFill>
                  <a:srgbClr val="23232B"/>
                </a:solidFill>
                <a:latin typeface="Calibri"/>
              </a:rPr>
              <a:t>in</a:t>
            </a:r>
            <a:r>
              <a:rPr sz="2000" b="0" i="0">
                <a:solidFill>
                  <a:srgbClr val="23232B"/>
                </a:solidFill>
                <a:latin typeface="Calibri"/>
              </a:rPr>
              <a:t> &gt; k·LSB</a:t>
            </a:r>
          </a:p>
          <a:p>
            <a:pPr algn="l" marL="274320" indent="-274320">
              <a:lnSpc>
                <a:spcPct val="100000"/>
              </a:lnSpc>
              <a:spcAft>
                <a:spcPts val="1000"/>
              </a:spcAft>
              <a:buClr>
                <a:srgbClr val="00A9CE"/>
              </a:buClr>
              <a:buFont typeface="Arial"/>
              <a:buChar char="•"/>
            </a:pPr>
            <a:r>
              <a:rPr sz="2000" b="0" i="0">
                <a:solidFill>
                  <a:srgbClr val="23232B"/>
                </a:solidFill>
                <a:latin typeface="Calibri"/>
              </a:rPr>
              <a:t>Output is a thermometer code: the number of ones is the code D</a:t>
            </a:r>
          </a:p>
          <a:p>
            <a:pPr algn="l" marL="274320" indent="-274320">
              <a:lnSpc>
                <a:spcPct val="100000"/>
              </a:lnSpc>
              <a:spcAft>
                <a:spcPts val="1000"/>
              </a:spcAft>
              <a:buClr>
                <a:srgbClr val="00A9CE"/>
              </a:buClr>
              <a:buFont typeface="Arial"/>
              <a:buChar char="•"/>
            </a:pPr>
            <a:r>
              <a:rPr sz="2000" b="0" i="0">
                <a:solidFill>
                  <a:srgbClr val="23232B"/>
                </a:solidFill>
                <a:latin typeface="Calibri"/>
              </a:rPr>
              <a:t>Fastest architecture, but 2</a:t>
            </a:r>
            <a:r>
              <a:rPr sz="2000" b="0" i="0" baseline="30000">
                <a:solidFill>
                  <a:srgbClr val="23232B"/>
                </a:solidFill>
                <a:latin typeface="Calibri"/>
              </a:rPr>
              <a:t>N</a:t>
            </a:r>
            <a:r>
              <a:rPr sz="2000" b="0" i="0">
                <a:solidFill>
                  <a:srgbClr val="23232B"/>
                </a:solidFill>
                <a:latin typeface="Calibri"/>
              </a:rPr>
              <a:t>−1 comparators: 7 for 3 bit, 255 for 8 bit</a:t>
            </a:r>
          </a:p>
          <a:p>
            <a:pPr algn="l" marL="274320" indent="-274320">
              <a:lnSpc>
                <a:spcPct val="100000"/>
              </a:lnSpc>
              <a:spcAft>
                <a:spcPts val="1000"/>
              </a:spcAft>
              <a:buClr>
                <a:srgbClr val="00A9CE"/>
              </a:buClr>
              <a:buFont typeface="Arial"/>
              <a:buChar char="•"/>
            </a:pPr>
            <a:r>
              <a:rPr sz="2000" b="0" i="0">
                <a:solidFill>
                  <a:srgbClr val="23232B"/>
                </a:solidFill>
                <a:latin typeface="Calibri"/>
              </a:rPr>
              <a:t>Capstone: 8 × 1 kΩ from 4 V, taps 0.5 … 3.5 V, ladder current 0.5 mA</a:t>
            </a:r>
          </a:p>
        </p:txBody>
      </p:sp>
      <p:pic>
        <p:nvPicPr>
          <p:cNvPr id="12"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FLASH CONVERTER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Thermometer-to-binary encoder</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encoder-logic-1.png"/>
          <p:cNvPicPr>
            <a:picLocks noChangeAspect="1"/>
          </p:cNvPicPr>
          <p:nvPr/>
        </p:nvPicPr>
        <p:blipFill>
          <a:blip r:embed="rId2"/>
          <a:stretch>
            <a:fillRect/>
          </a:stretch>
        </p:blipFill>
        <p:spPr>
          <a:xfrm>
            <a:off x="6876288" y="2229129"/>
            <a:ext cx="4565599" cy="2984957"/>
          </a:xfrm>
          <a:prstGeom prst="rect">
            <a:avLst/>
          </a:prstGeom>
        </p:spPr>
      </p:pic>
      <p:sp>
        <p:nvSpPr>
          <p:cNvPr id="6" name="Bullets"/>
          <p:cNvSpPr txBox="1"/>
          <p:nvPr/>
        </p:nvSpPr>
        <p:spPr>
          <a:xfrm>
            <a:off x="548640" y="1298448"/>
            <a:ext cx="5806440" cy="23825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B</a:t>
            </a:r>
            <a:r>
              <a:rPr sz="2000" b="0" i="0" baseline="-25000">
                <a:solidFill>
                  <a:srgbClr val="23232B"/>
                </a:solidFill>
                <a:latin typeface="Calibri"/>
              </a:rPr>
              <a:t>2</a:t>
            </a:r>
            <a:r>
              <a:rPr sz="2000" b="0" i="0">
                <a:solidFill>
                  <a:srgbClr val="23232B"/>
                </a:solidFill>
                <a:latin typeface="Calibri"/>
              </a:rPr>
              <a:t> = C</a:t>
            </a:r>
            <a:r>
              <a:rPr sz="2000" b="0" i="0" baseline="-25000">
                <a:solidFill>
                  <a:srgbClr val="23232B"/>
                </a:solidFill>
                <a:latin typeface="Calibri"/>
              </a:rPr>
              <a:t>4</a:t>
            </a:r>
          </a:p>
          <a:p>
            <a:pPr algn="l" marL="274320" indent="-274320">
              <a:lnSpc>
                <a:spcPct val="100000"/>
              </a:lnSpc>
              <a:spcAft>
                <a:spcPts val="1000"/>
              </a:spcAft>
              <a:buClr>
                <a:srgbClr val="00A9CE"/>
              </a:buClr>
              <a:buFont typeface="Arial"/>
              <a:buChar char="•"/>
            </a:pPr>
            <a:r>
              <a:rPr sz="2000" b="0" i="0">
                <a:solidFill>
                  <a:srgbClr val="23232B"/>
                </a:solidFill>
                <a:latin typeface="Calibri"/>
              </a:rPr>
              <a:t>B</a:t>
            </a:r>
            <a:r>
              <a:rPr sz="2000" b="0" i="0" baseline="-25000">
                <a:solidFill>
                  <a:srgbClr val="23232B"/>
                </a:solidFill>
                <a:latin typeface="Calibri"/>
              </a:rPr>
              <a:t>1</a:t>
            </a:r>
            <a:r>
              <a:rPr sz="2000" b="0" i="0">
                <a:solidFill>
                  <a:srgbClr val="23232B"/>
                </a:solidFill>
                <a:latin typeface="Calibri"/>
              </a:rPr>
              <a:t> = C</a:t>
            </a:r>
            <a:r>
              <a:rPr sz="2000" b="0" i="0" baseline="-25000">
                <a:solidFill>
                  <a:srgbClr val="23232B"/>
                </a:solidFill>
                <a:latin typeface="Calibri"/>
              </a:rPr>
              <a:t>2</a:t>
            </a:r>
            <a:r>
              <a:rPr sz="2000" b="0" i="0">
                <a:solidFill>
                  <a:srgbClr val="23232B"/>
                </a:solidFill>
                <a:latin typeface="Calibri"/>
              </a:rPr>
              <a:t>·¬C</a:t>
            </a:r>
            <a:r>
              <a:rPr sz="2000" b="0" i="0" baseline="-25000">
                <a:solidFill>
                  <a:srgbClr val="23232B"/>
                </a:solidFill>
                <a:latin typeface="Calibri"/>
              </a:rPr>
              <a:t>4</a:t>
            </a:r>
            <a:r>
              <a:rPr sz="2000" b="0" i="0">
                <a:solidFill>
                  <a:srgbClr val="23232B"/>
                </a:solidFill>
                <a:latin typeface="Calibri"/>
              </a:rPr>
              <a:t> + C</a:t>
            </a:r>
            <a:r>
              <a:rPr sz="2000" b="0" i="0" baseline="-25000">
                <a:solidFill>
                  <a:srgbClr val="23232B"/>
                </a:solidFill>
                <a:latin typeface="Calibri"/>
              </a:rPr>
              <a:t>6</a:t>
            </a:r>
          </a:p>
          <a:p>
            <a:pPr algn="l" marL="274320" indent="-274320">
              <a:lnSpc>
                <a:spcPct val="100000"/>
              </a:lnSpc>
              <a:spcAft>
                <a:spcPts val="1000"/>
              </a:spcAft>
              <a:buClr>
                <a:srgbClr val="00A9CE"/>
              </a:buClr>
              <a:buFont typeface="Arial"/>
              <a:buChar char="•"/>
            </a:pPr>
            <a:r>
              <a:rPr sz="2000" b="0" i="0">
                <a:solidFill>
                  <a:srgbClr val="23232B"/>
                </a:solidFill>
                <a:latin typeface="Calibri"/>
              </a:rPr>
              <a:t>B</a:t>
            </a:r>
            <a:r>
              <a:rPr sz="2000" b="0" i="0" baseline="-25000">
                <a:solidFill>
                  <a:srgbClr val="23232B"/>
                </a:solidFill>
                <a:latin typeface="Calibri"/>
              </a:rPr>
              <a:t>0</a:t>
            </a:r>
            <a:r>
              <a:rPr sz="2000" b="0" i="0">
                <a:solidFill>
                  <a:srgbClr val="23232B"/>
                </a:solidFill>
                <a:latin typeface="Calibri"/>
              </a:rPr>
              <a:t> = C</a:t>
            </a:r>
            <a:r>
              <a:rPr sz="2000" b="0" i="0" baseline="-25000">
                <a:solidFill>
                  <a:srgbClr val="23232B"/>
                </a:solidFill>
                <a:latin typeface="Calibri"/>
              </a:rPr>
              <a:t>1</a:t>
            </a:r>
            <a:r>
              <a:rPr sz="2000" b="0" i="0">
                <a:solidFill>
                  <a:srgbClr val="23232B"/>
                </a:solidFill>
                <a:latin typeface="Calibri"/>
              </a:rPr>
              <a:t>·¬C</a:t>
            </a:r>
            <a:r>
              <a:rPr sz="2000" b="0" i="0" baseline="-25000">
                <a:solidFill>
                  <a:srgbClr val="23232B"/>
                </a:solidFill>
                <a:latin typeface="Calibri"/>
              </a:rPr>
              <a:t>2</a:t>
            </a:r>
            <a:r>
              <a:rPr sz="2000" b="0" i="0">
                <a:solidFill>
                  <a:srgbClr val="23232B"/>
                </a:solidFill>
                <a:latin typeface="Calibri"/>
              </a:rPr>
              <a:t> + C</a:t>
            </a:r>
            <a:r>
              <a:rPr sz="2000" b="0" i="0" baseline="-25000">
                <a:solidFill>
                  <a:srgbClr val="23232B"/>
                </a:solidFill>
                <a:latin typeface="Calibri"/>
              </a:rPr>
              <a:t>3</a:t>
            </a:r>
            <a:r>
              <a:rPr sz="2000" b="0" i="0">
                <a:solidFill>
                  <a:srgbClr val="23232B"/>
                </a:solidFill>
                <a:latin typeface="Calibri"/>
              </a:rPr>
              <a:t>·¬C</a:t>
            </a:r>
            <a:r>
              <a:rPr sz="2000" b="0" i="0" baseline="-25000">
                <a:solidFill>
                  <a:srgbClr val="23232B"/>
                </a:solidFill>
                <a:latin typeface="Calibri"/>
              </a:rPr>
              <a:t>4</a:t>
            </a:r>
            <a:r>
              <a:rPr sz="2000" b="0" i="0">
                <a:solidFill>
                  <a:srgbClr val="23232B"/>
                </a:solidFill>
                <a:latin typeface="Calibri"/>
              </a:rPr>
              <a:t> + C</a:t>
            </a:r>
            <a:r>
              <a:rPr sz="2000" b="0" i="0" baseline="-25000">
                <a:solidFill>
                  <a:srgbClr val="23232B"/>
                </a:solidFill>
                <a:latin typeface="Calibri"/>
              </a:rPr>
              <a:t>5</a:t>
            </a:r>
            <a:r>
              <a:rPr sz="2000" b="0" i="0">
                <a:solidFill>
                  <a:srgbClr val="23232B"/>
                </a:solidFill>
                <a:latin typeface="Calibri"/>
              </a:rPr>
              <a:t>·¬C</a:t>
            </a:r>
            <a:r>
              <a:rPr sz="2000" b="0" i="0" baseline="-25000">
                <a:solidFill>
                  <a:srgbClr val="23232B"/>
                </a:solidFill>
                <a:latin typeface="Calibri"/>
              </a:rPr>
              <a:t>6</a:t>
            </a:r>
            <a:r>
              <a:rPr sz="2000" b="0" i="0">
                <a:solidFill>
                  <a:srgbClr val="23232B"/>
                </a:solidFill>
                <a:latin typeface="Calibri"/>
              </a:rPr>
              <a:t> + C</a:t>
            </a:r>
            <a:r>
              <a:rPr sz="2000" b="0" i="0" baseline="-25000">
                <a:solidFill>
                  <a:srgbClr val="23232B"/>
                </a:solidFill>
                <a:latin typeface="Calibri"/>
              </a:rPr>
              <a:t>7</a:t>
            </a:r>
          </a:p>
          <a:p>
            <a:pPr algn="l" marL="274320" indent="-274320">
              <a:lnSpc>
                <a:spcPct val="100000"/>
              </a:lnSpc>
              <a:spcAft>
                <a:spcPts val="1000"/>
              </a:spcAft>
              <a:buClr>
                <a:srgbClr val="00A9CE"/>
              </a:buClr>
              <a:buFont typeface="Arial"/>
              <a:buChar char="•"/>
            </a:pPr>
            <a:r>
              <a:rPr sz="2000" b="0" i="0">
                <a:solidFill>
                  <a:srgbClr val="23232B"/>
                </a:solidFill>
                <a:latin typeface="Calibri"/>
              </a:rPr>
              <a:t>Gates: 3 NOT, 4 AND2, 1 OR2, 1 OR4</a:t>
            </a:r>
          </a:p>
          <a:p>
            <a:pPr algn="l" marL="274320" indent="-274320">
              <a:lnSpc>
                <a:spcPct val="100000"/>
              </a:lnSpc>
              <a:spcAft>
                <a:spcPts val="1000"/>
              </a:spcAft>
              <a:buClr>
                <a:srgbClr val="00A9CE"/>
              </a:buClr>
              <a:buFont typeface="Arial"/>
              <a:buChar char="•"/>
            </a:pPr>
            <a:r>
              <a:rPr sz="2000" b="0" i="0">
                <a:solidFill>
                  <a:srgbClr val="23232B"/>
                </a:solidFill>
                <a:latin typeface="Calibri"/>
              </a:rPr>
              <a:t>Bubbles (offset, noise) give wrong codes; priority encoder 74HC148 is robust</a:t>
            </a:r>
          </a:p>
        </p:txBody>
      </p:sp>
      <p:sp>
        <p:nvSpPr>
          <p:cNvPr id="7" name="Key rule"/>
          <p:cNvSpPr/>
          <p:nvPr/>
        </p:nvSpPr>
        <p:spPr>
          <a:xfrm>
            <a:off x="548640" y="40010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41107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43850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Top of the column H</a:t>
            </a:r>
            <a:r>
              <a:rPr sz="1700" b="1" i="0" baseline="-25000">
                <a:solidFill>
                  <a:srgbClr val="4E2A8C"/>
                </a:solidFill>
                <a:latin typeface="Calibri"/>
              </a:rPr>
              <a:t>k</a:t>
            </a:r>
            <a:r>
              <a:rPr sz="1700" b="1" i="0">
                <a:solidFill>
                  <a:srgbClr val="4E2A8C"/>
                </a:solidFill>
                <a:latin typeface="Calibri"/>
              </a:rPr>
              <a:t> = C</a:t>
            </a:r>
            <a:r>
              <a:rPr sz="1700" b="1" i="0" baseline="-25000">
                <a:solidFill>
                  <a:srgbClr val="4E2A8C"/>
                </a:solidFill>
                <a:latin typeface="Calibri"/>
              </a:rPr>
              <a:t>k</a:t>
            </a:r>
            <a:r>
              <a:rPr sz="1700" b="1" i="0">
                <a:solidFill>
                  <a:srgbClr val="4E2A8C"/>
                </a:solidFill>
                <a:latin typeface="Calibri"/>
              </a:rPr>
              <a:t>·¬C</a:t>
            </a:r>
            <a:r>
              <a:rPr sz="1700" b="1" i="0" baseline="-25000">
                <a:solidFill>
                  <a:srgbClr val="4E2A8C"/>
                </a:solidFill>
                <a:latin typeface="Calibri"/>
              </a:rPr>
              <a:t>k+1</a:t>
            </a:r>
            <a:r>
              <a:rPr sz="1700" b="1" i="0">
                <a:solidFill>
                  <a:srgbClr val="4E2A8C"/>
                </a:solidFill>
                <a:latin typeface="Calibri"/>
              </a:rPr>
              <a:t>; B</a:t>
            </a:r>
            <a:r>
              <a:rPr sz="1700" b="1" i="0" baseline="-25000">
                <a:solidFill>
                  <a:srgbClr val="4E2A8C"/>
                </a:solidFill>
                <a:latin typeface="Calibri"/>
              </a:rPr>
              <a:t>i</a:t>
            </a:r>
            <a:r>
              <a:rPr sz="1700" b="1" i="0">
                <a:solidFill>
                  <a:srgbClr val="4E2A8C"/>
                </a:solidFill>
                <a:latin typeface="Calibri"/>
              </a:rPr>
              <a:t> = OR of H</a:t>
            </a:r>
            <a:r>
              <a:rPr sz="1700" b="1" i="0" baseline="-25000">
                <a:solidFill>
                  <a:srgbClr val="4E2A8C"/>
                </a:solidFill>
                <a:latin typeface="Calibri"/>
              </a:rPr>
              <a:t>k</a:t>
            </a:r>
            <a:r>
              <a:rPr sz="1700" b="1" i="0">
                <a:solidFill>
                  <a:srgbClr val="4E2A8C"/>
                </a:solidFill>
                <a:latin typeface="Calibri"/>
              </a:rPr>
              <a:t> with bit i set</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FLASH CONVERTER</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3-bit flash ADC with display</a:t>
            </a:r>
          </a:p>
        </p:txBody>
      </p:sp>
      <p:sp>
        <p:nvSpPr>
          <p:cNvPr id="4" name="Label"/>
          <p:cNvSpPr txBox="1"/>
          <p:nvPr/>
        </p:nvSpPr>
        <p:spPr>
          <a:xfrm>
            <a:off x="548640" y="1298448"/>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5" name="Falstad flash3">
            <a:hlinkClick r:id="rId2"/>
          </p:cNvPr>
          <p:cNvSpPr/>
          <p:nvPr/>
        </p:nvSpPr>
        <p:spPr>
          <a:xfrm>
            <a:off x="548640" y="17099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a:off x="694944"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rot="5400000">
            <a:off x="832103"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lstad link flash3">
            <a:hlinkClick r:id="rId2"/>
          </p:cNvPr>
          <p:cNvSpPr txBox="1"/>
          <p:nvPr/>
        </p:nvSpPr>
        <p:spPr>
          <a:xfrm>
            <a:off x="1234440" y="1819655"/>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adc/flash3</a:t>
            </a:r>
          </a:p>
        </p:txBody>
      </p:sp>
      <p:sp>
        <p:nvSpPr>
          <p:cNvPr id="9" name="Falstad hint"/>
          <p:cNvSpPr txBox="1"/>
          <p:nvPr/>
        </p:nvSpPr>
        <p:spPr>
          <a:xfrm>
            <a:off x="1234440" y="20939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Set V</a:t>
            </a:r>
            <a:r>
              <a:rPr sz="1300" b="0" i="0" baseline="-25000">
                <a:solidFill>
                  <a:srgbClr val="23232B"/>
                </a:solidFill>
                <a:latin typeface="Calibri"/>
              </a:rPr>
              <a:t>in</a:t>
            </a:r>
            <a:r>
              <a:rPr sz="1300" b="0" i="0">
                <a:solidFill>
                  <a:srgbClr val="23232B"/>
                </a:solidFill>
                <a:latin typeface="Calibri"/>
              </a:rPr>
              <a:t> to bin centres 0.25 … 3.75 V, read codes 000 … 111</a:t>
            </a:r>
          </a:p>
        </p:txBody>
      </p:sp>
      <p:sp>
        <p:nvSpPr>
          <p:cNvPr id="10" name="Label"/>
          <p:cNvSpPr txBox="1"/>
          <p:nvPr/>
        </p:nvSpPr>
        <p:spPr>
          <a:xfrm>
            <a:off x="548640" y="2785872"/>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1" name="Observe"/>
          <p:cNvSpPr txBox="1"/>
          <p:nvPr/>
        </p:nvSpPr>
        <p:spPr>
          <a:xfrm>
            <a:off x="548640" y="3197352"/>
            <a:ext cx="1109441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Labeled nodes C1 … C7, B0 … B2: hover to read the voltages</a:t>
            </a:r>
          </a:p>
          <a:p>
            <a:pPr algn="l" marL="274320" indent="-274320">
              <a:lnSpc>
                <a:spcPct val="100000"/>
              </a:lnSpc>
              <a:spcAft>
                <a:spcPts val="1000"/>
              </a:spcAft>
              <a:buClr>
                <a:srgbClr val="00A9CE"/>
              </a:buClr>
              <a:buFont typeface="Arial"/>
              <a:buChar char="•"/>
            </a:pPr>
            <a:r>
              <a:rPr sz="1800" b="0" i="0">
                <a:solidFill>
                  <a:srgbClr val="23232B"/>
                </a:solidFill>
                <a:latin typeface="Calibri"/>
              </a:rPr>
              <a:t>7 LEDs form a bar graph, 3 LEDs show B</a:t>
            </a:r>
            <a:r>
              <a:rPr sz="1800" b="0" i="0" baseline="-25000">
                <a:solidFill>
                  <a:srgbClr val="23232B"/>
                </a:solidFill>
                <a:latin typeface="Calibri"/>
              </a:rPr>
              <a:t>2</a:t>
            </a:r>
            <a:r>
              <a:rPr sz="1800" b="0" i="0">
                <a:solidFill>
                  <a:srgbClr val="23232B"/>
                </a:solidFill>
                <a:latin typeface="Calibri"/>
              </a:rPr>
              <a:t>B</a:t>
            </a:r>
            <a:r>
              <a:rPr sz="1800" b="0" i="0" baseline="-25000">
                <a:solidFill>
                  <a:srgbClr val="23232B"/>
                </a:solidFill>
                <a:latin typeface="Calibri"/>
              </a:rPr>
              <a:t>1</a:t>
            </a:r>
            <a:r>
              <a:rPr sz="1800" b="0" i="0">
                <a:solidFill>
                  <a:srgbClr val="23232B"/>
                </a:solidFill>
                <a:latin typeface="Calibri"/>
              </a:rPr>
              <a:t>B</a:t>
            </a:r>
            <a:r>
              <a:rPr sz="1800" b="0" i="0" baseline="-25000">
                <a:solidFill>
                  <a:srgbClr val="23232B"/>
                </a:solidFill>
                <a:latin typeface="Calibri"/>
              </a:rPr>
              <a:t>0</a:t>
            </a:r>
          </a:p>
          <a:p>
            <a:pPr algn="l" marL="274320" indent="-274320">
              <a:lnSpc>
                <a:spcPct val="100000"/>
              </a:lnSpc>
              <a:spcAft>
                <a:spcPts val="1000"/>
              </a:spcAft>
              <a:buClr>
                <a:srgbClr val="00A9CE"/>
              </a:buClr>
              <a:buFont typeface="Arial"/>
              <a:buChar char="•"/>
            </a:pPr>
            <a:r>
              <a:rPr sz="1800" b="0" i="0">
                <a:solidFill>
                  <a:srgbClr val="23232B"/>
                </a:solidFill>
                <a:latin typeface="Calibri"/>
              </a:rPr>
              <a:t>Default 2.6 V: five bar LEDs on, binary 101</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DISPLAYING THE RESULT</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LED display and current budget</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led-with-series-resistor-1.png"/>
          <p:cNvPicPr>
            <a:picLocks noChangeAspect="1"/>
          </p:cNvPicPr>
          <p:nvPr/>
        </p:nvPicPr>
        <p:blipFill>
          <a:blip r:embed="rId2"/>
          <a:stretch>
            <a:fillRect/>
          </a:stretch>
        </p:blipFill>
        <p:spPr>
          <a:xfrm>
            <a:off x="6876288" y="2304882"/>
            <a:ext cx="4565599" cy="2833451"/>
          </a:xfrm>
          <a:prstGeom prst="rect">
            <a:avLst/>
          </a:prstGeom>
        </p:spPr>
      </p:pic>
      <p:sp>
        <p:nvSpPr>
          <p:cNvPr id="6" name="Bullets"/>
          <p:cNvSpPr txBox="1"/>
          <p:nvPr/>
        </p:nvSpPr>
        <p:spPr>
          <a:xfrm>
            <a:off x="548640" y="1298448"/>
            <a:ext cx="5806440" cy="32969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One series resistor per LED, never one common resistor</a:t>
            </a:r>
          </a:p>
          <a:p>
            <a:pPr algn="l" marL="274320" indent="-274320">
              <a:lnSpc>
                <a:spcPct val="100000"/>
              </a:lnSpc>
              <a:spcAft>
                <a:spcPts val="1000"/>
              </a:spcAft>
              <a:buClr>
                <a:srgbClr val="00A9CE"/>
              </a:buClr>
              <a:buFont typeface="Arial"/>
              <a:buChar char="•"/>
            </a:pPr>
            <a:r>
              <a:rPr sz="2000" b="0" i="0">
                <a:solidFill>
                  <a:srgbClr val="23232B"/>
                </a:solidFill>
                <a:latin typeface="Calibri"/>
              </a:rPr>
              <a:t>Red LED: V</a:t>
            </a:r>
            <a:r>
              <a:rPr sz="2000" b="0" i="0" baseline="-25000">
                <a:solidFill>
                  <a:srgbClr val="23232B"/>
                </a:solidFill>
                <a:latin typeface="Calibri"/>
              </a:rPr>
              <a:t>F</a:t>
            </a:r>
            <a:r>
              <a:rPr sz="2000" b="0" i="0">
                <a:solidFill>
                  <a:srgbClr val="23232B"/>
                </a:solidFill>
                <a:latin typeface="Calibri"/>
              </a:rPr>
              <a:t> ≈ 1.8 … 2 V, bright enough at 5 … 10 mA</a:t>
            </a:r>
          </a:p>
          <a:p>
            <a:pPr algn="l" marL="274320" indent="-274320">
              <a:lnSpc>
                <a:spcPct val="100000"/>
              </a:lnSpc>
              <a:spcAft>
                <a:spcPts val="1000"/>
              </a:spcAft>
              <a:buClr>
                <a:srgbClr val="00A9CE"/>
              </a:buClr>
              <a:buFont typeface="Arial"/>
              <a:buChar char="•"/>
            </a:pPr>
            <a:r>
              <a:rPr sz="2000" b="0" i="0">
                <a:solidFill>
                  <a:srgbClr val="23232B"/>
                </a:solidFill>
                <a:latin typeface="Calibri"/>
              </a:rPr>
              <a:t>Capstone: 330 Ω from 5 V logic → about 9 mA per LED</a:t>
            </a:r>
          </a:p>
          <a:p>
            <a:pPr algn="l" marL="274320" indent="-274320">
              <a:lnSpc>
                <a:spcPct val="100000"/>
              </a:lnSpc>
              <a:spcAft>
                <a:spcPts val="1000"/>
              </a:spcAft>
              <a:buClr>
                <a:srgbClr val="00A9CE"/>
              </a:buClr>
              <a:buFont typeface="Arial"/>
              <a:buChar char="•"/>
            </a:pPr>
            <a:r>
              <a:rPr sz="2000" b="0" i="0">
                <a:solidFill>
                  <a:srgbClr val="23232B"/>
                </a:solidFill>
                <a:latin typeface="Calibri"/>
              </a:rPr>
              <a:t>Code 7: 10 LEDs on ≈ 91 mA; check the driver's V</a:t>
            </a:r>
            <a:r>
              <a:rPr sz="2000" b="0" i="0" baseline="-25000">
                <a:solidFill>
                  <a:srgbClr val="23232B"/>
                </a:solidFill>
                <a:latin typeface="Calibri"/>
              </a:rPr>
              <a:t>OH</a:t>
            </a:r>
            <a:r>
              <a:rPr sz="2000" b="0" i="0">
                <a:solidFill>
                  <a:srgbClr val="23232B"/>
                </a:solidFill>
                <a:latin typeface="Calibri"/>
              </a:rPr>
              <a:t> at load</a:t>
            </a:r>
          </a:p>
          <a:p>
            <a:pPr algn="l" marL="274320" indent="-274320">
              <a:lnSpc>
                <a:spcPct val="100000"/>
              </a:lnSpc>
              <a:spcAft>
                <a:spcPts val="1000"/>
              </a:spcAft>
              <a:buClr>
                <a:srgbClr val="00A9CE"/>
              </a:buClr>
              <a:buFont typeface="Arial"/>
              <a:buChar char="•"/>
            </a:pPr>
            <a:r>
              <a:rPr sz="2000" b="0" i="0">
                <a:solidFill>
                  <a:srgbClr val="23232B"/>
                </a:solidFill>
                <a:latin typeface="Calibri"/>
              </a:rPr>
              <a:t>Heavy loads: buffer gates, low-current LEDs or a driver IC</a:t>
            </a:r>
          </a:p>
        </p:txBody>
      </p:sp>
      <p:sp>
        <p:nvSpPr>
          <p:cNvPr id="7" name="Key rule"/>
          <p:cNvSpPr/>
          <p:nvPr/>
        </p:nvSpPr>
        <p:spPr>
          <a:xfrm>
            <a:off x="548640" y="49154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50251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52994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R = (V</a:t>
            </a:r>
            <a:r>
              <a:rPr sz="1700" b="1" i="0" baseline="-25000">
                <a:solidFill>
                  <a:srgbClr val="4E2A8C"/>
                </a:solidFill>
                <a:latin typeface="Calibri"/>
              </a:rPr>
              <a:t>OH</a:t>
            </a:r>
            <a:r>
              <a:rPr sz="1700" b="1" i="0">
                <a:solidFill>
                  <a:srgbClr val="4E2A8C"/>
                </a:solidFill>
                <a:latin typeface="Calibri"/>
              </a:rPr>
              <a:t> − V</a:t>
            </a:r>
            <a:r>
              <a:rPr sz="1700" b="1" i="0" baseline="-25000">
                <a:solidFill>
                  <a:srgbClr val="4E2A8C"/>
                </a:solidFill>
                <a:latin typeface="Calibri"/>
              </a:rPr>
              <a:t>F</a:t>
            </a:r>
            <a:r>
              <a:rPr sz="1700" b="1" i="0">
                <a:solidFill>
                  <a:srgbClr val="4E2A8C"/>
                </a:solidFill>
                <a:latin typeface="Calibri"/>
              </a:rPr>
              <a:t>)/I</a:t>
            </a:r>
            <a:r>
              <a:rPr sz="1700" b="1" i="0" baseline="-25000">
                <a:solidFill>
                  <a:srgbClr val="4E2A8C"/>
                </a:solidFill>
                <a:latin typeface="Calibri"/>
              </a:rPr>
              <a:t>F</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OTHER CONVERTER ARCHITECTURES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R-2R DAC and successive approximation</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r-2r-ladder-dac-1.png"/>
          <p:cNvPicPr>
            <a:picLocks noChangeAspect="1"/>
          </p:cNvPicPr>
          <p:nvPr/>
        </p:nvPicPr>
        <p:blipFill>
          <a:blip r:embed="rId2"/>
          <a:stretch>
            <a:fillRect/>
          </a:stretch>
        </p:blipFill>
        <p:spPr>
          <a:xfrm>
            <a:off x="6876288" y="2997613"/>
            <a:ext cx="4565599" cy="1447989"/>
          </a:xfrm>
          <a:prstGeom prst="rect">
            <a:avLst/>
          </a:prstGeom>
        </p:spPr>
      </p:pic>
      <p:sp>
        <p:nvSpPr>
          <p:cNvPr id="6" name="Falstad r2r_dac">
            <a:hlinkClick r:id="rId3"/>
          </p:cNvPr>
          <p:cNvSpPr/>
          <p:nvPr/>
        </p:nvSpPr>
        <p:spPr>
          <a:xfrm>
            <a:off x="548640" y="5434584"/>
            <a:ext cx="5806440"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a:off x="694944" y="5588508"/>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ay icon"/>
          <p:cNvSpPr/>
          <p:nvPr/>
        </p:nvSpPr>
        <p:spPr>
          <a:xfrm rot="5400000">
            <a:off x="832103" y="5707380"/>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lstad link r2r_dac">
            <a:hlinkClick r:id="rId3"/>
          </p:cNvPr>
          <p:cNvSpPr txBox="1"/>
          <p:nvPr/>
        </p:nvSpPr>
        <p:spPr>
          <a:xfrm>
            <a:off x="1234440" y="5544312"/>
            <a:ext cx="5029200"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3">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3">
                  <a:extLst>
                    <a:ext uri="{A12FA001-AC4F-418D-AE19-62706E023703}">
                      <ahyp:hlinkClr xmlns:ahyp="http://schemas.microsoft.com/office/drawing/2018/hyperlinkcolor" val="tx"/>
                    </a:ext>
                  </a:extLst>
                </a:hlinkClick>
              </a:rPr>
              <a:t>adc/r2r_dac</a:t>
            </a:r>
          </a:p>
        </p:txBody>
      </p:sp>
      <p:sp>
        <p:nvSpPr>
          <p:cNvPr id="10" name="Falstad hint"/>
          <p:cNvSpPr txBox="1"/>
          <p:nvPr/>
        </p:nvSpPr>
        <p:spPr>
          <a:xfrm>
            <a:off x="1234440" y="5818632"/>
            <a:ext cx="5029200"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Counter drives the bits: staircase in 0.625 V steps</a:t>
            </a:r>
          </a:p>
        </p:txBody>
      </p:sp>
      <p:sp>
        <p:nvSpPr>
          <p:cNvPr id="11" name="Bullets"/>
          <p:cNvSpPr txBox="1"/>
          <p:nvPr/>
        </p:nvSpPr>
        <p:spPr>
          <a:xfrm>
            <a:off x="548640" y="1298448"/>
            <a:ext cx="5806440" cy="25603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R-2R ladder: only two resistor values for any number of bits</a:t>
            </a:r>
          </a:p>
          <a:p>
            <a:pPr algn="l" marL="274320" indent="-274320">
              <a:lnSpc>
                <a:spcPct val="100000"/>
              </a:lnSpc>
              <a:spcAft>
                <a:spcPts val="1000"/>
              </a:spcAft>
              <a:buClr>
                <a:srgbClr val="00A9CE"/>
              </a:buClr>
              <a:buFont typeface="Arial"/>
              <a:buChar char="•"/>
            </a:pPr>
            <a:r>
              <a:rPr sz="2000" b="0" i="0">
                <a:solidFill>
                  <a:srgbClr val="23232B"/>
                </a:solidFill>
                <a:latin typeface="Calibri"/>
              </a:rPr>
              <a:t>V</a:t>
            </a:r>
            <a:r>
              <a:rPr sz="2000" b="0" i="0" baseline="-25000">
                <a:solidFill>
                  <a:srgbClr val="23232B"/>
                </a:solidFill>
                <a:latin typeface="Calibri"/>
              </a:rPr>
              <a:t>out</a:t>
            </a:r>
            <a:r>
              <a:rPr sz="2000" b="0" i="0">
                <a:solidFill>
                  <a:srgbClr val="23232B"/>
                </a:solidFill>
                <a:latin typeface="Calibri"/>
              </a:rPr>
              <a:t> = V</a:t>
            </a:r>
            <a:r>
              <a:rPr sz="2000" b="0" i="0" baseline="-25000">
                <a:solidFill>
                  <a:srgbClr val="23232B"/>
                </a:solidFill>
                <a:latin typeface="Calibri"/>
              </a:rPr>
              <a:t>ref</a:t>
            </a:r>
            <a:r>
              <a:rPr sz="2000" b="0" i="0">
                <a:solidFill>
                  <a:srgbClr val="23232B"/>
                </a:solidFill>
                <a:latin typeface="Calibri"/>
              </a:rPr>
              <a:t>·D/2</a:t>
            </a:r>
            <a:r>
              <a:rPr sz="2000" b="0" i="0" baseline="30000">
                <a:solidFill>
                  <a:srgbClr val="23232B"/>
                </a:solidFill>
                <a:latin typeface="Calibri"/>
              </a:rPr>
              <a:t>N</a:t>
            </a:r>
            <a:r>
              <a:rPr sz="2000" b="0" i="0">
                <a:solidFill>
                  <a:srgbClr val="23232B"/>
                </a:solidFill>
                <a:latin typeface="Calibri"/>
              </a:rPr>
              <a:t>; output resistance is always R</a:t>
            </a:r>
          </a:p>
          <a:p>
            <a:pPr algn="l" marL="274320" indent="-274320">
              <a:lnSpc>
                <a:spcPct val="100000"/>
              </a:lnSpc>
              <a:spcAft>
                <a:spcPts val="1000"/>
              </a:spcAft>
              <a:buClr>
                <a:srgbClr val="00A9CE"/>
              </a:buClr>
              <a:buFont typeface="Arial"/>
              <a:buChar char="•"/>
            </a:pPr>
            <a:r>
              <a:rPr sz="2000" b="0" i="0">
                <a:solidFill>
                  <a:srgbClr val="23232B"/>
                </a:solidFill>
                <a:latin typeface="Calibri"/>
              </a:rPr>
              <a:t>SAR: binary search with one comparator and a DAC, MSB first</a:t>
            </a:r>
          </a:p>
          <a:p>
            <a:pPr algn="l" marL="274320" indent="-274320">
              <a:lnSpc>
                <a:spcPct val="100000"/>
              </a:lnSpc>
              <a:spcAft>
                <a:spcPts val="1000"/>
              </a:spcAft>
              <a:buClr>
                <a:srgbClr val="00A9CE"/>
              </a:buClr>
              <a:buFont typeface="Arial"/>
              <a:buChar char="•"/>
            </a:pPr>
            <a:r>
              <a:rPr sz="2000" b="0" i="0">
                <a:solidFill>
                  <a:srgbClr val="23232B"/>
                </a:solidFill>
                <a:latin typeface="Calibri"/>
              </a:rPr>
              <a:t>N clock cycles for N bits; 8 … 18 bit, typical in microcontrollers</a:t>
            </a:r>
          </a:p>
        </p:txBody>
      </p:sp>
      <p:sp>
        <p:nvSpPr>
          <p:cNvPr id="12" name="Key rule"/>
          <p:cNvSpPr/>
          <p:nvPr/>
        </p:nvSpPr>
        <p:spPr>
          <a:xfrm>
            <a:off x="548640" y="41788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rule label"/>
          <p:cNvSpPr txBox="1"/>
          <p:nvPr/>
        </p:nvSpPr>
        <p:spPr>
          <a:xfrm>
            <a:off x="777240" y="4288535"/>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14" name="Key rule text"/>
          <p:cNvSpPr txBox="1"/>
          <p:nvPr/>
        </p:nvSpPr>
        <p:spPr>
          <a:xfrm>
            <a:off x="777240" y="45628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out</a:t>
            </a:r>
            <a:r>
              <a:rPr sz="1700" b="1" i="0">
                <a:solidFill>
                  <a:srgbClr val="4E2A8C"/>
                </a:solidFill>
                <a:latin typeface="Calibri"/>
              </a:rPr>
              <a:t> = V</a:t>
            </a:r>
            <a:r>
              <a:rPr sz="1700" b="1" i="0" baseline="-25000">
                <a:solidFill>
                  <a:srgbClr val="4E2A8C"/>
                </a:solidFill>
                <a:latin typeface="Calibri"/>
              </a:rPr>
              <a:t>ref</a:t>
            </a:r>
            <a:r>
              <a:rPr sz="1700" b="1" i="0">
                <a:solidFill>
                  <a:srgbClr val="4E2A8C"/>
                </a:solidFill>
                <a:latin typeface="Calibri"/>
              </a:rPr>
              <a:t>·(B</a:t>
            </a:r>
            <a:r>
              <a:rPr sz="1700" b="1" i="0" baseline="-25000">
                <a:solidFill>
                  <a:srgbClr val="4E2A8C"/>
                </a:solidFill>
                <a:latin typeface="Calibri"/>
              </a:rPr>
              <a:t>2</a:t>
            </a:r>
            <a:r>
              <a:rPr sz="1700" b="1" i="0">
                <a:solidFill>
                  <a:srgbClr val="4E2A8C"/>
                </a:solidFill>
                <a:latin typeface="Calibri"/>
              </a:rPr>
              <a:t>/2 + B</a:t>
            </a:r>
            <a:r>
              <a:rPr sz="1700" b="1" i="0" baseline="-25000">
                <a:solidFill>
                  <a:srgbClr val="4E2A8C"/>
                </a:solidFill>
                <a:latin typeface="Calibri"/>
              </a:rPr>
              <a:t>1</a:t>
            </a:r>
            <a:r>
              <a:rPr sz="1700" b="1" i="0">
                <a:solidFill>
                  <a:srgbClr val="4E2A8C"/>
                </a:solidFill>
                <a:latin typeface="Calibri"/>
              </a:rPr>
              <a:t>/4 + B</a:t>
            </a:r>
            <a:r>
              <a:rPr sz="1700" b="1" i="0" baseline="-25000">
                <a:solidFill>
                  <a:srgbClr val="4E2A8C"/>
                </a:solidFill>
                <a:latin typeface="Calibri"/>
              </a:rPr>
              <a:t>0</a:t>
            </a:r>
            <a:r>
              <a:rPr sz="1700" b="1" i="0">
                <a:solidFill>
                  <a:srgbClr val="4E2A8C"/>
                </a:solidFill>
                <a:latin typeface="Calibri"/>
              </a:rPr>
              <a:t>/8)</a:t>
            </a:r>
          </a:p>
        </p:txBody>
      </p:sp>
      <p:pic>
        <p:nvPicPr>
          <p:cNvPr id="15" name="RWU logo" descr="rwu_logo.png"/>
          <p:cNvPicPr>
            <a:picLocks noChangeAspect="1"/>
          </p:cNvPicPr>
          <p:nvPr/>
        </p:nvPicPr>
        <p:blipFill>
          <a:blip r:embed="rId4"/>
          <a:stretch>
            <a:fillRect/>
          </a:stretch>
        </p:blipFill>
        <p:spPr>
          <a:xfrm>
            <a:off x="548640" y="6382512"/>
            <a:ext cx="826569" cy="274320"/>
          </a:xfrm>
          <a:prstGeom prst="rect">
            <a:avLst/>
          </a:prstGeom>
        </p:spPr>
      </p:pic>
      <p:sp>
        <p:nvSpPr>
          <p:cNvPr id="1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1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OTHER CONVERTER ARCHITECTURES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Choosing a converter architecture</a:t>
            </a:r>
          </a:p>
        </p:txBody>
      </p:sp>
      <p:sp>
        <p:nvSpPr>
          <p:cNvPr id="4" name="Compare card"/>
          <p:cNvSpPr/>
          <p:nvPr/>
        </p:nvSpPr>
        <p:spPr>
          <a:xfrm>
            <a:off x="548640" y="1298448"/>
            <a:ext cx="5364327" cy="2707640"/>
          </a:xfrm>
          <a:prstGeom prst="roundRect">
            <a:avLst>
              <a:gd name="adj" fmla="val 4727"/>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868680"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6638B6"/>
                </a:solidFill>
                <a:latin typeface="Calibri"/>
              </a:rPr>
              <a:t>Fast</a:t>
            </a:r>
          </a:p>
        </p:txBody>
      </p:sp>
      <p:sp>
        <p:nvSpPr>
          <p:cNvPr id="6" name="Card bullets"/>
          <p:cNvSpPr txBox="1"/>
          <p:nvPr/>
        </p:nvSpPr>
        <p:spPr>
          <a:xfrm>
            <a:off x="868680" y="2167128"/>
            <a:ext cx="4724247" cy="16560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Flash: 4 … 8 bit, up to GS/s, oscilloscopes</a:t>
            </a:r>
          </a:p>
          <a:p>
            <a:pPr algn="l" marL="274320" indent="-274320">
              <a:lnSpc>
                <a:spcPct val="100000"/>
              </a:lnSpc>
              <a:spcAft>
                <a:spcPts val="1000"/>
              </a:spcAft>
              <a:buClr>
                <a:srgbClr val="00A9CE"/>
              </a:buClr>
              <a:buFont typeface="Arial"/>
              <a:buChar char="•"/>
            </a:pPr>
            <a:r>
              <a:rPr sz="2000" b="0" i="0">
                <a:solidFill>
                  <a:srgbClr val="23232B"/>
                </a:solidFill>
                <a:latin typeface="Calibri"/>
              </a:rPr>
              <a:t>SAR: 8 … 18 bit, kS/s … MS/s, microcontrollers</a:t>
            </a:r>
          </a:p>
          <a:p>
            <a:pPr algn="l" marL="274320" indent="-274320">
              <a:lnSpc>
                <a:spcPct val="100000"/>
              </a:lnSpc>
              <a:spcAft>
                <a:spcPts val="1000"/>
              </a:spcAft>
              <a:buClr>
                <a:srgbClr val="00A9CE"/>
              </a:buClr>
              <a:buFont typeface="Arial"/>
              <a:buChar char="•"/>
            </a:pPr>
            <a:r>
              <a:rPr sz="2000" b="0" i="0">
                <a:solidFill>
                  <a:srgbClr val="23232B"/>
                </a:solidFill>
                <a:latin typeface="Calibri"/>
              </a:rPr>
              <a:t>Need an anti-aliasing filter in front</a:t>
            </a:r>
          </a:p>
        </p:txBody>
      </p:sp>
      <p:sp>
        <p:nvSpPr>
          <p:cNvPr id="7" name="Compare card"/>
          <p:cNvSpPr/>
          <p:nvPr/>
        </p:nvSpPr>
        <p:spPr>
          <a:xfrm>
            <a:off x="6278727" y="1298448"/>
            <a:ext cx="5364327" cy="2707640"/>
          </a:xfrm>
          <a:prstGeom prst="roundRect">
            <a:avLst>
              <a:gd name="adj" fmla="val 4727"/>
            </a:avLst>
          </a:prstGeom>
          <a:solidFill>
            <a:srgbClr val="E5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6598767"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007F9B"/>
                </a:solidFill>
                <a:latin typeface="Calibri"/>
              </a:rPr>
              <a:t>Precise</a:t>
            </a:r>
          </a:p>
        </p:txBody>
      </p:sp>
      <p:sp>
        <p:nvSpPr>
          <p:cNvPr id="9" name="Card bullets"/>
          <p:cNvSpPr txBox="1"/>
          <p:nvPr/>
        </p:nvSpPr>
        <p:spPr>
          <a:xfrm>
            <a:off x="6598767" y="2167128"/>
            <a:ext cx="4724247" cy="16560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Dual-slope: 12 … 22 bit, 1 … 100 S/s, multimeters</a:t>
            </a:r>
          </a:p>
          <a:p>
            <a:pPr algn="l" marL="274320" indent="-274320">
              <a:lnSpc>
                <a:spcPct val="100000"/>
              </a:lnSpc>
              <a:spcAft>
                <a:spcPts val="1000"/>
              </a:spcAft>
              <a:buClr>
                <a:srgbClr val="00A9CE"/>
              </a:buClr>
              <a:buFont typeface="Arial"/>
              <a:buChar char="•"/>
            </a:pPr>
            <a:r>
              <a:rPr sz="2000" b="0" i="0">
                <a:solidFill>
                  <a:srgbClr val="23232B"/>
                </a:solidFill>
                <a:latin typeface="Calibri"/>
              </a:rPr>
              <a:t>Sigma-delta: 16 … 24 bit, audio, scales</a:t>
            </a:r>
          </a:p>
          <a:p>
            <a:pPr algn="l" marL="274320" indent="-274320">
              <a:lnSpc>
                <a:spcPct val="100000"/>
              </a:lnSpc>
              <a:spcAft>
                <a:spcPts val="1000"/>
              </a:spcAft>
              <a:buClr>
                <a:srgbClr val="00A9CE"/>
              </a:buClr>
              <a:buFont typeface="Arial"/>
              <a:buChar char="•"/>
            </a:pPr>
            <a:r>
              <a:rPr sz="2000" b="0" i="0">
                <a:solidFill>
                  <a:srgbClr val="23232B"/>
                </a:solidFill>
                <a:latin typeface="Calibri"/>
              </a:rPr>
              <a:t>Built-in 50 Hz or digital filtering</a:t>
            </a:r>
          </a:p>
        </p:txBody>
      </p:sp>
      <p:pic>
        <p:nvPicPr>
          <p:cNvPr id="10"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EXERCISES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Now work it out in the script</a:t>
            </a:r>
          </a:p>
        </p:txBody>
      </p:sp>
      <p:sp>
        <p:nvSpPr>
          <p:cNvPr id="4" name="Intro"/>
          <p:cNvSpPr txBox="1"/>
          <p:nvPr/>
        </p:nvSpPr>
        <p:spPr>
          <a:xfrm>
            <a:off x="548640" y="1298448"/>
            <a:ext cx="11094415" cy="640080"/>
          </a:xfrm>
          <a:prstGeom prst="rect">
            <a:avLst/>
          </a:prstGeom>
          <a:noFill/>
        </p:spPr>
        <p:txBody>
          <a:bodyPr wrap="square" lIns="0" rIns="0" tIns="0" bIns="0" anchor="t">
            <a:noAutofit/>
          </a:bodyPr>
          <a:lstStyle/>
          <a:p>
            <a:pPr algn="l">
              <a:lnSpc>
                <a:spcPct val="100000"/>
              </a:lnSpc>
              <a:spcAft>
                <a:spcPts val="600"/>
              </a:spcAft>
              <a:buNone/>
            </a:pPr>
            <a:r>
              <a:rPr sz="1800" b="0" i="0">
                <a:solidFill>
                  <a:srgbClr val="62626E"/>
                </a:solidFill>
                <a:latin typeface="Calibri"/>
              </a:rPr>
              <a:t>Derivations, worked numbers and solutions: script, chapter 9 “Analog-to-Digital Conversion”. Check each result in the Falstad examples.</a:t>
            </a:r>
          </a:p>
        </p:txBody>
      </p:sp>
      <p:sp>
        <p:nvSpPr>
          <p:cNvPr id="5" name="Exercise card"/>
          <p:cNvSpPr/>
          <p:nvPr/>
        </p:nvSpPr>
        <p:spPr>
          <a:xfrm>
            <a:off x="548640"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rcise number"/>
          <p:cNvSpPr/>
          <p:nvPr/>
        </p:nvSpPr>
        <p:spPr>
          <a:xfrm>
            <a:off x="548640"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9.1</a:t>
            </a:r>
          </a:p>
        </p:txBody>
      </p:sp>
      <p:sp>
        <p:nvSpPr>
          <p:cNvPr id="8" name="Exercise title"/>
          <p:cNvSpPr txBox="1"/>
          <p:nvPr/>
        </p:nvSpPr>
        <p:spPr>
          <a:xfrm>
            <a:off x="1645919"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Aliasing</a:t>
            </a:r>
          </a:p>
        </p:txBody>
      </p:sp>
      <p:sp>
        <p:nvSpPr>
          <p:cNvPr id="9" name="Exercise card"/>
          <p:cNvSpPr/>
          <p:nvPr/>
        </p:nvSpPr>
        <p:spPr>
          <a:xfrm>
            <a:off x="548640"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ercise number"/>
          <p:cNvSpPr/>
          <p:nvPr/>
        </p:nvSpPr>
        <p:spPr>
          <a:xfrm>
            <a:off x="548640"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9.2</a:t>
            </a:r>
          </a:p>
        </p:txBody>
      </p:sp>
      <p:sp>
        <p:nvSpPr>
          <p:cNvPr id="12" name="Exercise title"/>
          <p:cNvSpPr txBox="1"/>
          <p:nvPr/>
        </p:nvSpPr>
        <p:spPr>
          <a:xfrm>
            <a:off x="1645919"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Quantization</a:t>
            </a:r>
          </a:p>
        </p:txBody>
      </p:sp>
      <p:sp>
        <p:nvSpPr>
          <p:cNvPr id="13" name="Exercise card"/>
          <p:cNvSpPr/>
          <p:nvPr/>
        </p:nvSpPr>
        <p:spPr>
          <a:xfrm>
            <a:off x="548640"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xercise number"/>
          <p:cNvSpPr/>
          <p:nvPr/>
        </p:nvSpPr>
        <p:spPr>
          <a:xfrm>
            <a:off x="548640"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9.3</a:t>
            </a:r>
          </a:p>
        </p:txBody>
      </p:sp>
      <p:sp>
        <p:nvSpPr>
          <p:cNvPr id="16" name="Exercise title"/>
          <p:cNvSpPr txBox="1"/>
          <p:nvPr/>
        </p:nvSpPr>
        <p:spPr>
          <a:xfrm>
            <a:off x="1645919"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Designing the 3-bit flash converter</a:t>
            </a:r>
          </a:p>
        </p:txBody>
      </p:sp>
      <p:sp>
        <p:nvSpPr>
          <p:cNvPr id="17" name="Exercise card"/>
          <p:cNvSpPr/>
          <p:nvPr/>
        </p:nvSpPr>
        <p:spPr>
          <a:xfrm>
            <a:off x="6233007"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xercise number"/>
          <p:cNvSpPr/>
          <p:nvPr/>
        </p:nvSpPr>
        <p:spPr>
          <a:xfrm>
            <a:off x="6233007"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9.4</a:t>
            </a:r>
          </a:p>
        </p:txBody>
      </p:sp>
      <p:sp>
        <p:nvSpPr>
          <p:cNvPr id="20" name="Exercise title"/>
          <p:cNvSpPr txBox="1"/>
          <p:nvPr/>
        </p:nvSpPr>
        <p:spPr>
          <a:xfrm>
            <a:off x="7330287"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Bubble error</a:t>
            </a:r>
          </a:p>
        </p:txBody>
      </p:sp>
      <p:sp>
        <p:nvSpPr>
          <p:cNvPr id="21" name="Exercise card"/>
          <p:cNvSpPr/>
          <p:nvPr/>
        </p:nvSpPr>
        <p:spPr>
          <a:xfrm>
            <a:off x="6233007"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xercise number"/>
          <p:cNvSpPr/>
          <p:nvPr/>
        </p:nvSpPr>
        <p:spPr>
          <a:xfrm>
            <a:off x="6233007"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3007"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9.5</a:t>
            </a:r>
          </a:p>
        </p:txBody>
      </p:sp>
      <p:sp>
        <p:nvSpPr>
          <p:cNvPr id="24" name="Exercise title"/>
          <p:cNvSpPr txBox="1"/>
          <p:nvPr/>
        </p:nvSpPr>
        <p:spPr>
          <a:xfrm>
            <a:off x="7330287"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LED display</a:t>
            </a:r>
          </a:p>
        </p:txBody>
      </p:sp>
      <p:sp>
        <p:nvSpPr>
          <p:cNvPr id="25" name="Exercise card"/>
          <p:cNvSpPr/>
          <p:nvPr/>
        </p:nvSpPr>
        <p:spPr>
          <a:xfrm>
            <a:off x="6233007"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xercise number"/>
          <p:cNvSpPr/>
          <p:nvPr/>
        </p:nvSpPr>
        <p:spPr>
          <a:xfrm>
            <a:off x="6233007"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33007"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9.6</a:t>
            </a:r>
          </a:p>
        </p:txBody>
      </p:sp>
      <p:sp>
        <p:nvSpPr>
          <p:cNvPr id="28" name="Exercise title"/>
          <p:cNvSpPr txBox="1"/>
          <p:nvPr/>
        </p:nvSpPr>
        <p:spPr>
          <a:xfrm>
            <a:off x="7330287"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Schmitt trigger, R-2R DAC and SAR</a:t>
            </a:r>
          </a:p>
        </p:txBody>
      </p:sp>
      <p:pic>
        <p:nvPicPr>
          <p:cNvPr id="29"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3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Analog-to-Digital Conversion</a:t>
            </a:r>
          </a:p>
        </p:txBody>
      </p:sp>
      <p:sp>
        <p:nvSpPr>
          <p:cNvPr id="3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6638B6"/>
        </a:solidFill>
        <a:effectLst/>
      </p:bgPr>
    </p:bg>
    <p:spTree>
      <p:nvGrpSpPr>
        <p:cNvPr id="1" name=""/>
        <p:cNvGrpSpPr/>
        <p:nvPr/>
      </p:nvGrpSpPr>
      <p:grpSpPr/>
      <p:sp>
        <p:nvSpPr>
          <p:cNvPr id="2" name="Chapter number"/>
          <p:cNvSpPr txBox="1"/>
          <p:nvPr/>
        </p:nvSpPr>
        <p:spPr>
          <a:xfrm>
            <a:off x="548640" y="822960"/>
            <a:ext cx="2743200" cy="1463040"/>
          </a:xfrm>
          <a:prstGeom prst="rect">
            <a:avLst/>
          </a:prstGeom>
          <a:noFill/>
        </p:spPr>
        <p:txBody>
          <a:bodyPr wrap="square" lIns="0" rIns="0" tIns="0" bIns="0" anchor="t">
            <a:noAutofit/>
          </a:bodyPr>
          <a:lstStyle/>
          <a:p>
            <a:pPr algn="l">
              <a:lnSpc>
                <a:spcPct val="100000"/>
              </a:lnSpc>
              <a:spcAft>
                <a:spcPts val="600"/>
              </a:spcAft>
              <a:buNone/>
            </a:pPr>
            <a:r>
              <a:rPr sz="9600" b="1" i="0">
                <a:solidFill>
                  <a:srgbClr val="9B7DD4"/>
                </a:solidFill>
                <a:latin typeface="Calibri"/>
              </a:rPr>
              <a:t>10</a:t>
            </a:r>
          </a:p>
        </p:txBody>
      </p:sp>
      <p:sp>
        <p:nvSpPr>
          <p:cNvPr id="3" name="Chapter title"/>
          <p:cNvSpPr txBox="1"/>
          <p:nvPr/>
        </p:nvSpPr>
        <p:spPr>
          <a:xfrm>
            <a:off x="548640" y="2331720"/>
            <a:ext cx="11094415" cy="914400"/>
          </a:xfrm>
          <a:prstGeom prst="rect">
            <a:avLst/>
          </a:prstGeom>
          <a:noFill/>
        </p:spPr>
        <p:txBody>
          <a:bodyPr wrap="square" lIns="0" rIns="0" tIns="0" bIns="0" anchor="ctr">
            <a:noAutofit/>
          </a:bodyPr>
          <a:lstStyle/>
          <a:p>
            <a:pPr algn="l">
              <a:lnSpc>
                <a:spcPct val="100000"/>
              </a:lnSpc>
              <a:spcAft>
                <a:spcPts val="600"/>
              </a:spcAft>
              <a:buNone/>
            </a:pPr>
            <a:r>
              <a:rPr sz="4400" b="1" i="0">
                <a:solidFill>
                  <a:srgbClr val="FFFFFF"/>
                </a:solidFill>
                <a:latin typeface="Calibri"/>
              </a:rPr>
              <a:t>From Sensor to Digital Value</a:t>
            </a:r>
          </a:p>
        </p:txBody>
      </p:sp>
      <p:sp>
        <p:nvSpPr>
          <p:cNvPr id="4" name="Chapter subtitle"/>
          <p:cNvSpPr txBox="1"/>
          <p:nvPr/>
        </p:nvSpPr>
        <p:spPr>
          <a:xfrm>
            <a:off x="548640" y="3246120"/>
            <a:ext cx="11094415" cy="457200"/>
          </a:xfrm>
          <a:prstGeom prst="rect">
            <a:avLst/>
          </a:prstGeom>
          <a:noFill/>
        </p:spPr>
        <p:txBody>
          <a:bodyPr wrap="square" lIns="0" rIns="0" tIns="0" bIns="0" anchor="t">
            <a:noAutofit/>
          </a:bodyPr>
          <a:lstStyle/>
          <a:p>
            <a:pPr algn="l">
              <a:lnSpc>
                <a:spcPct val="100000"/>
              </a:lnSpc>
              <a:spcAft>
                <a:spcPts val="600"/>
              </a:spcAft>
              <a:buNone/>
            </a:pPr>
            <a:r>
              <a:rPr sz="2000" b="0" i="0">
                <a:solidFill>
                  <a:srgbClr val="CFE9F3"/>
                </a:solidFill>
                <a:latin typeface="Calibri"/>
              </a:rPr>
              <a:t>The whole course in one chain: Pt100 thermometer to 3-bit code on LEDs</a:t>
            </a:r>
          </a:p>
        </p:txBody>
      </p:sp>
      <p:sp>
        <p:nvSpPr>
          <p:cNvPr id="5" name="Takeaway card"/>
          <p:cNvSpPr/>
          <p:nvPr/>
        </p:nvSpPr>
        <p:spPr>
          <a:xfrm>
            <a:off x="548640"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1</a:t>
            </a:r>
          </a:p>
        </p:txBody>
      </p:sp>
      <p:sp>
        <p:nvSpPr>
          <p:cNvPr id="7" name="Takeaway"/>
          <p:cNvSpPr txBox="1"/>
          <p:nvPr/>
        </p:nvSpPr>
        <p:spPr>
          <a:xfrm>
            <a:off x="822959"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One 4 V reference for bridge and ladder: ratiometric</a:t>
            </a:r>
          </a:p>
        </p:txBody>
      </p:sp>
      <p:sp>
        <p:nvSpPr>
          <p:cNvPr id="8" name="Takeaway card"/>
          <p:cNvSpPr/>
          <p:nvPr/>
        </p:nvSpPr>
        <p:spPr>
          <a:xfrm>
            <a:off x="4338218"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2538"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2</a:t>
            </a:r>
          </a:p>
        </p:txBody>
      </p:sp>
      <p:sp>
        <p:nvSpPr>
          <p:cNvPr id="10" name="Takeaway"/>
          <p:cNvSpPr txBox="1"/>
          <p:nvPr/>
        </p:nvSpPr>
        <p:spPr>
          <a:xfrm>
            <a:off x="4612538"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Anti-aliasing filter removes 50 Hz before sampling</a:t>
            </a:r>
          </a:p>
        </p:txBody>
      </p:sp>
      <p:sp>
        <p:nvSpPr>
          <p:cNvPr id="11" name="Takeaway card"/>
          <p:cNvSpPr/>
          <p:nvPr/>
        </p:nvSpPr>
        <p:spPr>
          <a:xfrm>
            <a:off x="8127796" y="4160520"/>
            <a:ext cx="3515258" cy="1600200"/>
          </a:xfrm>
          <a:prstGeom prst="roundRect">
            <a:avLst>
              <a:gd name="adj" fmla="val 8000"/>
            </a:avLst>
          </a:prstGeom>
          <a:solidFill>
            <a:srgbClr val="7A5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2116" y="4315968"/>
            <a:ext cx="2966618" cy="274320"/>
          </a:xfrm>
          <a:prstGeom prst="rect">
            <a:avLst/>
          </a:prstGeom>
          <a:noFill/>
        </p:spPr>
        <p:txBody>
          <a:bodyPr wrap="square" lIns="0" rIns="0" tIns="0" bIns="0" anchor="t">
            <a:noAutofit/>
          </a:bodyPr>
          <a:lstStyle/>
          <a:p>
            <a:pPr algn="l">
              <a:lnSpc>
                <a:spcPct val="100000"/>
              </a:lnSpc>
              <a:spcAft>
                <a:spcPts val="600"/>
              </a:spcAft>
              <a:buNone/>
            </a:pPr>
            <a:r>
              <a:rPr sz="1100" b="1" i="0">
                <a:solidFill>
                  <a:srgbClr val="CFE9F3"/>
                </a:solidFill>
                <a:latin typeface="Calibri"/>
              </a:rPr>
              <a:t>TAKE-HOME 3</a:t>
            </a:r>
          </a:p>
        </p:txBody>
      </p:sp>
      <p:sp>
        <p:nvSpPr>
          <p:cNvPr id="13" name="Takeaway"/>
          <p:cNvSpPr txBox="1"/>
          <p:nvPr/>
        </p:nvSpPr>
        <p:spPr>
          <a:xfrm>
            <a:off x="8402116" y="4636008"/>
            <a:ext cx="2966618" cy="1005840"/>
          </a:xfrm>
          <a:prstGeom prst="rect">
            <a:avLst/>
          </a:prstGeom>
          <a:noFill/>
        </p:spPr>
        <p:txBody>
          <a:bodyPr wrap="square" lIns="0" rIns="0" tIns="0" bIns="0" anchor="t">
            <a:noAutofit/>
          </a:bodyPr>
          <a:lstStyle/>
          <a:p>
            <a:pPr algn="l">
              <a:lnSpc>
                <a:spcPct val="100000"/>
              </a:lnSpc>
              <a:spcAft>
                <a:spcPts val="600"/>
              </a:spcAft>
              <a:buNone/>
            </a:pPr>
            <a:r>
              <a:rPr sz="1800" b="1" i="0">
                <a:solidFill>
                  <a:srgbClr val="FFFFFF"/>
                </a:solidFill>
                <a:latin typeface="Calibri"/>
              </a:rPr>
              <a:t>Verify in Falstad at bin centres, not at thresholds</a:t>
            </a:r>
          </a:p>
        </p:txBody>
      </p:sp>
      <p:sp>
        <p:nvSpPr>
          <p:cNvPr id="14" name="Footer"/>
          <p:cNvSpPr txBox="1"/>
          <p:nvPr/>
        </p:nvSpPr>
        <p:spPr>
          <a:xfrm>
            <a:off x="548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FFFFFF"/>
                </a:solidFill>
                <a:latin typeface="Calibri"/>
              </a:rPr>
              <a:t>Electronic Circuit Design  ·  From Sensor to Digital Value</a:t>
            </a:r>
          </a:p>
        </p:txBody>
      </p:sp>
      <p:sp>
        <p:nvSpPr>
          <p:cNvPr id="15"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FFFFFF"/>
                </a:solidFill>
                <a:latin typeface="Calibri"/>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MEASUREMENT CHAIN</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Five stages from sensor to code</a:t>
            </a:r>
          </a:p>
        </p:txBody>
      </p:sp>
      <p:sp>
        <p:nvSpPr>
          <p:cNvPr id="4" name="Figure panel"/>
          <p:cNvSpPr/>
          <p:nvPr/>
        </p:nvSpPr>
        <p:spPr>
          <a:xfrm>
            <a:off x="548640" y="4041648"/>
            <a:ext cx="11094415" cy="2103120"/>
          </a:xfrm>
          <a:prstGeom prst="roundRect">
            <a:avLst>
              <a:gd name="adj" fmla="val 5217"/>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five-stages-from-sensor-to-code-1.png"/>
          <p:cNvPicPr>
            <a:picLocks noChangeAspect="1"/>
          </p:cNvPicPr>
          <p:nvPr/>
        </p:nvPicPr>
        <p:blipFill>
          <a:blip r:embed="rId2"/>
          <a:stretch>
            <a:fillRect/>
          </a:stretch>
        </p:blipFill>
        <p:spPr>
          <a:xfrm>
            <a:off x="1939339" y="4242816"/>
            <a:ext cx="8313015" cy="1700784"/>
          </a:xfrm>
          <a:prstGeom prst="rect">
            <a:avLst/>
          </a:prstGeom>
        </p:spPr>
      </p:pic>
      <p:sp>
        <p:nvSpPr>
          <p:cNvPr id="6" name="Bullets"/>
          <p:cNvSpPr txBox="1"/>
          <p:nvPr/>
        </p:nvSpPr>
        <p:spPr>
          <a:xfrm>
            <a:off x="548640" y="1298448"/>
            <a:ext cx="11094415" cy="24688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0 … 100 °C → 0 … 4.00 V → code 000 … 111</a:t>
            </a:r>
          </a:p>
          <a:p>
            <a:pPr algn="l" marL="274320" indent="-274320">
              <a:lnSpc>
                <a:spcPct val="100000"/>
              </a:lnSpc>
              <a:spcAft>
                <a:spcPts val="1000"/>
              </a:spcAft>
              <a:buClr>
                <a:srgbClr val="00A9CE"/>
              </a:buClr>
              <a:buFont typeface="Arial"/>
              <a:buChar char="•"/>
            </a:pPr>
            <a:r>
              <a:rPr sz="2000" b="0" i="0">
                <a:solidFill>
                  <a:srgbClr val="23232B"/>
                </a:solidFill>
                <a:latin typeface="Calibri"/>
              </a:rPr>
              <a:t>LSB = 4 V/2</a:t>
            </a:r>
            <a:r>
              <a:rPr sz="2000" b="0" i="0" baseline="30000">
                <a:solidFill>
                  <a:srgbClr val="23232B"/>
                </a:solidFill>
                <a:latin typeface="Calibri"/>
              </a:rPr>
              <a:t>3</a:t>
            </a:r>
            <a:r>
              <a:rPr sz="2000" b="0" i="0">
                <a:solidFill>
                  <a:srgbClr val="23232B"/>
                </a:solidFill>
                <a:latin typeface="Calibri"/>
              </a:rPr>
              <a:t> = 0.5 V → 12.5 °C</a:t>
            </a:r>
          </a:p>
          <a:p>
            <a:pPr algn="l" marL="274320" indent="-274320">
              <a:lnSpc>
                <a:spcPct val="100000"/>
              </a:lnSpc>
              <a:spcAft>
                <a:spcPts val="1000"/>
              </a:spcAft>
              <a:buClr>
                <a:srgbClr val="00A9CE"/>
              </a:buClr>
              <a:buFont typeface="Arial"/>
              <a:buChar char="•"/>
            </a:pPr>
            <a:r>
              <a:rPr sz="2000" b="0" i="0">
                <a:solidFill>
                  <a:srgbClr val="23232B"/>
                </a:solidFill>
                <a:latin typeface="Calibri"/>
              </a:rPr>
              <a:t>Interference: 5 mV at 50 Hz in series with the sensor</a:t>
            </a:r>
          </a:p>
          <a:p>
            <a:pPr algn="l" marL="274320" indent="-274320">
              <a:lnSpc>
                <a:spcPct val="100000"/>
              </a:lnSpc>
              <a:spcAft>
                <a:spcPts val="1000"/>
              </a:spcAft>
              <a:buClr>
                <a:srgbClr val="00A9CE"/>
              </a:buClr>
              <a:buFont typeface="Arial"/>
              <a:buChar char="•"/>
            </a:pPr>
            <a:r>
              <a:rPr sz="2000" b="0" i="0">
                <a:solidFill>
                  <a:srgbClr val="23232B"/>
                </a:solidFill>
                <a:latin typeface="Calibri"/>
              </a:rPr>
              <a:t>Every stage is a circuit from an earlier chapter</a:t>
            </a:r>
          </a:p>
        </p:txBody>
      </p:sp>
      <p:pic>
        <p:nvPicPr>
          <p:cNvPr id="7"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8"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From Sensor to Digital Value</a:t>
            </a:r>
          </a:p>
        </p:txBody>
      </p:sp>
      <p:sp>
        <p:nvSpPr>
          <p:cNvPr id="9"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MEASUREMENT CHAIN</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Design values at a glance</a:t>
            </a:r>
          </a:p>
        </p:txBody>
      </p:sp>
      <p:sp>
        <p:nvSpPr>
          <p:cNvPr id="4" name="Bullets"/>
          <p:cNvSpPr txBox="1"/>
          <p:nvPr/>
        </p:nvSpPr>
        <p:spPr>
          <a:xfrm>
            <a:off x="548640" y="1298448"/>
            <a:ext cx="11094415" cy="48463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Pt100, 100 … 138.5 Ω, sensor current ≈ 1 mA</a:t>
            </a:r>
          </a:p>
          <a:p>
            <a:pPr algn="l" marL="274320" indent="-274320">
              <a:lnSpc>
                <a:spcPct val="100000"/>
              </a:lnSpc>
              <a:spcAft>
                <a:spcPts val="1000"/>
              </a:spcAft>
              <a:buClr>
                <a:srgbClr val="00A9CE"/>
              </a:buClr>
              <a:buFont typeface="Arial"/>
              <a:buChar char="•"/>
            </a:pPr>
            <a:r>
              <a:rPr sz="2000" b="0" i="0">
                <a:solidFill>
                  <a:srgbClr val="23232B"/>
                </a:solidFill>
                <a:latin typeface="Calibri"/>
              </a:rPr>
              <a:t>Gain 107.6 = 10 × 10.76 (each stage &lt; 100)</a:t>
            </a:r>
          </a:p>
          <a:p>
            <a:pPr algn="l" marL="274320" indent="-274320">
              <a:lnSpc>
                <a:spcPct val="100000"/>
              </a:lnSpc>
              <a:spcAft>
                <a:spcPts val="1000"/>
              </a:spcAft>
              <a:buClr>
                <a:srgbClr val="00A9CE"/>
              </a:buClr>
              <a:buFont typeface="Arial"/>
              <a:buChar char="•"/>
            </a:pPr>
            <a:r>
              <a:rPr sz="2000" b="0" i="0">
                <a:solidFill>
                  <a:srgbClr val="23232B"/>
                </a:solidFill>
                <a:latin typeface="Calibri"/>
              </a:rPr>
              <a:t>Anti-aliasing 6.8 kΩ, 10 µF: f</a:t>
            </a:r>
            <a:r>
              <a:rPr sz="2000" b="0" i="0" baseline="-25000">
                <a:solidFill>
                  <a:srgbClr val="23232B"/>
                </a:solidFill>
                <a:latin typeface="Calibri"/>
              </a:rPr>
              <a:t>c</a:t>
            </a:r>
            <a:r>
              <a:rPr sz="2000" b="0" i="0">
                <a:solidFill>
                  <a:srgbClr val="23232B"/>
                </a:solidFill>
                <a:latin typeface="Calibri"/>
              </a:rPr>
              <a:t> = 2.34 Hz</a:t>
            </a:r>
          </a:p>
          <a:p>
            <a:pPr algn="l" marL="274320" indent="-274320">
              <a:lnSpc>
                <a:spcPct val="100000"/>
              </a:lnSpc>
              <a:spcAft>
                <a:spcPts val="1000"/>
              </a:spcAft>
              <a:buClr>
                <a:srgbClr val="00A9CE"/>
              </a:buClr>
              <a:buFont typeface="Arial"/>
              <a:buChar char="•"/>
            </a:pPr>
            <a:r>
              <a:rPr sz="2000" b="0" i="0">
                <a:solidFill>
                  <a:srgbClr val="23232B"/>
                </a:solidFill>
                <a:latin typeface="Calibri"/>
              </a:rPr>
              <a:t>S&amp;H: f</a:t>
            </a:r>
            <a:r>
              <a:rPr sz="2000" b="0" i="0" baseline="-25000">
                <a:solidFill>
                  <a:srgbClr val="23232B"/>
                </a:solidFill>
                <a:latin typeface="Calibri"/>
              </a:rPr>
              <a:t>s</a:t>
            </a:r>
            <a:r>
              <a:rPr sz="2000" b="0" i="0">
                <a:solidFill>
                  <a:srgbClr val="23232B"/>
                </a:solidFill>
                <a:latin typeface="Calibri"/>
              </a:rPr>
              <a:t> = 5 Hz, 20 ms window, C</a:t>
            </a:r>
            <a:r>
              <a:rPr sz="2000" b="0" i="0" baseline="-25000">
                <a:solidFill>
                  <a:srgbClr val="23232B"/>
                </a:solidFill>
                <a:latin typeface="Calibri"/>
              </a:rPr>
              <a:t>H</a:t>
            </a:r>
            <a:r>
              <a:rPr sz="2000" b="0" i="0">
                <a:solidFill>
                  <a:srgbClr val="23232B"/>
                </a:solidFill>
                <a:latin typeface="Calibri"/>
              </a:rPr>
              <a:t> = 1 µF</a:t>
            </a:r>
          </a:p>
          <a:p>
            <a:pPr algn="l" marL="274320" indent="-274320">
              <a:lnSpc>
                <a:spcPct val="100000"/>
              </a:lnSpc>
              <a:spcAft>
                <a:spcPts val="1000"/>
              </a:spcAft>
              <a:buClr>
                <a:srgbClr val="00A9CE"/>
              </a:buClr>
              <a:buFont typeface="Arial"/>
              <a:buChar char="•"/>
            </a:pPr>
            <a:r>
              <a:rPr sz="2000" b="0" i="0">
                <a:solidFill>
                  <a:srgbClr val="23232B"/>
                </a:solidFill>
                <a:latin typeface="Calibri"/>
              </a:rPr>
              <a:t>Flash: 8 × 1 kΩ, 7 comparators; display 10 × (LED + 330 Ω)</a:t>
            </a:r>
          </a:p>
        </p:txBody>
      </p:sp>
      <p:pic>
        <p:nvPicPr>
          <p:cNvPr id="5"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From Sensor to Digital Value</a:t>
            </a:r>
          </a:p>
        </p:txBody>
      </p:sp>
      <p:sp>
        <p:nvSpPr>
          <p:cNvPr id="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STAGE 1: SIGNAL CONDITIONING</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Stage 1: bridge, INA and gain</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instrumentation-amplifier-and-gain-stage-1.png"/>
          <p:cNvPicPr>
            <a:picLocks noChangeAspect="1"/>
          </p:cNvPicPr>
          <p:nvPr/>
        </p:nvPicPr>
        <p:blipFill>
          <a:blip r:embed="rId2"/>
          <a:stretch>
            <a:fillRect/>
          </a:stretch>
        </p:blipFill>
        <p:spPr>
          <a:xfrm>
            <a:off x="6876288" y="2768527"/>
            <a:ext cx="4565599" cy="1906160"/>
          </a:xfrm>
          <a:prstGeom prst="rect">
            <a:avLst/>
          </a:prstGeom>
        </p:spPr>
      </p:pic>
      <p:sp>
        <p:nvSpPr>
          <p:cNvPr id="6" name="Bullets"/>
          <p:cNvSpPr txBox="1"/>
          <p:nvPr/>
        </p:nvSpPr>
        <p:spPr>
          <a:xfrm>
            <a:off x="548640" y="1298448"/>
            <a:ext cx="5806440" cy="29921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Bridge fed from the 4.00 V reference, balanced at 0 °C (R</a:t>
            </a:r>
            <a:r>
              <a:rPr sz="2000" b="0" i="0" baseline="-25000">
                <a:solidFill>
                  <a:srgbClr val="23232B"/>
                </a:solidFill>
                <a:latin typeface="Calibri"/>
              </a:rPr>
              <a:t>4</a:t>
            </a:r>
            <a:r>
              <a:rPr sz="2000" b="0" i="0">
                <a:solidFill>
                  <a:srgbClr val="23232B"/>
                </a:solidFill>
                <a:latin typeface="Calibri"/>
              </a:rPr>
              <a:t> = 100 Ω)</a:t>
            </a:r>
          </a:p>
          <a:p>
            <a:pPr algn="l" marL="274320" indent="-274320">
              <a:lnSpc>
                <a:spcPct val="100000"/>
              </a:lnSpc>
              <a:spcAft>
                <a:spcPts val="1000"/>
              </a:spcAft>
              <a:buClr>
                <a:srgbClr val="00A9CE"/>
              </a:buClr>
              <a:buFont typeface="Arial"/>
              <a:buChar char="•"/>
            </a:pPr>
            <a:r>
              <a:rPr sz="2000" b="0" i="0">
                <a:solidFill>
                  <a:srgbClr val="23232B"/>
                </a:solidFill>
                <a:latin typeface="Calibri"/>
              </a:rPr>
              <a:t>Bridge output 0 … 37.18 mV; buffers keep the bridge unloaded</a:t>
            </a:r>
          </a:p>
          <a:p>
            <a:pPr algn="l" marL="274320" indent="-274320">
              <a:lnSpc>
                <a:spcPct val="100000"/>
              </a:lnSpc>
              <a:spcAft>
                <a:spcPts val="1000"/>
              </a:spcAft>
              <a:buClr>
                <a:srgbClr val="00A9CE"/>
              </a:buClr>
              <a:buFont typeface="Arial"/>
              <a:buChar char="•"/>
            </a:pPr>
            <a:r>
              <a:rPr sz="2000" b="0" i="0">
                <a:solidFill>
                  <a:srgbClr val="23232B"/>
                </a:solidFill>
                <a:latin typeface="Calibri"/>
              </a:rPr>
              <a:t>Difference amp G</a:t>
            </a:r>
            <a:r>
              <a:rPr sz="2000" b="0" i="0" baseline="-25000">
                <a:solidFill>
                  <a:srgbClr val="23232B"/>
                </a:solidFill>
                <a:latin typeface="Calibri"/>
              </a:rPr>
              <a:t>1</a:t>
            </a:r>
            <a:r>
              <a:rPr sz="2000" b="0" i="0">
                <a:solidFill>
                  <a:srgbClr val="23232B"/>
                </a:solidFill>
                <a:latin typeface="Calibri"/>
              </a:rPr>
              <a:t> = 10, gain stage G</a:t>
            </a:r>
            <a:r>
              <a:rPr sz="2000" b="0" i="0" baseline="-25000">
                <a:solidFill>
                  <a:srgbClr val="23232B"/>
                </a:solidFill>
                <a:latin typeface="Calibri"/>
              </a:rPr>
              <a:t>2</a:t>
            </a:r>
            <a:r>
              <a:rPr sz="2000" b="0" i="0">
                <a:solidFill>
                  <a:srgbClr val="23232B"/>
                </a:solidFill>
                <a:latin typeface="Calibri"/>
              </a:rPr>
              <a:t> = 1 + 97.6 k/10 k = 10.76</a:t>
            </a:r>
          </a:p>
          <a:p>
            <a:pPr algn="l" marL="274320" indent="-274320">
              <a:lnSpc>
                <a:spcPct val="100000"/>
              </a:lnSpc>
              <a:spcAft>
                <a:spcPts val="1000"/>
              </a:spcAft>
              <a:buClr>
                <a:srgbClr val="00A9CE"/>
              </a:buClr>
              <a:buFont typeface="Arial"/>
              <a:buChar char="•"/>
            </a:pPr>
            <a:r>
              <a:rPr sz="2000" b="0" i="0">
                <a:solidFill>
                  <a:srgbClr val="23232B"/>
                </a:solidFill>
                <a:latin typeface="Calibri"/>
              </a:rPr>
              <a:t>Keep G &lt; 100 per stage: gain error ≈ G/A</a:t>
            </a:r>
          </a:p>
          <a:p>
            <a:pPr algn="l" marL="274320" indent="-274320">
              <a:lnSpc>
                <a:spcPct val="100000"/>
              </a:lnSpc>
              <a:spcAft>
                <a:spcPts val="1000"/>
              </a:spcAft>
              <a:buClr>
                <a:srgbClr val="00A9CE"/>
              </a:buClr>
              <a:buFont typeface="Arial"/>
              <a:buChar char="•"/>
            </a:pPr>
            <a:r>
              <a:rPr sz="2000" b="0" i="0">
                <a:solidFill>
                  <a:srgbClr val="23232B"/>
                </a:solidFill>
                <a:latin typeface="Calibri"/>
              </a:rPr>
              <a:t>Zero set by R</a:t>
            </a:r>
            <a:r>
              <a:rPr sz="2000" b="0" i="0" baseline="-25000">
                <a:solidFill>
                  <a:srgbClr val="23232B"/>
                </a:solidFill>
                <a:latin typeface="Calibri"/>
              </a:rPr>
              <a:t>4</a:t>
            </a:r>
            <a:r>
              <a:rPr sz="2000" b="0" i="0">
                <a:solidFill>
                  <a:srgbClr val="23232B"/>
                </a:solidFill>
                <a:latin typeface="Calibri"/>
              </a:rPr>
              <a:t>, span by R</a:t>
            </a:r>
            <a:r>
              <a:rPr sz="2000" b="0" i="0" baseline="-25000">
                <a:solidFill>
                  <a:srgbClr val="23232B"/>
                </a:solidFill>
                <a:latin typeface="Calibri"/>
              </a:rPr>
              <a:t>F</a:t>
            </a:r>
            <a:r>
              <a:rPr sz="2000" b="0" i="0">
                <a:solidFill>
                  <a:srgbClr val="23232B"/>
                </a:solidFill>
                <a:latin typeface="Calibri"/>
              </a:rPr>
              <a:t>: trims do not interact</a:t>
            </a:r>
          </a:p>
        </p:txBody>
      </p:sp>
      <p:sp>
        <p:nvSpPr>
          <p:cNvPr id="7" name="Key rule"/>
          <p:cNvSpPr/>
          <p:nvPr/>
        </p:nvSpPr>
        <p:spPr>
          <a:xfrm>
            <a:off x="548640" y="4610608"/>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47203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4994655"/>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V</a:t>
            </a:r>
            <a:r>
              <a:rPr sz="1700" b="1" i="0" baseline="-25000">
                <a:solidFill>
                  <a:srgbClr val="4E2A8C"/>
                </a:solidFill>
                <a:latin typeface="Calibri"/>
              </a:rPr>
              <a:t>COND</a:t>
            </a:r>
            <a:r>
              <a:rPr sz="1700" b="1" i="0">
                <a:solidFill>
                  <a:srgbClr val="4E2A8C"/>
                </a:solidFill>
                <a:latin typeface="Calibri"/>
              </a:rPr>
              <a:t> = G</a:t>
            </a:r>
            <a:r>
              <a:rPr sz="1700" b="1" i="0" baseline="-25000">
                <a:solidFill>
                  <a:srgbClr val="4E2A8C"/>
                </a:solidFill>
                <a:latin typeface="Calibri"/>
              </a:rPr>
              <a:t>1</a:t>
            </a:r>
            <a:r>
              <a:rPr sz="1700" b="1" i="0">
                <a:solidFill>
                  <a:srgbClr val="4E2A8C"/>
                </a:solidFill>
                <a:latin typeface="Calibri"/>
              </a:rPr>
              <a:t>·G</a:t>
            </a:r>
            <a:r>
              <a:rPr sz="1700" b="1" i="0" baseline="-25000">
                <a:solidFill>
                  <a:srgbClr val="4E2A8C"/>
                </a:solidFill>
                <a:latin typeface="Calibri"/>
              </a:rPr>
              <a:t>2</a:t>
            </a:r>
            <a:r>
              <a:rPr sz="1700" b="1" i="0">
                <a:solidFill>
                  <a:srgbClr val="4E2A8C"/>
                </a:solidFill>
                <a:latin typeface="Calibri"/>
              </a:rPr>
              <a:t>·V</a:t>
            </a:r>
            <a:r>
              <a:rPr sz="1700" b="1" i="0" baseline="-25000">
                <a:solidFill>
                  <a:srgbClr val="4E2A8C"/>
                </a:solidFill>
                <a:latin typeface="Calibri"/>
              </a:rPr>
              <a:t>BR</a:t>
            </a:r>
            <a:r>
              <a:rPr sz="1700" b="1" i="0">
                <a:solidFill>
                  <a:srgbClr val="4E2A8C"/>
                </a:solidFill>
                <a:latin typeface="Calibri"/>
              </a:rPr>
              <a:t>,  G</a:t>
            </a:r>
            <a:r>
              <a:rPr sz="1700" b="1" i="0" baseline="-25000">
                <a:solidFill>
                  <a:srgbClr val="4E2A8C"/>
                </a:solidFill>
                <a:latin typeface="Calibri"/>
              </a:rPr>
              <a:t>1</a:t>
            </a:r>
            <a:r>
              <a:rPr sz="1700" b="1" i="0">
                <a:solidFill>
                  <a:srgbClr val="4E2A8C"/>
                </a:solidFill>
                <a:latin typeface="Calibri"/>
              </a:rPr>
              <a:t>·G</a:t>
            </a:r>
            <a:r>
              <a:rPr sz="1700" b="1" i="0" baseline="-25000">
                <a:solidFill>
                  <a:srgbClr val="4E2A8C"/>
                </a:solidFill>
                <a:latin typeface="Calibri"/>
              </a:rPr>
              <a:t>2</a:t>
            </a:r>
            <a:r>
              <a:rPr sz="1700" b="1" i="0">
                <a:solidFill>
                  <a:srgbClr val="4E2A8C"/>
                </a:solidFill>
                <a:latin typeface="Calibri"/>
              </a:rPr>
              <a:t> = 107.6</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From Sensor to Digital Value</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STAGE 2: ANTI-ALIASING</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Stage 2: anti-aliasing low-pass</a:t>
            </a:r>
          </a:p>
        </p:txBody>
      </p:sp>
      <p:sp>
        <p:nvSpPr>
          <p:cNvPr id="4" name="Figure panel"/>
          <p:cNvSpPr/>
          <p:nvPr/>
        </p:nvSpPr>
        <p:spPr>
          <a:xfrm>
            <a:off x="6675119" y="1298448"/>
            <a:ext cx="4967935" cy="4846320"/>
          </a:xfrm>
          <a:prstGeom prst="roundRect">
            <a:avLst>
              <a:gd name="adj" fmla="val 2264"/>
            </a:avLst>
          </a:prstGeom>
          <a:solidFill>
            <a:srgbClr val="FFFFFF"/>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ircuit figure" descr="anti-aliasing-low-pass-1.png"/>
          <p:cNvPicPr>
            <a:picLocks noChangeAspect="1"/>
          </p:cNvPicPr>
          <p:nvPr/>
        </p:nvPicPr>
        <p:blipFill>
          <a:blip r:embed="rId2"/>
          <a:stretch>
            <a:fillRect/>
          </a:stretch>
        </p:blipFill>
        <p:spPr>
          <a:xfrm>
            <a:off x="6876288" y="2820772"/>
            <a:ext cx="4565599" cy="1801671"/>
          </a:xfrm>
          <a:prstGeom prst="rect">
            <a:avLst/>
          </a:prstGeom>
        </p:spPr>
      </p:pic>
      <p:sp>
        <p:nvSpPr>
          <p:cNvPr id="6" name="Bullets"/>
          <p:cNvSpPr txBox="1"/>
          <p:nvPr/>
        </p:nvSpPr>
        <p:spPr>
          <a:xfrm>
            <a:off x="548640" y="1298448"/>
            <a:ext cx="5806440" cy="2255519"/>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50 Hz sampled at 5 Hz → alias at 0 Hz: a constant, invisible offset</a:t>
            </a:r>
          </a:p>
          <a:p>
            <a:pPr algn="l" marL="274320" indent="-274320">
              <a:lnSpc>
                <a:spcPct val="100000"/>
              </a:lnSpc>
              <a:spcAft>
                <a:spcPts val="1000"/>
              </a:spcAft>
              <a:buClr>
                <a:srgbClr val="00A9CE"/>
              </a:buClr>
              <a:buFont typeface="Arial"/>
              <a:buChar char="•"/>
            </a:pPr>
            <a:r>
              <a:rPr sz="2000" b="0" i="0">
                <a:solidFill>
                  <a:srgbClr val="23232B"/>
                </a:solidFill>
                <a:latin typeface="Calibri"/>
              </a:rPr>
              <a:t>Hum after gain 107.6 ≈ 0.52 V, about one full LSB</a:t>
            </a:r>
          </a:p>
          <a:p>
            <a:pPr algn="l" marL="274320" indent="-274320">
              <a:lnSpc>
                <a:spcPct val="100000"/>
              </a:lnSpc>
              <a:spcAft>
                <a:spcPts val="1000"/>
              </a:spcAft>
              <a:buClr>
                <a:srgbClr val="00A9CE"/>
              </a:buClr>
              <a:buFont typeface="Arial"/>
              <a:buChar char="•"/>
            </a:pPr>
            <a:r>
              <a:rPr sz="2000" b="0" i="0">
                <a:solidFill>
                  <a:srgbClr val="23232B"/>
                </a:solidFill>
                <a:latin typeface="Calibri"/>
              </a:rPr>
              <a:t>RC 6.8 kΩ, 10 µF: f</a:t>
            </a:r>
            <a:r>
              <a:rPr sz="2000" b="0" i="0" baseline="-25000">
                <a:solidFill>
                  <a:srgbClr val="23232B"/>
                </a:solidFill>
                <a:latin typeface="Calibri"/>
              </a:rPr>
              <a:t>c</a:t>
            </a:r>
            <a:r>
              <a:rPr sz="2000" b="0" i="0">
                <a:solidFill>
                  <a:srgbClr val="23232B"/>
                </a:solidFill>
                <a:latin typeface="Calibri"/>
              </a:rPr>
              <a:t> = 2.34 Hz ≤ f</a:t>
            </a:r>
            <a:r>
              <a:rPr sz="2000" b="0" i="0" baseline="-25000">
                <a:solidFill>
                  <a:srgbClr val="23232B"/>
                </a:solidFill>
                <a:latin typeface="Calibri"/>
              </a:rPr>
              <a:t>s</a:t>
            </a:r>
            <a:r>
              <a:rPr sz="2000" b="0" i="0">
                <a:solidFill>
                  <a:srgbClr val="23232B"/>
                </a:solidFill>
                <a:latin typeface="Calibri"/>
              </a:rPr>
              <a:t>/2, −26.6 dB at 50 Hz</a:t>
            </a:r>
          </a:p>
          <a:p>
            <a:pPr algn="l" marL="274320" indent="-274320">
              <a:lnSpc>
                <a:spcPct val="100000"/>
              </a:lnSpc>
              <a:spcAft>
                <a:spcPts val="1000"/>
              </a:spcAft>
              <a:buClr>
                <a:srgbClr val="00A9CE"/>
              </a:buClr>
              <a:buFont typeface="Arial"/>
              <a:buChar char="•"/>
            </a:pPr>
            <a:r>
              <a:rPr sz="2000" b="0" i="0">
                <a:solidFill>
                  <a:srgbClr val="23232B"/>
                </a:solidFill>
                <a:latin typeface="Calibri"/>
              </a:rPr>
              <a:t>Residual 25 mV &lt; ½ LSB = 250 mV; follower decouples the RC</a:t>
            </a:r>
          </a:p>
        </p:txBody>
      </p:sp>
      <p:sp>
        <p:nvSpPr>
          <p:cNvPr id="7" name="Key rule"/>
          <p:cNvSpPr/>
          <p:nvPr/>
        </p:nvSpPr>
        <p:spPr>
          <a:xfrm>
            <a:off x="548640" y="3874007"/>
            <a:ext cx="5806440" cy="826008"/>
          </a:xfrm>
          <a:prstGeom prst="roundRect">
            <a:avLst>
              <a:gd name="adj" fmla="val 13284"/>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rule label"/>
          <p:cNvSpPr txBox="1"/>
          <p:nvPr/>
        </p:nvSpPr>
        <p:spPr>
          <a:xfrm>
            <a:off x="777240" y="3983736"/>
            <a:ext cx="5349240" cy="219456"/>
          </a:xfrm>
          <a:prstGeom prst="rect">
            <a:avLst/>
          </a:prstGeom>
          <a:noFill/>
        </p:spPr>
        <p:txBody>
          <a:bodyPr wrap="square" lIns="0" rIns="0" tIns="0" bIns="0" anchor="t">
            <a:noAutofit/>
          </a:bodyPr>
          <a:lstStyle/>
          <a:p>
            <a:pPr algn="l">
              <a:lnSpc>
                <a:spcPct val="100000"/>
              </a:lnSpc>
              <a:spcAft>
                <a:spcPts val="600"/>
              </a:spcAft>
              <a:buNone/>
            </a:pPr>
            <a:r>
              <a:rPr sz="1100" b="1" i="0">
                <a:solidFill>
                  <a:srgbClr val="6638B6"/>
                </a:solidFill>
                <a:latin typeface="Calibri"/>
              </a:rPr>
              <a:t>KEY RULE</a:t>
            </a:r>
          </a:p>
        </p:txBody>
      </p:sp>
      <p:sp>
        <p:nvSpPr>
          <p:cNvPr id="9" name="Key rule text"/>
          <p:cNvSpPr txBox="1"/>
          <p:nvPr/>
        </p:nvSpPr>
        <p:spPr>
          <a:xfrm>
            <a:off x="777240" y="4258056"/>
            <a:ext cx="5349240" cy="277368"/>
          </a:xfrm>
          <a:prstGeom prst="rect">
            <a:avLst/>
          </a:prstGeom>
          <a:noFill/>
        </p:spPr>
        <p:txBody>
          <a:bodyPr wrap="square" lIns="0" rIns="0" tIns="0" bIns="0" anchor="t">
            <a:noAutofit/>
          </a:bodyPr>
          <a:lstStyle/>
          <a:p>
            <a:pPr algn="l">
              <a:lnSpc>
                <a:spcPct val="100000"/>
              </a:lnSpc>
              <a:spcAft>
                <a:spcPts val="600"/>
              </a:spcAft>
              <a:buNone/>
            </a:pPr>
            <a:r>
              <a:rPr sz="1700" b="1" i="0">
                <a:solidFill>
                  <a:srgbClr val="4E2A8C"/>
                </a:solidFill>
                <a:latin typeface="Calibri"/>
              </a:rPr>
              <a:t>Residual = V</a:t>
            </a:r>
            <a:r>
              <a:rPr sz="1700" b="1" i="0" baseline="-25000">
                <a:solidFill>
                  <a:srgbClr val="4E2A8C"/>
                </a:solidFill>
                <a:latin typeface="Calibri"/>
              </a:rPr>
              <a:t>peak</a:t>
            </a:r>
            <a:r>
              <a:rPr sz="1700" b="1" i="0">
                <a:solidFill>
                  <a:srgbClr val="4E2A8C"/>
                </a:solidFill>
                <a:latin typeface="Calibri"/>
              </a:rPr>
              <a:t>/√(1 + (f/f</a:t>
            </a:r>
            <a:r>
              <a:rPr sz="1700" b="1" i="0" baseline="-25000">
                <a:solidFill>
                  <a:srgbClr val="4E2A8C"/>
                </a:solidFill>
                <a:latin typeface="Calibri"/>
              </a:rPr>
              <a:t>c</a:t>
            </a:r>
            <a:r>
              <a:rPr sz="1700" b="1" i="0">
                <a:solidFill>
                  <a:srgbClr val="4E2A8C"/>
                </a:solidFill>
                <a:latin typeface="Calibri"/>
              </a:rPr>
              <a:t>)</a:t>
            </a:r>
            <a:r>
              <a:rPr sz="1700" b="1" i="0" baseline="30000">
                <a:solidFill>
                  <a:srgbClr val="4E2A8C"/>
                </a:solidFill>
                <a:latin typeface="Calibri"/>
              </a:rPr>
              <a:t>2</a:t>
            </a:r>
            <a:r>
              <a:rPr sz="1700" b="1" i="0">
                <a:solidFill>
                  <a:srgbClr val="4E2A8C"/>
                </a:solidFill>
                <a:latin typeface="Calibri"/>
              </a:rPr>
              <a:t>) &lt; ½ LSB</a:t>
            </a:r>
          </a:p>
        </p:txBody>
      </p:sp>
      <p:pic>
        <p:nvPicPr>
          <p:cNvPr id="10"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From Sensor to Digital Value</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STAGE 3: SAMPLE AND HOLD</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Stage 3: choosing the hold capacitor</a:t>
            </a:r>
          </a:p>
        </p:txBody>
      </p:sp>
      <p:sp>
        <p:nvSpPr>
          <p:cNvPr id="4" name="Compare card"/>
          <p:cNvSpPr/>
          <p:nvPr/>
        </p:nvSpPr>
        <p:spPr>
          <a:xfrm>
            <a:off x="548640" y="1298448"/>
            <a:ext cx="5364327" cy="2402840"/>
          </a:xfrm>
          <a:prstGeom prst="roundRect">
            <a:avLst>
              <a:gd name="adj" fmla="val 5327"/>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head"/>
          <p:cNvSpPr txBox="1"/>
          <p:nvPr/>
        </p:nvSpPr>
        <p:spPr>
          <a:xfrm>
            <a:off x="868680"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6638B6"/>
                </a:solidFill>
                <a:latin typeface="Calibri"/>
              </a:rPr>
              <a:t>Upper limit: charging</a:t>
            </a:r>
          </a:p>
        </p:txBody>
      </p:sp>
      <p:sp>
        <p:nvSpPr>
          <p:cNvPr id="6" name="Card bullets"/>
          <p:cNvSpPr txBox="1"/>
          <p:nvPr/>
        </p:nvSpPr>
        <p:spPr>
          <a:xfrm>
            <a:off x="868680" y="2167128"/>
            <a:ext cx="4724247" cy="13512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τ = R</a:t>
            </a:r>
            <a:r>
              <a:rPr sz="2000" b="0" i="0" baseline="-25000">
                <a:solidFill>
                  <a:srgbClr val="23232B"/>
                </a:solidFill>
                <a:latin typeface="Calibri"/>
              </a:rPr>
              <a:t>on</a:t>
            </a:r>
            <a:r>
              <a:rPr sz="2000" b="0" i="0">
                <a:solidFill>
                  <a:srgbClr val="23232B"/>
                </a:solidFill>
                <a:latin typeface="Calibri"/>
              </a:rPr>
              <a:t>·C</a:t>
            </a:r>
            <a:r>
              <a:rPr sz="2000" b="0" i="0" baseline="-25000">
                <a:solidFill>
                  <a:srgbClr val="23232B"/>
                </a:solidFill>
                <a:latin typeface="Calibri"/>
              </a:rPr>
              <a:t>H</a:t>
            </a:r>
            <a:r>
              <a:rPr sz="2000" b="0" i="0">
                <a:solidFill>
                  <a:srgbClr val="23232B"/>
                </a:solidFill>
                <a:latin typeface="Calibri"/>
              </a:rPr>
              <a:t> = 20 Ω · 1 µF = 20 µs</a:t>
            </a:r>
          </a:p>
          <a:p>
            <a:pPr algn="l" marL="274320" indent="-274320">
              <a:lnSpc>
                <a:spcPct val="100000"/>
              </a:lnSpc>
              <a:spcAft>
                <a:spcPts val="1000"/>
              </a:spcAft>
              <a:buClr>
                <a:srgbClr val="00A9CE"/>
              </a:buClr>
              <a:buFont typeface="Arial"/>
              <a:buChar char="•"/>
            </a:pPr>
            <a:r>
              <a:rPr sz="2000" b="0" i="0">
                <a:solidFill>
                  <a:srgbClr val="23232B"/>
                </a:solidFill>
                <a:latin typeface="Calibri"/>
              </a:rPr>
              <a:t>Settle to ½ LSB in 2.8·τ </a:t>
            </a:r>
            <a:r>
              <a:rPr sz="2000" b="0" i="0">
                <a:solidFill>
                  <a:srgbClr val="23232B"/>
                </a:solidFill>
                <a:latin typeface="Cambria Math"/>
              </a:rPr>
              <a:t>≪</a:t>
            </a:r>
            <a:r>
              <a:rPr sz="2000" b="0" i="0">
                <a:solidFill>
                  <a:srgbClr val="23232B"/>
                </a:solidFill>
                <a:latin typeface="Calibri"/>
              </a:rPr>
              <a:t> 20 ms window</a:t>
            </a:r>
          </a:p>
          <a:p>
            <a:pPr algn="l" marL="274320" indent="-274320">
              <a:lnSpc>
                <a:spcPct val="100000"/>
              </a:lnSpc>
              <a:spcAft>
                <a:spcPts val="1000"/>
              </a:spcAft>
              <a:buClr>
                <a:srgbClr val="00A9CE"/>
              </a:buClr>
              <a:buFont typeface="Arial"/>
              <a:buChar char="•"/>
            </a:pPr>
            <a:r>
              <a:rPr sz="2000" b="0" i="0">
                <a:solidFill>
                  <a:srgbClr val="23232B"/>
                </a:solidFill>
                <a:latin typeface="Calibri"/>
              </a:rPr>
              <a:t>Too large C</a:t>
            </a:r>
            <a:r>
              <a:rPr sz="2000" b="0" i="0" baseline="-25000">
                <a:solidFill>
                  <a:srgbClr val="23232B"/>
                </a:solidFill>
                <a:latin typeface="Calibri"/>
              </a:rPr>
              <a:t>H</a:t>
            </a:r>
            <a:r>
              <a:rPr sz="2000" b="0" i="0">
                <a:solidFill>
                  <a:srgbClr val="23232B"/>
                </a:solidFill>
                <a:latin typeface="Calibri"/>
              </a:rPr>
              <a:t>: staircase lags the input</a:t>
            </a:r>
          </a:p>
        </p:txBody>
      </p:sp>
      <p:sp>
        <p:nvSpPr>
          <p:cNvPr id="7" name="Compare card"/>
          <p:cNvSpPr/>
          <p:nvPr/>
        </p:nvSpPr>
        <p:spPr>
          <a:xfrm>
            <a:off x="6278727" y="1298448"/>
            <a:ext cx="5364327" cy="2402840"/>
          </a:xfrm>
          <a:prstGeom prst="roundRect">
            <a:avLst>
              <a:gd name="adj" fmla="val 5327"/>
            </a:avLst>
          </a:prstGeom>
          <a:solidFill>
            <a:srgbClr val="E5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head"/>
          <p:cNvSpPr txBox="1"/>
          <p:nvPr/>
        </p:nvSpPr>
        <p:spPr>
          <a:xfrm>
            <a:off x="6598767" y="1572768"/>
            <a:ext cx="4724247" cy="457200"/>
          </a:xfrm>
          <a:prstGeom prst="rect">
            <a:avLst/>
          </a:prstGeom>
          <a:noFill/>
        </p:spPr>
        <p:txBody>
          <a:bodyPr wrap="square" lIns="0" rIns="0" tIns="0" bIns="0" anchor="t">
            <a:noAutofit/>
          </a:bodyPr>
          <a:lstStyle/>
          <a:p>
            <a:pPr algn="l">
              <a:lnSpc>
                <a:spcPct val="100000"/>
              </a:lnSpc>
              <a:spcAft>
                <a:spcPts val="600"/>
              </a:spcAft>
              <a:buNone/>
            </a:pPr>
            <a:r>
              <a:rPr sz="2200" b="1" i="0">
                <a:solidFill>
                  <a:srgbClr val="007F9B"/>
                </a:solidFill>
                <a:latin typeface="Calibri"/>
              </a:rPr>
              <a:t>Lower limit: droop</a:t>
            </a:r>
          </a:p>
        </p:txBody>
      </p:sp>
      <p:sp>
        <p:nvSpPr>
          <p:cNvPr id="9" name="Card bullets"/>
          <p:cNvSpPr txBox="1"/>
          <p:nvPr/>
        </p:nvSpPr>
        <p:spPr>
          <a:xfrm>
            <a:off x="6598767" y="2167128"/>
            <a:ext cx="4724247" cy="135128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ΔV = I</a:t>
            </a:r>
            <a:r>
              <a:rPr sz="2000" b="0" i="0" baseline="-25000">
                <a:solidFill>
                  <a:srgbClr val="23232B"/>
                </a:solidFill>
                <a:latin typeface="Calibri"/>
              </a:rPr>
              <a:t>L</a:t>
            </a:r>
            <a:r>
              <a:rPr sz="2000" b="0" i="0">
                <a:solidFill>
                  <a:srgbClr val="23232B"/>
                </a:solidFill>
                <a:latin typeface="Calibri"/>
              </a:rPr>
              <a:t>·t</a:t>
            </a:r>
            <a:r>
              <a:rPr sz="2000" b="0" i="0" baseline="-25000">
                <a:solidFill>
                  <a:srgbClr val="23232B"/>
                </a:solidFill>
                <a:latin typeface="Calibri"/>
              </a:rPr>
              <a:t>hold</a:t>
            </a:r>
            <a:r>
              <a:rPr sz="2000" b="0" i="0">
                <a:solidFill>
                  <a:srgbClr val="23232B"/>
                </a:solidFill>
                <a:latin typeface="Calibri"/>
              </a:rPr>
              <a:t>/C</a:t>
            </a:r>
            <a:r>
              <a:rPr sz="2000" b="0" i="0" baseline="-25000">
                <a:solidFill>
                  <a:srgbClr val="23232B"/>
                </a:solidFill>
                <a:latin typeface="Calibri"/>
              </a:rPr>
              <a:t>H</a:t>
            </a:r>
            <a:r>
              <a:rPr sz="2000" b="0" i="0">
                <a:solidFill>
                  <a:srgbClr val="23232B"/>
                </a:solidFill>
                <a:latin typeface="Calibri"/>
              </a:rPr>
              <a:t> = 0.18 mV</a:t>
            </a:r>
          </a:p>
          <a:p>
            <a:pPr algn="l" marL="274320" indent="-274320">
              <a:lnSpc>
                <a:spcPct val="100000"/>
              </a:lnSpc>
              <a:spcAft>
                <a:spcPts val="1000"/>
              </a:spcAft>
              <a:buClr>
                <a:srgbClr val="00A9CE"/>
              </a:buClr>
              <a:buFont typeface="Arial"/>
              <a:buChar char="•"/>
            </a:pPr>
            <a:r>
              <a:rPr sz="2000" b="0" i="0">
                <a:solidFill>
                  <a:srgbClr val="23232B"/>
                </a:solidFill>
                <a:latin typeface="Calibri"/>
              </a:rPr>
              <a:t>1 nA leakage over 180 ms hold time</a:t>
            </a:r>
          </a:p>
          <a:p>
            <a:pPr algn="l" marL="274320" indent="-274320">
              <a:lnSpc>
                <a:spcPct val="100000"/>
              </a:lnSpc>
              <a:spcAft>
                <a:spcPts val="1000"/>
              </a:spcAft>
              <a:buClr>
                <a:srgbClr val="00A9CE"/>
              </a:buClr>
              <a:buFont typeface="Arial"/>
              <a:buChar char="•"/>
            </a:pPr>
            <a:r>
              <a:rPr sz="2000" b="0" i="0">
                <a:solidFill>
                  <a:srgbClr val="23232B"/>
                </a:solidFill>
                <a:latin typeface="Calibri"/>
              </a:rPr>
              <a:t>Too small C</a:t>
            </a:r>
            <a:r>
              <a:rPr sz="2000" b="0" i="0" baseline="-25000">
                <a:solidFill>
                  <a:srgbClr val="23232B"/>
                </a:solidFill>
                <a:latin typeface="Calibri"/>
              </a:rPr>
              <a:t>H</a:t>
            </a:r>
            <a:r>
              <a:rPr sz="2000" b="0" i="0">
                <a:solidFill>
                  <a:srgbClr val="23232B"/>
                </a:solidFill>
                <a:latin typeface="Calibri"/>
              </a:rPr>
              <a:t>: held value drifts</a:t>
            </a:r>
          </a:p>
        </p:txBody>
      </p:sp>
      <p:pic>
        <p:nvPicPr>
          <p:cNvPr id="10"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11"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From Sensor to Digital Value</a:t>
            </a:r>
          </a:p>
        </p:txBody>
      </p:sp>
      <p:sp>
        <p:nvSpPr>
          <p:cNvPr id="12"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STAGES 4 AND 5: FLASH ADC, ENCODER AND DISPLAY</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Stages 4 and 5: flash ADC and display</a:t>
            </a:r>
          </a:p>
        </p:txBody>
      </p:sp>
      <p:sp>
        <p:nvSpPr>
          <p:cNvPr id="4" name="Bullets"/>
          <p:cNvSpPr txBox="1"/>
          <p:nvPr/>
        </p:nvSpPr>
        <p:spPr>
          <a:xfrm>
            <a:off x="548640" y="1298448"/>
            <a:ext cx="11094415" cy="4846320"/>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2000" b="0" i="0">
                <a:solidFill>
                  <a:srgbClr val="23232B"/>
                </a:solidFill>
                <a:latin typeface="Calibri"/>
              </a:rPr>
              <a:t>Ladder 8 × 1 kΩ from 4.00 V: thresholds 0.5 … 3.5 V, 0.5 mA</a:t>
            </a:r>
          </a:p>
          <a:p>
            <a:pPr algn="l" marL="274320" indent="-274320">
              <a:lnSpc>
                <a:spcPct val="100000"/>
              </a:lnSpc>
              <a:spcAft>
                <a:spcPts val="1000"/>
              </a:spcAft>
              <a:buClr>
                <a:srgbClr val="00A9CE"/>
              </a:buClr>
              <a:buFont typeface="Arial"/>
              <a:buChar char="•"/>
            </a:pPr>
            <a:r>
              <a:rPr sz="2000" b="0" i="0">
                <a:solidFill>
                  <a:srgbClr val="23232B"/>
                </a:solidFill>
                <a:latin typeface="Calibri"/>
              </a:rPr>
              <a:t>C</a:t>
            </a:r>
            <a:r>
              <a:rPr sz="2000" b="0" i="0" baseline="-25000">
                <a:solidFill>
                  <a:srgbClr val="23232B"/>
                </a:solidFill>
                <a:latin typeface="Calibri"/>
              </a:rPr>
              <a:t>k</a:t>
            </a:r>
            <a:r>
              <a:rPr sz="2000" b="0" i="0">
                <a:solidFill>
                  <a:srgbClr val="23232B"/>
                </a:solidFill>
                <a:latin typeface="Calibri"/>
              </a:rPr>
              <a:t> = 1 if V</a:t>
            </a:r>
            <a:r>
              <a:rPr sz="2000" b="0" i="0" baseline="-25000">
                <a:solidFill>
                  <a:srgbClr val="23232B"/>
                </a:solidFill>
                <a:latin typeface="Calibri"/>
              </a:rPr>
              <a:t>HOLD</a:t>
            </a:r>
            <a:r>
              <a:rPr sz="2000" b="0" i="0">
                <a:solidFill>
                  <a:srgbClr val="23232B"/>
                </a:solidFill>
                <a:latin typeface="Calibri"/>
              </a:rPr>
              <a:t> &gt; k·0.5 V: thermometer code, level 0 … 7</a:t>
            </a:r>
          </a:p>
          <a:p>
            <a:pPr algn="l" marL="274320" indent="-274320">
              <a:lnSpc>
                <a:spcPct val="100000"/>
              </a:lnSpc>
              <a:spcAft>
                <a:spcPts val="1000"/>
              </a:spcAft>
              <a:buClr>
                <a:srgbClr val="00A9CE"/>
              </a:buClr>
              <a:buFont typeface="Arial"/>
              <a:buChar char="•"/>
            </a:pPr>
            <a:r>
              <a:rPr sz="2000" b="0" i="0">
                <a:solidFill>
                  <a:srgbClr val="23232B"/>
                </a:solidFill>
                <a:latin typeface="Calibri"/>
              </a:rPr>
              <a:t>B</a:t>
            </a:r>
            <a:r>
              <a:rPr sz="2000" b="0" i="0" baseline="-25000">
                <a:solidFill>
                  <a:srgbClr val="23232B"/>
                </a:solidFill>
                <a:latin typeface="Calibri"/>
              </a:rPr>
              <a:t>2</a:t>
            </a:r>
            <a:r>
              <a:rPr sz="2000" b="0" i="0">
                <a:solidFill>
                  <a:srgbClr val="23232B"/>
                </a:solidFill>
                <a:latin typeface="Calibri"/>
              </a:rPr>
              <a:t> = C</a:t>
            </a:r>
            <a:r>
              <a:rPr sz="2000" b="0" i="0" baseline="-25000">
                <a:solidFill>
                  <a:srgbClr val="23232B"/>
                </a:solidFill>
                <a:latin typeface="Calibri"/>
              </a:rPr>
              <a:t>4</a:t>
            </a:r>
            <a:r>
              <a:rPr sz="2000" b="0" i="0">
                <a:solidFill>
                  <a:srgbClr val="23232B"/>
                </a:solidFill>
                <a:latin typeface="Calibri"/>
              </a:rPr>
              <a:t>,  B</a:t>
            </a:r>
            <a:r>
              <a:rPr sz="2000" b="0" i="0" baseline="-25000">
                <a:solidFill>
                  <a:srgbClr val="23232B"/>
                </a:solidFill>
                <a:latin typeface="Calibri"/>
              </a:rPr>
              <a:t>1</a:t>
            </a:r>
            <a:r>
              <a:rPr sz="2000" b="0" i="0">
                <a:solidFill>
                  <a:srgbClr val="23232B"/>
                </a:solidFill>
                <a:latin typeface="Calibri"/>
              </a:rPr>
              <a:t> = C</a:t>
            </a:r>
            <a:r>
              <a:rPr sz="2000" b="0" i="0" baseline="-25000">
                <a:solidFill>
                  <a:srgbClr val="23232B"/>
                </a:solidFill>
                <a:latin typeface="Calibri"/>
              </a:rPr>
              <a:t>2</a:t>
            </a:r>
            <a:r>
              <a:rPr sz="2000" b="0" i="0">
                <a:solidFill>
                  <a:srgbClr val="23232B"/>
                </a:solidFill>
                <a:latin typeface="Calibri"/>
              </a:rPr>
              <a:t>·¬C</a:t>
            </a:r>
            <a:r>
              <a:rPr sz="2000" b="0" i="0" baseline="-25000">
                <a:solidFill>
                  <a:srgbClr val="23232B"/>
                </a:solidFill>
                <a:latin typeface="Calibri"/>
              </a:rPr>
              <a:t>4</a:t>
            </a:r>
            <a:r>
              <a:rPr sz="2000" b="0" i="0">
                <a:solidFill>
                  <a:srgbClr val="23232B"/>
                </a:solidFill>
                <a:latin typeface="Calibri"/>
              </a:rPr>
              <a:t> + C</a:t>
            </a:r>
            <a:r>
              <a:rPr sz="2000" b="0" i="0" baseline="-25000">
                <a:solidFill>
                  <a:srgbClr val="23232B"/>
                </a:solidFill>
                <a:latin typeface="Calibri"/>
              </a:rPr>
              <a:t>6</a:t>
            </a:r>
            <a:r>
              <a:rPr sz="2000" b="0" i="0">
                <a:solidFill>
                  <a:srgbClr val="23232B"/>
                </a:solidFill>
                <a:latin typeface="Calibri"/>
              </a:rPr>
              <a:t>,  B</a:t>
            </a:r>
            <a:r>
              <a:rPr sz="2000" b="0" i="0" baseline="-25000">
                <a:solidFill>
                  <a:srgbClr val="23232B"/>
                </a:solidFill>
                <a:latin typeface="Calibri"/>
              </a:rPr>
              <a:t>0</a:t>
            </a:r>
            <a:r>
              <a:rPr sz="2000" b="0" i="0">
                <a:solidFill>
                  <a:srgbClr val="23232B"/>
                </a:solidFill>
                <a:latin typeface="Calibri"/>
              </a:rPr>
              <a:t>: odd levels</a:t>
            </a:r>
          </a:p>
          <a:p>
            <a:pPr algn="l" marL="274320" indent="-274320">
              <a:lnSpc>
                <a:spcPct val="100000"/>
              </a:lnSpc>
              <a:spcAft>
                <a:spcPts val="1000"/>
              </a:spcAft>
              <a:buClr>
                <a:srgbClr val="00A9CE"/>
              </a:buClr>
              <a:buFont typeface="Arial"/>
              <a:buChar char="•"/>
            </a:pPr>
            <a:r>
              <a:rPr sz="2000" b="0" i="0">
                <a:solidFill>
                  <a:srgbClr val="23232B"/>
                </a:solidFill>
                <a:latin typeface="Calibri"/>
              </a:rPr>
              <a:t>7 red LEDs as bar graph, 3 green LEDs for the binary code</a:t>
            </a:r>
          </a:p>
          <a:p>
            <a:pPr algn="l" marL="274320" indent="-274320">
              <a:lnSpc>
                <a:spcPct val="100000"/>
              </a:lnSpc>
              <a:spcAft>
                <a:spcPts val="1000"/>
              </a:spcAft>
              <a:buClr>
                <a:srgbClr val="00A9CE"/>
              </a:buClr>
              <a:buFont typeface="Arial"/>
              <a:buChar char="•"/>
            </a:pPr>
            <a:r>
              <a:rPr sz="2000" b="0" i="0">
                <a:solidFill>
                  <a:srgbClr val="23232B"/>
                </a:solidFill>
                <a:latin typeface="Calibri"/>
              </a:rPr>
              <a:t>330 Ω per LED from 5 V logic: about 9.8 mA in Falstad</a:t>
            </a:r>
          </a:p>
        </p:txBody>
      </p:sp>
      <p:pic>
        <p:nvPicPr>
          <p:cNvPr id="5"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From Sensor to Digital Value</a:t>
            </a:r>
          </a:p>
        </p:txBody>
      </p:sp>
      <p:sp>
        <p:nvSpPr>
          <p:cNvPr id="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COMPLETE CHAIN IN FALSTAD</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the complete chain</a:t>
            </a:r>
          </a:p>
        </p:txBody>
      </p:sp>
      <p:sp>
        <p:nvSpPr>
          <p:cNvPr id="4" name="Label"/>
          <p:cNvSpPr txBox="1"/>
          <p:nvPr/>
        </p:nvSpPr>
        <p:spPr>
          <a:xfrm>
            <a:off x="548640" y="1298448"/>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5" name="Falstad capstone">
            <a:hlinkClick r:id="rId2"/>
          </p:cNvPr>
          <p:cNvSpPr/>
          <p:nvPr/>
        </p:nvSpPr>
        <p:spPr>
          <a:xfrm>
            <a:off x="548640" y="17099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a:off x="694944"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rot="5400000">
            <a:off x="832103"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lstad link capstone">
            <a:hlinkClick r:id="rId2"/>
          </p:cNvPr>
          <p:cNvSpPr txBox="1"/>
          <p:nvPr/>
        </p:nvSpPr>
        <p:spPr>
          <a:xfrm>
            <a:off x="1234440" y="1819655"/>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capstone/capstone</a:t>
            </a:r>
          </a:p>
        </p:txBody>
      </p:sp>
      <p:sp>
        <p:nvSpPr>
          <p:cNvPr id="9" name="Falstad hint"/>
          <p:cNvSpPr txBox="1"/>
          <p:nvPr/>
        </p:nvSpPr>
        <p:spPr>
          <a:xfrm>
            <a:off x="1234440" y="20939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Move Sensor R 100 → 138.5 Ω: bar fills, binary LEDs count</a:t>
            </a:r>
          </a:p>
        </p:txBody>
      </p:sp>
      <p:sp>
        <p:nvSpPr>
          <p:cNvPr id="10" name="Label"/>
          <p:cNvSpPr txBox="1"/>
          <p:nvPr/>
        </p:nvSpPr>
        <p:spPr>
          <a:xfrm>
            <a:off x="548640" y="2785872"/>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1" name="Observe"/>
          <p:cNvSpPr txBox="1"/>
          <p:nvPr/>
        </p:nvSpPr>
        <p:spPr>
          <a:xfrm>
            <a:off x="548640" y="3197352"/>
            <a:ext cx="1109441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Hover over VCOND, VAA, VHOLD: the held value updates every 200 ms</a:t>
            </a:r>
          </a:p>
          <a:p>
            <a:pPr algn="l" marL="274320" indent="-274320">
              <a:lnSpc>
                <a:spcPct val="100000"/>
              </a:lnSpc>
              <a:spcAft>
                <a:spcPts val="1000"/>
              </a:spcAft>
              <a:buClr>
                <a:srgbClr val="00A9CE"/>
              </a:buClr>
              <a:buFont typeface="Arial"/>
              <a:buChar char="•"/>
            </a:pPr>
            <a:r>
              <a:rPr sz="1800" b="0" i="0">
                <a:solidFill>
                  <a:srgbClr val="23232B"/>
                </a:solidFill>
                <a:latin typeface="Calibri"/>
              </a:rPr>
              <a:t>After a slider step wait ≈ 0.5 s: the low-pass needs 5τ = 340 ms</a:t>
            </a:r>
          </a:p>
          <a:p>
            <a:pPr algn="l" marL="274320" indent="-274320">
              <a:lnSpc>
                <a:spcPct val="100000"/>
              </a:lnSpc>
              <a:spcAft>
                <a:spcPts val="1000"/>
              </a:spcAft>
              <a:buClr>
                <a:srgbClr val="00A9CE"/>
              </a:buClr>
              <a:buFont typeface="Arial"/>
              <a:buChar char="•"/>
            </a:pPr>
            <a:r>
              <a:rPr sz="1800" b="0" i="0">
                <a:solidFill>
                  <a:srgbClr val="23232B"/>
                </a:solidFill>
                <a:latin typeface="Calibri"/>
              </a:rPr>
              <a:t>Bin-centre test points: e.g. 116.75 Ω → 1.75 V → code 011</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From Sensor to Digital Value</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THE COMPLETE CHAIN IN FALSTAD</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Falstad: the aliasing experiment</a:t>
            </a:r>
          </a:p>
        </p:txBody>
      </p:sp>
      <p:sp>
        <p:nvSpPr>
          <p:cNvPr id="4" name="Label"/>
          <p:cNvSpPr txBox="1"/>
          <p:nvPr/>
        </p:nvSpPr>
        <p:spPr>
          <a:xfrm>
            <a:off x="548640" y="1298448"/>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TRY IT IN FALSTAD</a:t>
            </a:r>
          </a:p>
        </p:txBody>
      </p:sp>
      <p:sp>
        <p:nvSpPr>
          <p:cNvPr id="5" name="Falstad capstone_nofilter">
            <a:hlinkClick r:id="rId2"/>
          </p:cNvPr>
          <p:cNvSpPr/>
          <p:nvPr/>
        </p:nvSpPr>
        <p:spPr>
          <a:xfrm>
            <a:off x="548640" y="1709928"/>
            <a:ext cx="11094415" cy="710184"/>
          </a:xfrm>
          <a:prstGeom prst="roundRect">
            <a:avLst>
              <a:gd name="adj" fmla="val 15450"/>
            </a:avLst>
          </a:prstGeom>
          <a:solidFill>
            <a:srgbClr val="E5F6FB"/>
          </a:solidFill>
          <a:ln w="12700">
            <a:solidFill>
              <a:srgbClr val="00A9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y icon"/>
          <p:cNvSpPr/>
          <p:nvPr/>
        </p:nvSpPr>
        <p:spPr>
          <a:xfrm>
            <a:off x="694944" y="1863851"/>
            <a:ext cx="402336" cy="402336"/>
          </a:xfrm>
          <a:prstGeom prst="ellipse">
            <a:avLst/>
          </a:prstGeom>
          <a:solidFill>
            <a:srgbClr val="00A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y icon"/>
          <p:cNvSpPr/>
          <p:nvPr/>
        </p:nvSpPr>
        <p:spPr>
          <a:xfrm rot="5400000">
            <a:off x="832103" y="1982724"/>
            <a:ext cx="201168" cy="16459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lstad link capstone_nofilter">
            <a:hlinkClick r:id="rId2"/>
          </p:cNvPr>
          <p:cNvSpPr txBox="1"/>
          <p:nvPr/>
        </p:nvSpPr>
        <p:spPr>
          <a:xfrm>
            <a:off x="1234440" y="1819655"/>
            <a:ext cx="10317175" cy="274320"/>
          </a:xfrm>
          <a:prstGeom prst="rect">
            <a:avLst/>
          </a:prstGeom>
          <a:noFill/>
        </p:spPr>
        <p:txBody>
          <a:bodyPr wrap="square" lIns="0" rIns="0" tIns="0" bIns="0" anchor="t">
            <a:noAutofit/>
          </a:bodyPr>
          <a:lstStyle/>
          <a:p>
            <a:pPr algn="l">
              <a:lnSpc>
                <a:spcPct val="100000"/>
              </a:lnSpc>
              <a:spcAft>
                <a:spcPts val="0"/>
              </a:spcAft>
              <a:buNone/>
            </a:pPr>
            <a:r>
              <a:rPr sz="1300" b="1" i="0">
                <a:solidFill>
                  <a:srgbClr val="007F9B"/>
                </a:solidFill>
                <a:latin typeface="Calibri"/>
                <a:hlinkClick r:id="rId2">
                  <a:extLst>
                    <a:ext uri="{A12FA001-AC4F-418D-AE19-62706E023703}">
                      <ahyp:hlinkClr xmlns:ahyp="http://schemas.microsoft.com/office/drawing/2018/hyperlinkcolor" val="tx"/>
                    </a:ext>
                  </a:extLst>
                </a:hlinkClick>
              </a:rPr>
              <a:t>Falstad  </a:t>
            </a:r>
            <a:r>
              <a:rPr sz="1300" b="0" i="0">
                <a:solidFill>
                  <a:srgbClr val="007F9B"/>
                </a:solidFill>
                <a:latin typeface="Calibri"/>
                <a:hlinkClick r:id="rId2">
                  <a:extLst>
                    <a:ext uri="{A12FA001-AC4F-418D-AE19-62706E023703}">
                      <ahyp:hlinkClr xmlns:ahyp="http://schemas.microsoft.com/office/drawing/2018/hyperlinkcolor" val="tx"/>
                    </a:ext>
                  </a:extLst>
                </a:hlinkClick>
              </a:rPr>
              <a:t>capstone/capstone_nofilter</a:t>
            </a:r>
          </a:p>
        </p:txBody>
      </p:sp>
      <p:sp>
        <p:nvSpPr>
          <p:cNvPr id="9" name="Falstad hint"/>
          <p:cNvSpPr txBox="1"/>
          <p:nvPr/>
        </p:nvSpPr>
        <p:spPr>
          <a:xfrm>
            <a:off x="1234440" y="2093976"/>
            <a:ext cx="10317175" cy="216408"/>
          </a:xfrm>
          <a:prstGeom prst="rect">
            <a:avLst/>
          </a:prstGeom>
          <a:noFill/>
        </p:spPr>
        <p:txBody>
          <a:bodyPr wrap="square" lIns="0" rIns="0" tIns="0" bIns="0" anchor="t">
            <a:noAutofit/>
          </a:bodyPr>
          <a:lstStyle/>
          <a:p>
            <a:pPr algn="l">
              <a:lnSpc>
                <a:spcPct val="100000"/>
              </a:lnSpc>
              <a:spcAft>
                <a:spcPts val="600"/>
              </a:spcAft>
              <a:buNone/>
            </a:pPr>
            <a:r>
              <a:rPr sz="1300" b="0" i="0">
                <a:solidFill>
                  <a:srgbClr val="23232B"/>
                </a:solidFill>
                <a:latin typeface="Calibri"/>
              </a:rPr>
              <a:t>Sensor R = 116.75 Ω (V</a:t>
            </a:r>
            <a:r>
              <a:rPr sz="1300" b="0" i="0" baseline="-25000">
                <a:solidFill>
                  <a:srgbClr val="23232B"/>
                </a:solidFill>
                <a:latin typeface="Calibri"/>
              </a:rPr>
              <a:t>COND</a:t>
            </a:r>
            <a:r>
              <a:rPr sz="1300" b="0" i="0">
                <a:solidFill>
                  <a:srgbClr val="23232B"/>
                </a:solidFill>
                <a:latin typeface="Calibri"/>
              </a:rPr>
              <a:t> = 1.75 V): code 100, not 011</a:t>
            </a:r>
          </a:p>
        </p:txBody>
      </p:sp>
      <p:sp>
        <p:nvSpPr>
          <p:cNvPr id="10" name="Label"/>
          <p:cNvSpPr txBox="1"/>
          <p:nvPr/>
        </p:nvSpPr>
        <p:spPr>
          <a:xfrm>
            <a:off x="548640" y="2785872"/>
            <a:ext cx="11094415" cy="320040"/>
          </a:xfrm>
          <a:prstGeom prst="rect">
            <a:avLst/>
          </a:prstGeom>
          <a:noFill/>
        </p:spPr>
        <p:txBody>
          <a:bodyPr wrap="square" lIns="0" rIns="0" tIns="0" bIns="0" anchor="t">
            <a:noAutofit/>
          </a:bodyPr>
          <a:lstStyle/>
          <a:p>
            <a:pPr algn="l">
              <a:lnSpc>
                <a:spcPct val="100000"/>
              </a:lnSpc>
              <a:spcAft>
                <a:spcPts val="600"/>
              </a:spcAft>
              <a:buNone/>
            </a:pPr>
            <a:r>
              <a:rPr sz="1200" b="1" i="0">
                <a:solidFill>
                  <a:srgbClr val="6638B6"/>
                </a:solidFill>
                <a:latin typeface="Calibri"/>
              </a:rPr>
              <a:t>OBSERVE</a:t>
            </a:r>
          </a:p>
        </p:txBody>
      </p:sp>
      <p:sp>
        <p:nvSpPr>
          <p:cNvPr id="11" name="Observe"/>
          <p:cNvSpPr txBox="1"/>
          <p:nvPr/>
        </p:nvSpPr>
        <p:spPr>
          <a:xfrm>
            <a:off x="548640" y="3197352"/>
            <a:ext cx="11094415" cy="2947416"/>
          </a:xfrm>
          <a:prstGeom prst="rect">
            <a:avLst/>
          </a:prstGeom>
          <a:noFill/>
        </p:spPr>
        <p:txBody>
          <a:bodyPr wrap="square" lIns="0" rIns="0" tIns="0" bIns="0" anchor="t">
            <a:noAutofit/>
          </a:bodyPr>
          <a:lstStyle/>
          <a:p>
            <a:pPr algn="l" marL="274320" indent="-274320">
              <a:lnSpc>
                <a:spcPct val="100000"/>
              </a:lnSpc>
              <a:spcAft>
                <a:spcPts val="1000"/>
              </a:spcAft>
              <a:buClr>
                <a:srgbClr val="00A9CE"/>
              </a:buClr>
              <a:buFont typeface="Arial"/>
              <a:buChar char="•"/>
            </a:pPr>
            <a:r>
              <a:rPr sz="1800" b="0" i="0">
                <a:solidFill>
                  <a:srgbClr val="23232B"/>
                </a:solidFill>
                <a:latin typeface="Calibri"/>
              </a:rPr>
              <a:t>S&amp;H samples V</a:t>
            </a:r>
            <a:r>
              <a:rPr sz="1800" b="0" i="0" baseline="-25000">
                <a:solidFill>
                  <a:srgbClr val="23232B"/>
                </a:solidFill>
                <a:latin typeface="Calibri"/>
              </a:rPr>
              <a:t>COND</a:t>
            </a:r>
            <a:r>
              <a:rPr sz="1800" b="0" i="0">
                <a:solidFill>
                  <a:srgbClr val="23232B"/>
                </a:solidFill>
                <a:latin typeface="Calibri"/>
              </a:rPr>
              <a:t> directly; 0.52 V of 50 Hz is always hit at the same phase</a:t>
            </a:r>
          </a:p>
          <a:p>
            <a:pPr algn="l" marL="274320" indent="-274320">
              <a:lnSpc>
                <a:spcPct val="100000"/>
              </a:lnSpc>
              <a:spcAft>
                <a:spcPts val="1000"/>
              </a:spcAft>
              <a:buClr>
                <a:srgbClr val="00A9CE"/>
              </a:buClr>
              <a:buFont typeface="Arial"/>
              <a:buChar char="•"/>
            </a:pPr>
            <a:r>
              <a:rPr sz="1800" b="0" i="0">
                <a:solidFill>
                  <a:srgbClr val="23232B"/>
                </a:solidFill>
                <a:latin typeface="Calibri"/>
              </a:rPr>
              <a:t>Held value is a clean staircase, just 0.52 V too high: one code too high</a:t>
            </a:r>
          </a:p>
          <a:p>
            <a:pPr algn="l" marL="274320" indent="-274320">
              <a:lnSpc>
                <a:spcPct val="100000"/>
              </a:lnSpc>
              <a:spcAft>
                <a:spcPts val="1000"/>
              </a:spcAft>
              <a:buClr>
                <a:srgbClr val="00A9CE"/>
              </a:buClr>
              <a:buFont typeface="Arial"/>
              <a:buChar char="•"/>
            </a:pPr>
            <a:r>
              <a:rPr sz="1800" b="0" i="0">
                <a:solidFill>
                  <a:srgbClr val="23232B"/>
                </a:solidFill>
                <a:latin typeface="Calibri"/>
              </a:rPr>
              <a:t>With the filter (capstone) the same input gives the correct code 011</a:t>
            </a:r>
          </a:p>
        </p:txBody>
      </p:sp>
      <p:pic>
        <p:nvPicPr>
          <p:cNvPr id="12" name="RWU logo" descr="rwu_logo.png"/>
          <p:cNvPicPr>
            <a:picLocks noChangeAspect="1"/>
          </p:cNvPicPr>
          <p:nvPr/>
        </p:nvPicPr>
        <p:blipFill>
          <a:blip r:embed="rId3"/>
          <a:stretch>
            <a:fillRect/>
          </a:stretch>
        </p:blipFill>
        <p:spPr>
          <a:xfrm>
            <a:off x="548640" y="6382512"/>
            <a:ext cx="826569" cy="274320"/>
          </a:xfrm>
          <a:prstGeom prst="rect">
            <a:avLst/>
          </a:prstGeom>
        </p:spPr>
      </p:pic>
      <p:sp>
        <p:nvSpPr>
          <p:cNvPr id="13"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From Sensor to Digital Value</a:t>
            </a:r>
          </a:p>
        </p:txBody>
      </p:sp>
      <p:sp>
        <p:nvSpPr>
          <p:cNvPr id="14"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EXERCISES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Design recipe: sensor to digital value</a:t>
            </a:r>
          </a:p>
        </p:txBody>
      </p:sp>
      <p:sp>
        <p:nvSpPr>
          <p:cNvPr id="4" name="Step 1"/>
          <p:cNvSpPr/>
          <p:nvPr/>
        </p:nvSpPr>
        <p:spPr>
          <a:xfrm>
            <a:off x="548640" y="1344168"/>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44168"/>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1</a:t>
            </a:r>
          </a:p>
        </p:txBody>
      </p:sp>
      <p:sp>
        <p:nvSpPr>
          <p:cNvPr id="6" name="Step text 1"/>
          <p:cNvSpPr txBox="1"/>
          <p:nvPr/>
        </p:nvSpPr>
        <p:spPr>
          <a:xfrm>
            <a:off x="1280160" y="1429512"/>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Fix range and resolution: full scale, N bits, LSB = V</a:t>
            </a:r>
            <a:r>
              <a:rPr sz="2000" b="0" i="0" baseline="-25000">
                <a:solidFill>
                  <a:srgbClr val="23232B"/>
                </a:solidFill>
                <a:latin typeface="Calibri"/>
              </a:rPr>
              <a:t>FS</a:t>
            </a:r>
            <a:r>
              <a:rPr sz="2000" b="0" i="0">
                <a:solidFill>
                  <a:srgbClr val="23232B"/>
                </a:solidFill>
                <a:latin typeface="Calibri"/>
              </a:rPr>
              <a:t>/2</a:t>
            </a:r>
            <a:r>
              <a:rPr sz="2000" b="0" i="0" baseline="30000">
                <a:solidFill>
                  <a:srgbClr val="23232B"/>
                </a:solidFill>
                <a:latin typeface="Calibri"/>
              </a:rPr>
              <a:t>N</a:t>
            </a:r>
          </a:p>
        </p:txBody>
      </p:sp>
      <p:sp>
        <p:nvSpPr>
          <p:cNvPr id="7" name="Step 2"/>
          <p:cNvSpPr/>
          <p:nvPr/>
        </p:nvSpPr>
        <p:spPr>
          <a:xfrm>
            <a:off x="548640" y="2112263"/>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12263"/>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2</a:t>
            </a:r>
          </a:p>
        </p:txBody>
      </p:sp>
      <p:sp>
        <p:nvSpPr>
          <p:cNvPr id="9" name="Step text 2"/>
          <p:cNvSpPr txBox="1"/>
          <p:nvPr/>
        </p:nvSpPr>
        <p:spPr>
          <a:xfrm>
            <a:off x="1280160" y="2197608"/>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Share one reference between sensor excitation and ladder (ratiometric)</a:t>
            </a:r>
          </a:p>
        </p:txBody>
      </p:sp>
      <p:sp>
        <p:nvSpPr>
          <p:cNvPr id="10" name="Step 3"/>
          <p:cNvSpPr/>
          <p:nvPr/>
        </p:nvSpPr>
        <p:spPr>
          <a:xfrm>
            <a:off x="548640" y="2880359"/>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880359"/>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3</a:t>
            </a:r>
          </a:p>
        </p:txBody>
      </p:sp>
      <p:sp>
        <p:nvSpPr>
          <p:cNvPr id="12" name="Step text 3"/>
          <p:cNvSpPr txBox="1"/>
          <p:nvPr/>
        </p:nvSpPr>
        <p:spPr>
          <a:xfrm>
            <a:off x="1280160" y="2965704"/>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Set total gain = V</a:t>
            </a:r>
            <a:r>
              <a:rPr sz="2000" b="0" i="0" baseline="-25000">
                <a:solidFill>
                  <a:srgbClr val="23232B"/>
                </a:solidFill>
                <a:latin typeface="Calibri"/>
              </a:rPr>
              <a:t>FS</a:t>
            </a:r>
            <a:r>
              <a:rPr sz="2000" b="0" i="0">
                <a:solidFill>
                  <a:srgbClr val="23232B"/>
                </a:solidFill>
                <a:latin typeface="Calibri"/>
              </a:rPr>
              <a:t>/bridge span; split into stages with G &lt; 100</a:t>
            </a:r>
          </a:p>
        </p:txBody>
      </p:sp>
      <p:sp>
        <p:nvSpPr>
          <p:cNvPr id="13" name="Step 4"/>
          <p:cNvSpPr/>
          <p:nvPr/>
        </p:nvSpPr>
        <p:spPr>
          <a:xfrm>
            <a:off x="548640" y="3648455"/>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48455"/>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4</a:t>
            </a:r>
          </a:p>
        </p:txBody>
      </p:sp>
      <p:sp>
        <p:nvSpPr>
          <p:cNvPr id="15" name="Step text 4"/>
          <p:cNvSpPr txBox="1"/>
          <p:nvPr/>
        </p:nvSpPr>
        <p:spPr>
          <a:xfrm>
            <a:off x="1280160" y="3733799"/>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Choose f</a:t>
            </a:r>
            <a:r>
              <a:rPr sz="2000" b="0" i="0" baseline="-25000">
                <a:solidFill>
                  <a:srgbClr val="23232B"/>
                </a:solidFill>
                <a:latin typeface="Calibri"/>
              </a:rPr>
              <a:t>s</a:t>
            </a:r>
            <a:r>
              <a:rPr sz="2000" b="0" i="0">
                <a:solidFill>
                  <a:srgbClr val="23232B"/>
                </a:solidFill>
                <a:latin typeface="Calibri"/>
              </a:rPr>
              <a:t>, then an anti-aliasing filter keeping hum &lt; ½ LSB</a:t>
            </a:r>
          </a:p>
        </p:txBody>
      </p:sp>
      <p:sp>
        <p:nvSpPr>
          <p:cNvPr id="16" name="Step 5"/>
          <p:cNvSpPr/>
          <p:nvPr/>
        </p:nvSpPr>
        <p:spPr>
          <a:xfrm>
            <a:off x="548640" y="4416551"/>
            <a:ext cx="475488" cy="475488"/>
          </a:xfrm>
          <a:prstGeom prst="ellipse">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416551"/>
            <a:ext cx="475488" cy="475488"/>
          </a:xfrm>
          <a:prstGeom prst="rect">
            <a:avLst/>
          </a:prstGeom>
          <a:noFill/>
        </p:spPr>
        <p:txBody>
          <a:bodyPr wrap="square" lIns="0" rIns="0" tIns="0" bIns="0" anchor="ctr">
            <a:noAutofit/>
          </a:bodyPr>
          <a:lstStyle/>
          <a:p>
            <a:pPr algn="ctr">
              <a:lnSpc>
                <a:spcPct val="100000"/>
              </a:lnSpc>
              <a:spcAft>
                <a:spcPts val="600"/>
              </a:spcAft>
              <a:buNone/>
            </a:pPr>
            <a:r>
              <a:rPr sz="1800" b="1" i="0">
                <a:solidFill>
                  <a:srgbClr val="FFFFFF"/>
                </a:solidFill>
                <a:latin typeface="Calibri"/>
              </a:rPr>
              <a:t>5</a:t>
            </a:r>
          </a:p>
        </p:txBody>
      </p:sp>
      <p:sp>
        <p:nvSpPr>
          <p:cNvPr id="18" name="Step text 5"/>
          <p:cNvSpPr txBox="1"/>
          <p:nvPr/>
        </p:nvSpPr>
        <p:spPr>
          <a:xfrm>
            <a:off x="1280160" y="4501896"/>
            <a:ext cx="10225735" cy="566928"/>
          </a:xfrm>
          <a:prstGeom prst="rect">
            <a:avLst/>
          </a:prstGeom>
          <a:noFill/>
        </p:spPr>
        <p:txBody>
          <a:bodyPr wrap="square" lIns="0" rIns="0" tIns="0" bIns="0" anchor="t">
            <a:noAutofit/>
          </a:bodyPr>
          <a:lstStyle/>
          <a:p>
            <a:pPr algn="l">
              <a:lnSpc>
                <a:spcPct val="100000"/>
              </a:lnSpc>
              <a:spcAft>
                <a:spcPts val="600"/>
              </a:spcAft>
              <a:buNone/>
            </a:pPr>
            <a:r>
              <a:rPr sz="2000" b="0" i="0">
                <a:solidFill>
                  <a:srgbClr val="23232B"/>
                </a:solidFill>
                <a:latin typeface="Calibri"/>
              </a:rPr>
              <a:t>Size C</a:t>
            </a:r>
            <a:r>
              <a:rPr sz="2000" b="0" i="0" baseline="-25000">
                <a:solidFill>
                  <a:srgbClr val="23232B"/>
                </a:solidFill>
                <a:latin typeface="Calibri"/>
              </a:rPr>
              <a:t>H</a:t>
            </a:r>
            <a:r>
              <a:rPr sz="2000" b="0" i="0">
                <a:solidFill>
                  <a:srgbClr val="23232B"/>
                </a:solidFill>
                <a:latin typeface="Calibri"/>
              </a:rPr>
              <a:t> between droop and charging limits; verify at bin centres</a:t>
            </a:r>
          </a:p>
        </p:txBody>
      </p:sp>
      <p:pic>
        <p:nvPicPr>
          <p:cNvPr id="19"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20"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From Sensor to Digital Value</a:t>
            </a:r>
          </a:p>
        </p:txBody>
      </p:sp>
      <p:sp>
        <p:nvSpPr>
          <p:cNvPr id="21"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p:cNvSpPr txBox="1"/>
          <p:nvPr/>
        </p:nvSpPr>
        <p:spPr>
          <a:xfrm>
            <a:off x="548640" y="201168"/>
            <a:ext cx="8229600" cy="256032"/>
          </a:xfrm>
          <a:prstGeom prst="rect">
            <a:avLst/>
          </a:prstGeom>
          <a:noFill/>
        </p:spPr>
        <p:txBody>
          <a:bodyPr wrap="square" lIns="0" rIns="0" tIns="0" bIns="0" anchor="t">
            <a:noAutofit/>
          </a:bodyPr>
          <a:lstStyle/>
          <a:p>
            <a:pPr algn="l">
              <a:lnSpc>
                <a:spcPct val="100000"/>
              </a:lnSpc>
              <a:spcAft>
                <a:spcPts val="600"/>
              </a:spcAft>
              <a:buNone/>
            </a:pPr>
            <a:r>
              <a:rPr sz="1200" b="1" i="0">
                <a:solidFill>
                  <a:srgbClr val="007F9B"/>
                </a:solidFill>
                <a:latin typeface="Calibri"/>
              </a:rPr>
              <a:t>EXERCISES</a:t>
            </a:r>
          </a:p>
        </p:txBody>
      </p:sp>
      <p:sp>
        <p:nvSpPr>
          <p:cNvPr id="3" name="Title"/>
          <p:cNvSpPr txBox="1"/>
          <p:nvPr/>
        </p:nvSpPr>
        <p:spPr>
          <a:xfrm>
            <a:off x="548640" y="457200"/>
            <a:ext cx="11094415" cy="685800"/>
          </a:xfrm>
          <a:prstGeom prst="rect">
            <a:avLst/>
          </a:prstGeom>
          <a:noFill/>
        </p:spPr>
        <p:txBody>
          <a:bodyPr wrap="square" lIns="0" rIns="0" tIns="0" bIns="0" anchor="ctr">
            <a:noAutofit/>
          </a:bodyPr>
          <a:lstStyle/>
          <a:p>
            <a:pPr algn="l">
              <a:lnSpc>
                <a:spcPct val="100000"/>
              </a:lnSpc>
              <a:spcAft>
                <a:spcPts val="600"/>
              </a:spcAft>
              <a:buNone/>
            </a:pPr>
            <a:r>
              <a:rPr sz="3200" b="1" i="0">
                <a:solidFill>
                  <a:srgbClr val="6638B6"/>
                </a:solidFill>
                <a:latin typeface="Calibri"/>
              </a:rPr>
              <a:t>Now work it out in the script</a:t>
            </a:r>
          </a:p>
        </p:txBody>
      </p:sp>
      <p:sp>
        <p:nvSpPr>
          <p:cNvPr id="4" name="Intro"/>
          <p:cNvSpPr txBox="1"/>
          <p:nvPr/>
        </p:nvSpPr>
        <p:spPr>
          <a:xfrm>
            <a:off x="548640" y="1298448"/>
            <a:ext cx="11094415" cy="640080"/>
          </a:xfrm>
          <a:prstGeom prst="rect">
            <a:avLst/>
          </a:prstGeom>
          <a:noFill/>
        </p:spPr>
        <p:txBody>
          <a:bodyPr wrap="square" lIns="0" rIns="0" tIns="0" bIns="0" anchor="t">
            <a:noAutofit/>
          </a:bodyPr>
          <a:lstStyle/>
          <a:p>
            <a:pPr algn="l">
              <a:lnSpc>
                <a:spcPct val="100000"/>
              </a:lnSpc>
              <a:spcAft>
                <a:spcPts val="600"/>
              </a:spcAft>
              <a:buNone/>
            </a:pPr>
            <a:r>
              <a:rPr sz="1800" b="0" i="0">
                <a:solidFill>
                  <a:srgbClr val="62626E"/>
                </a:solidFill>
                <a:latin typeface="Calibri"/>
              </a:rPr>
              <a:t>Derivations, worked numbers and solutions: script, chapter 10 “From Sensor to Digital Value”. Check each result in the Falstad examples.</a:t>
            </a:r>
          </a:p>
        </p:txBody>
      </p:sp>
      <p:sp>
        <p:nvSpPr>
          <p:cNvPr id="5" name="Exercise card"/>
          <p:cNvSpPr/>
          <p:nvPr/>
        </p:nvSpPr>
        <p:spPr>
          <a:xfrm>
            <a:off x="548640"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rcise number"/>
          <p:cNvSpPr/>
          <p:nvPr/>
        </p:nvSpPr>
        <p:spPr>
          <a:xfrm>
            <a:off x="548640"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10.1</a:t>
            </a:r>
          </a:p>
        </p:txBody>
      </p:sp>
      <p:sp>
        <p:nvSpPr>
          <p:cNvPr id="8" name="Exercise title"/>
          <p:cNvSpPr txBox="1"/>
          <p:nvPr/>
        </p:nvSpPr>
        <p:spPr>
          <a:xfrm>
            <a:off x="1645919"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From sensor to digital value (capstone task 2025/26)</a:t>
            </a:r>
          </a:p>
        </p:txBody>
      </p:sp>
      <p:sp>
        <p:nvSpPr>
          <p:cNvPr id="9" name="Exercise card"/>
          <p:cNvSpPr/>
          <p:nvPr/>
        </p:nvSpPr>
        <p:spPr>
          <a:xfrm>
            <a:off x="548640"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ercise number"/>
          <p:cNvSpPr/>
          <p:nvPr/>
        </p:nvSpPr>
        <p:spPr>
          <a:xfrm>
            <a:off x="548640"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10.2</a:t>
            </a:r>
          </a:p>
        </p:txBody>
      </p:sp>
      <p:sp>
        <p:nvSpPr>
          <p:cNvPr id="12" name="Exercise title"/>
          <p:cNvSpPr txBox="1"/>
          <p:nvPr/>
        </p:nvSpPr>
        <p:spPr>
          <a:xfrm>
            <a:off x="1645919"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Ratiometric measurement</a:t>
            </a:r>
          </a:p>
        </p:txBody>
      </p:sp>
      <p:sp>
        <p:nvSpPr>
          <p:cNvPr id="13" name="Exercise card"/>
          <p:cNvSpPr/>
          <p:nvPr/>
        </p:nvSpPr>
        <p:spPr>
          <a:xfrm>
            <a:off x="548640" y="3959352"/>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xercise number"/>
          <p:cNvSpPr/>
          <p:nvPr/>
        </p:nvSpPr>
        <p:spPr>
          <a:xfrm>
            <a:off x="548640" y="3959352"/>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959352"/>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10.3</a:t>
            </a:r>
          </a:p>
        </p:txBody>
      </p:sp>
      <p:sp>
        <p:nvSpPr>
          <p:cNvPr id="16" name="Exercise title"/>
          <p:cNvSpPr txBox="1"/>
          <p:nvPr/>
        </p:nvSpPr>
        <p:spPr>
          <a:xfrm>
            <a:off x="1645919" y="3959352"/>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Another sampling rate</a:t>
            </a:r>
          </a:p>
        </p:txBody>
      </p:sp>
      <p:sp>
        <p:nvSpPr>
          <p:cNvPr id="17" name="Exercise card"/>
          <p:cNvSpPr/>
          <p:nvPr/>
        </p:nvSpPr>
        <p:spPr>
          <a:xfrm>
            <a:off x="6233007" y="2167128"/>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xercise number"/>
          <p:cNvSpPr/>
          <p:nvPr/>
        </p:nvSpPr>
        <p:spPr>
          <a:xfrm>
            <a:off x="6233007" y="2167128"/>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167128"/>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10.4</a:t>
            </a:r>
          </a:p>
        </p:txBody>
      </p:sp>
      <p:sp>
        <p:nvSpPr>
          <p:cNvPr id="20" name="Exercise title"/>
          <p:cNvSpPr txBox="1"/>
          <p:nvPr/>
        </p:nvSpPr>
        <p:spPr>
          <a:xfrm>
            <a:off x="7330287" y="2167128"/>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Four bits</a:t>
            </a:r>
          </a:p>
        </p:txBody>
      </p:sp>
      <p:sp>
        <p:nvSpPr>
          <p:cNvPr id="21" name="Exercise card"/>
          <p:cNvSpPr/>
          <p:nvPr/>
        </p:nvSpPr>
        <p:spPr>
          <a:xfrm>
            <a:off x="6233007" y="3063240"/>
            <a:ext cx="5410047" cy="731520"/>
          </a:xfrm>
          <a:prstGeom prst="roundRect">
            <a:avLst>
              <a:gd name="adj" fmla="val 12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xercise number"/>
          <p:cNvSpPr/>
          <p:nvPr/>
        </p:nvSpPr>
        <p:spPr>
          <a:xfrm>
            <a:off x="6233007" y="3063240"/>
            <a:ext cx="914400" cy="731520"/>
          </a:xfrm>
          <a:prstGeom prst="roundRect">
            <a:avLst>
              <a:gd name="adj" fmla="val 12500"/>
            </a:avLst>
          </a:prstGeom>
          <a:solidFill>
            <a:srgbClr val="6638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3007" y="3063240"/>
            <a:ext cx="914400" cy="731520"/>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FFFFFF"/>
                </a:solidFill>
                <a:latin typeface="Calibri"/>
              </a:rPr>
              <a:t>10.5</a:t>
            </a:r>
          </a:p>
        </p:txBody>
      </p:sp>
      <p:sp>
        <p:nvSpPr>
          <p:cNvPr id="24" name="Exercise title"/>
          <p:cNvSpPr txBox="1"/>
          <p:nvPr/>
        </p:nvSpPr>
        <p:spPr>
          <a:xfrm>
            <a:off x="7330287" y="3063240"/>
            <a:ext cx="4175607" cy="731520"/>
          </a:xfrm>
          <a:prstGeom prst="rect">
            <a:avLst/>
          </a:prstGeom>
          <a:noFill/>
        </p:spPr>
        <p:txBody>
          <a:bodyPr wrap="square" lIns="0" rIns="0" tIns="0" bIns="0" anchor="ctr">
            <a:noAutofit/>
          </a:bodyPr>
          <a:lstStyle/>
          <a:p>
            <a:pPr algn="l">
              <a:lnSpc>
                <a:spcPct val="100000"/>
              </a:lnSpc>
              <a:spcAft>
                <a:spcPts val="600"/>
              </a:spcAft>
              <a:buNone/>
            </a:pPr>
            <a:r>
              <a:rPr sz="1700" b="0" i="0">
                <a:solidFill>
                  <a:srgbClr val="23232B"/>
                </a:solidFill>
                <a:latin typeface="Calibri"/>
              </a:rPr>
              <a:t>Hold capacitor at the limits</a:t>
            </a:r>
          </a:p>
        </p:txBody>
      </p:sp>
      <p:pic>
        <p:nvPicPr>
          <p:cNvPr id="25" name="RWU logo" descr="rwu_logo.png"/>
          <p:cNvPicPr>
            <a:picLocks noChangeAspect="1"/>
          </p:cNvPicPr>
          <p:nvPr/>
        </p:nvPicPr>
        <p:blipFill>
          <a:blip r:embed="rId2"/>
          <a:stretch>
            <a:fillRect/>
          </a:stretch>
        </p:blipFill>
        <p:spPr>
          <a:xfrm>
            <a:off x="548640" y="6382512"/>
            <a:ext cx="826569" cy="274320"/>
          </a:xfrm>
          <a:prstGeom prst="rect">
            <a:avLst/>
          </a:prstGeom>
        </p:spPr>
      </p:pic>
      <p:sp>
        <p:nvSpPr>
          <p:cNvPr id="26" name="Footer"/>
          <p:cNvSpPr txBox="1"/>
          <p:nvPr/>
        </p:nvSpPr>
        <p:spPr>
          <a:xfrm>
            <a:off x="1691640" y="6419088"/>
            <a:ext cx="7315200" cy="228600"/>
          </a:xfrm>
          <a:prstGeom prst="rect">
            <a:avLst/>
          </a:prstGeom>
          <a:noFill/>
        </p:spPr>
        <p:txBody>
          <a:bodyPr wrap="square" lIns="0" rIns="0" tIns="0" bIns="0" anchor="t">
            <a:noAutofit/>
          </a:bodyPr>
          <a:lstStyle/>
          <a:p>
            <a:pPr algn="l">
              <a:lnSpc>
                <a:spcPct val="100000"/>
              </a:lnSpc>
              <a:spcAft>
                <a:spcPts val="600"/>
              </a:spcAft>
              <a:buNone/>
            </a:pPr>
            <a:r>
              <a:rPr sz="1100" b="0" i="0">
                <a:solidFill>
                  <a:srgbClr val="62626E"/>
                </a:solidFill>
                <a:latin typeface="Calibri"/>
              </a:rPr>
              <a:t>Electronic Circuit Design  ·  From Sensor to Digital Value</a:t>
            </a:r>
          </a:p>
        </p:txBody>
      </p:sp>
      <p:sp>
        <p:nvSpPr>
          <p:cNvPr id="27" name="Slide number"/>
          <p:cNvSpPr txBox="1"/>
          <p:nvPr/>
        </p:nvSpPr>
        <p:spPr>
          <a:xfrm>
            <a:off x="10728655" y="6419088"/>
            <a:ext cx="914400" cy="228600"/>
          </a:xfrm>
          <a:prstGeom prst="rect">
            <a:avLst/>
          </a:prstGeom>
          <a:noFill/>
        </p:spPr>
        <p:txBody>
          <a:bodyPr wrap="square" lIns="0" rIns="0" tIns="0" bIns="0" anchor="t">
            <a:noAutofit/>
          </a:bodyPr>
          <a:lstStyle/>
          <a:p>
            <a:pPr algn="r">
              <a:lnSpc>
                <a:spcPct val="100000"/>
              </a:lnSpc>
              <a:spcAft>
                <a:spcPts val="600"/>
              </a:spcAft>
              <a:buNone/>
            </a:pPr>
            <a:r>
              <a:rPr sz="1100" b="0" i="0">
                <a:solidFill>
                  <a:srgbClr val="62626E"/>
                </a:solidFill>
                <a:latin typeface="Calibri"/>
              </a:rPr>
              <a:t>135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Electronic Circuit Design: the practical points</dc:title>
  <dc:subject/>
  <dc:creator>Prof. Dr. Markus Pfeil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